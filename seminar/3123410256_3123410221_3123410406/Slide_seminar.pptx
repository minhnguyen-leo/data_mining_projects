
<file path=[Content_Types].xml><?xml version="1.0" encoding="utf-8"?>
<Types xmlns="http://schemas.openxmlformats.org/package/2006/content-types">
  <Default ContentType="application/x-fontdata" Extension="fntdata"/>
  <Default ContentType="image/jpeg" Extension="jpeg"/>
  <Default ContentType="image/png" Extension="png"/>
  <Default ContentType="application/vnd.openxmlformats-package.relationships+xml" Extension="rels"/>
  <Default ContentType="image/svg+xml" Extension="svg"/>
  <Default ContentType="application/xml" Extension="xml"/>
  <Override ContentType="application/vnd.openxmlformats-officedocument.extended-properties+xml" PartName="/docProps/app.xml"/>
  <Override ContentType="application/vnd.openxmlformats-package.core-properties+xml" PartName="/docProps/core.xml"/>
  <Override ContentType="application/vnd.openxmlformats-officedocument.presentationml.notesMaster+xml" PartName="/ppt/notesMasters/notesMaster1.xml"/>
  <Override ContentType="application/vnd.openxmlformats-officedocument.presentationml.notesSlide+xml" PartName="/ppt/notesSlides/notesSlide1.xml"/>
  <Override ContentType="application/vnd.openxmlformats-officedocument.presentationml.notesSlide+xml" PartName="/ppt/notesSlides/notesSlide2.xml"/>
  <Override ContentType="application/vnd.openxmlformats-officedocument.presentationml.notesSlide+xml" PartName="/ppt/notesSlides/notesSlide3.xml"/>
  <Override ContentType="application/vnd.openxmlformats-officedocument.presentationml.notesSlide+xml" PartName="/ppt/notesSlides/notesSlide4.xml"/>
  <Override ContentType="application/vnd.openxmlformats-officedocument.presentationml.notesSlide+xml" PartName="/ppt/notesSlides/notesSlide5.xml"/>
  <Override ContentType="application/vnd.openxmlformats-officedocument.presentationml.notesSlide+xml" PartName="/ppt/notesSlides/notesSlide6.xml"/>
  <Override ContentType="application/vnd.openxmlformats-officedocument.presentationml.notesSlide+xml" PartName="/ppt/notesSlides/notesSlide7.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presentationml.slideLayout+xml" PartName="/ppt/slideLayouts/slideLayout1.xml"/>
  <Override ContentType="application/vnd.openxmlformats-officedocument.presentationml.slideLayout+xml" PartName="/ppt/slideLayouts/slideLayout2.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6.xml"/>
  <Override ContentType="application/vnd.openxmlformats-officedocument.presentationml.slideLayout+xml" PartName="/ppt/slideLayouts/slideLayout7.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Layout+xml" PartName="/ppt/slideLayouts/slideLayout10.xml"/>
  <Override ContentType="application/vnd.openxmlformats-officedocument.presentationml.slideLayout+xml" PartName="/ppt/slideLayouts/slideLayout11.xml"/>
  <Override ContentType="application/vnd.openxmlformats-officedocument.presentationml.slideMaster+xml" PartName="/ppt/slideMasters/slideMaster1.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4.xml"/>
  <Override ContentType="application/vnd.openxmlformats-officedocument.presentationml.slide+xml" PartName="/ppt/slides/slide5.xml"/>
  <Override ContentType="application/vnd.openxmlformats-officedocument.presentationml.slide+xml" PartName="/ppt/slides/slide6.xml"/>
  <Override ContentType="application/vnd.openxmlformats-officedocument.presentationml.slide+xml" PartName="/ppt/slides/slide7.xml"/>
  <Override ContentType="application/vnd.openxmlformats-officedocument.presentationml.slide+xml" PartName="/ppt/slides/slide8.xml"/>
  <Override ContentType="application/vnd.openxmlformats-officedocument.presentationml.slide+xml" PartName="/ppt/slides/slide9.xml"/>
  <Override ContentType="application/vnd.openxmlformats-officedocument.presentationml.slide+xml" PartName="/ppt/slides/slide10.xml"/>
  <Override ContentType="application/vnd.openxmlformats-officedocument.presentationml.slide+xml" PartName="/ppt/slides/slide11.xml"/>
  <Override ContentType="application/vnd.openxmlformats-officedocument.presentationml.slide+xml" PartName="/ppt/slides/slide12.xml"/>
  <Override ContentType="application/vnd.openxmlformats-officedocument.presentationml.slide+xml" PartName="/ppt/slides/slide13.xml"/>
  <Override ContentType="application/vnd.openxmlformats-officedocument.presentationml.slide+xml" PartName="/ppt/slides/slide14.xml"/>
  <Override ContentType="application/vnd.openxmlformats-officedocument.presentationml.slide+xml" PartName="/ppt/slides/slide15.xml"/>
  <Override ContentType="application/vnd.openxmlformats-officedocument.presentationml.slide+xml" PartName="/ppt/slides/slide16.xml"/>
  <Override ContentType="application/vnd.openxmlformats-officedocument.presentationml.slide+xml" PartName="/ppt/slides/slide17.xml"/>
  <Override ContentType="application/vnd.openxmlformats-officedocument.presentationml.slide+xml" PartName="/ppt/slides/slide18.xml"/>
  <Override ContentType="application/vnd.openxmlformats-officedocument.presentationml.slide+xml" PartName="/ppt/slides/slide19.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22.xml"/>
  <Override ContentType="application/vnd.openxmlformats-officedocument.presentationml.slide+xml" PartName="/ppt/slides/slide23.xml"/>
  <Override ContentType="application/vnd.openxmlformats-officedocument.presentationml.slide+xml" PartName="/ppt/slides/slide24.xml"/>
  <Override ContentType="application/vnd.openxmlformats-officedocument.presentationml.slide+xml" PartName="/ppt/slides/slide25.xml"/>
  <Override ContentType="application/vnd.openxmlformats-officedocument.presentationml.slide+xml" PartName="/ppt/slides/slide26.xml"/>
  <Override ContentType="application/vnd.openxmlformats-officedocument.presentationml.slide+xml" PartName="/ppt/slides/slide27.xml"/>
  <Override ContentType="application/vnd.openxmlformats-officedocument.presentationml.slide+xml" PartName="/ppt/slides/slide28.xml"/>
  <Override ContentType="application/vnd.openxmlformats-officedocument.presentationml.slide+xml" PartName="/ppt/slides/slide29.xml"/>
  <Override ContentType="application/vnd.openxmlformats-officedocument.presentationml.slide+xml" PartName="/ppt/slides/slide30.xml"/>
  <Override ContentType="application/vnd.openxmlformats-officedocument.presentationml.slide+xml" PartName="/ppt/slides/slide31.xml"/>
  <Override ContentType="application/vnd.openxmlformats-officedocument.presentationml.slide+xml" PartName="/ppt/slides/slide32.xml"/>
  <Override ContentType="application/vnd.openxmlformats-officedocument.presentationml.slide+xml" PartName="/ppt/slides/slide33.xml"/>
  <Override ContentType="application/vnd.openxmlformats-officedocument.presentationml.slide+xml" PartName="/ppt/slides/slide34.xml"/>
  <Override ContentType="application/vnd.openxmlformats-officedocument.presentationml.slide+xml" PartName="/ppt/slides/slide35.xml"/>
  <Override ContentType="application/vnd.openxmlformats-officedocument.presentationml.slide+xml" PartName="/ppt/slides/slide36.xml"/>
  <Override ContentType="application/vnd.openxmlformats-officedocument.presentationml.slide+xml" PartName="/ppt/slides/slide37.xml"/>
  <Override ContentType="application/vnd.openxmlformats-officedocument.presentationml.slide+xml" PartName="/ppt/slides/slide38.xml"/>
  <Override ContentType="application/vnd.openxmlformats-officedocument.presentationml.slide+xml" PartName="/ppt/slides/slide39.xml"/>
  <Override ContentType="application/vnd.openxmlformats-officedocument.presentationml.slide+xml" PartName="/ppt/slides/slide40.xml"/>
  <Override ContentType="application/vnd.openxmlformats-officedocument.presentationml.slide+xml" PartName="/ppt/slides/slide41.xml"/>
  <Override ContentType="application/vnd.openxmlformats-officedocument.presentationml.tableStyles+xml" PartName="/ppt/tableStyle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Relationships xmlns="http://schemas.openxmlformats.org/package/2006/relationships"><Relationship Id="rId1" Target="ppt/presentation.xml" Type="http://schemas.openxmlformats.org/officeDocument/2006/relationships/officeDocument"/><Relationship Id="rId2" Target="docProps/thumbnail.jpeg" Type="http://schemas.openxmlformats.org/package/2006/relationships/metadata/thumbnail"/><Relationship Id="rId3" Target="docProps/core.xml" Type="http://schemas.openxmlformats.org/package/2006/relationships/metadata/core-properties"/><Relationship Id="rId4" Target="docProps/app.xml" Type="http://schemas.openxmlformats.org/officeDocument/2006/relationships/extended-properties"/></Relationships>
</file>

<file path=ppt/presentation.xml><?xml version="1.0" encoding="utf-8"?>
<p:presentation xmlns:a="http://schemas.openxmlformats.org/drawingml/2006/main" xmlns:r="http://schemas.openxmlformats.org/officeDocument/2006/relationships" xmlns:p="http://schemas.openxmlformats.org/presentationml/2006/main" saveSubsetFonts="1" embedTrueTypeFonts="true">
  <p:sldMasterIdLst>
    <p:sldMasterId id="2147483648" r:id="rId1"/>
  </p:sldMasterIdLst>
  <p:notesMasterIdLst>
    <p:notesMasterId r:id="rId54"/>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 id="272" r:id="rId22"/>
    <p:sldId id="273" r:id="rId23"/>
    <p:sldId id="274" r:id="rId24"/>
    <p:sldId id="275" r:id="rId25"/>
    <p:sldId id="276" r:id="rId26"/>
    <p:sldId id="277" r:id="rId27"/>
    <p:sldId id="278" r:id="rId28"/>
    <p:sldId id="279" r:id="rId29"/>
    <p:sldId id="280" r:id="rId30"/>
    <p:sldId id="281" r:id="rId31"/>
    <p:sldId id="282" r:id="rId32"/>
    <p:sldId id="283" r:id="rId33"/>
    <p:sldId id="284" r:id="rId34"/>
    <p:sldId id="285" r:id="rId35"/>
    <p:sldId id="286" r:id="rId36"/>
    <p:sldId id="287" r:id="rId37"/>
    <p:sldId id="288" r:id="rId38"/>
    <p:sldId id="289" r:id="rId39"/>
    <p:sldId id="290" r:id="rId40"/>
    <p:sldId id="291" r:id="rId41"/>
    <p:sldId id="292" r:id="rId42"/>
    <p:sldId id="293" r:id="rId43"/>
    <p:sldId id="294" r:id="rId44"/>
    <p:sldId id="295" r:id="rId45"/>
    <p:sldId id="296" r:id="rId46"/>
  </p:sldIdLst>
  <p:sldSz cx="18288000" cy="10287000"/>
  <p:notesSz cx="6858000" cy="9144000"/>
  <p:embeddedFontLst>
    <p:embeddedFont>
      <p:font typeface="Telegraf Extra-Light" charset="1" panose="00000300000000000000"/>
      <p:regular r:id="rId47"/>
    </p:embeddedFont>
    <p:embeddedFont>
      <p:font typeface="Telegraf Bold" charset="1" panose="00000800000000000000"/>
      <p:regular r:id="rId48"/>
    </p:embeddedFont>
    <p:embeddedFont>
      <p:font typeface="Telegraf" charset="1" panose="00000500000000000000"/>
      <p:regular r:id="rId49"/>
    </p:embeddedFont>
    <p:embeddedFont>
      <p:font typeface="Canva Sans Bold" charset="1" panose="020B0803030501040103"/>
      <p:regular r:id="rId50"/>
    </p:embeddedFont>
    <p:embeddedFont>
      <p:font typeface="TT Hoves Bold" charset="1" panose="02000003020000060003"/>
      <p:regular r:id="rId51"/>
    </p:embeddedFont>
    <p:embeddedFont>
      <p:font typeface="TT Hoves" charset="1" panose="02000003020000060003"/>
      <p:regular r:id="rId52"/>
    </p:embeddedFont>
    <p:embeddedFont>
      <p:font typeface="Telegraf Medium" charset="1" panose="00000600000000000000"/>
      <p:regular r:id="rId53"/>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autoAdjust="0"/>
    <p:restoredTop sz="94622" autoAdjust="0"/>
  </p:normalViewPr>
  <p:slideViewPr>
    <p:cSldViewPr>
      <p:cViewPr varScale="1">
        <p:scale>
          <a:sx n="74" d="100"/>
          <a:sy n="74" d="100"/>
        </p:scale>
        <p:origin x="-1092" y="-90"/>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Relationships xmlns="http://schemas.openxmlformats.org/package/2006/relationships"><Relationship Id="rId1" Target="slideMasters/slideMaster1.xml" Type="http://schemas.openxmlformats.org/officeDocument/2006/relationships/slideMaster"/><Relationship Id="rId10" Target="slides/slide5.xml" Type="http://schemas.openxmlformats.org/officeDocument/2006/relationships/slide"/><Relationship Id="rId11" Target="slides/slide6.xml" Type="http://schemas.openxmlformats.org/officeDocument/2006/relationships/slide"/><Relationship Id="rId12" Target="slides/slide7.xml" Type="http://schemas.openxmlformats.org/officeDocument/2006/relationships/slide"/><Relationship Id="rId13" Target="slides/slide8.xml" Type="http://schemas.openxmlformats.org/officeDocument/2006/relationships/slide"/><Relationship Id="rId14" Target="slides/slide9.xml" Type="http://schemas.openxmlformats.org/officeDocument/2006/relationships/slide"/><Relationship Id="rId15" Target="slides/slide10.xml" Type="http://schemas.openxmlformats.org/officeDocument/2006/relationships/slide"/><Relationship Id="rId16" Target="slides/slide11.xml" Type="http://schemas.openxmlformats.org/officeDocument/2006/relationships/slide"/><Relationship Id="rId17" Target="slides/slide12.xml" Type="http://schemas.openxmlformats.org/officeDocument/2006/relationships/slide"/><Relationship Id="rId18" Target="slides/slide13.xml" Type="http://schemas.openxmlformats.org/officeDocument/2006/relationships/slide"/><Relationship Id="rId19" Target="slides/slide14.xml" Type="http://schemas.openxmlformats.org/officeDocument/2006/relationships/slide"/><Relationship Id="rId2" Target="presProps.xml" Type="http://schemas.openxmlformats.org/officeDocument/2006/relationships/presProps"/><Relationship Id="rId20" Target="slides/slide15.xml" Type="http://schemas.openxmlformats.org/officeDocument/2006/relationships/slide"/><Relationship Id="rId21" Target="slides/slide16.xml" Type="http://schemas.openxmlformats.org/officeDocument/2006/relationships/slide"/><Relationship Id="rId22" Target="slides/slide17.xml" Type="http://schemas.openxmlformats.org/officeDocument/2006/relationships/slide"/><Relationship Id="rId23" Target="slides/slide18.xml" Type="http://schemas.openxmlformats.org/officeDocument/2006/relationships/slide"/><Relationship Id="rId24" Target="slides/slide19.xml" Type="http://schemas.openxmlformats.org/officeDocument/2006/relationships/slide"/><Relationship Id="rId25" Target="slides/slide20.xml" Type="http://schemas.openxmlformats.org/officeDocument/2006/relationships/slide"/><Relationship Id="rId26" Target="slides/slide21.xml" Type="http://schemas.openxmlformats.org/officeDocument/2006/relationships/slide"/><Relationship Id="rId27" Target="slides/slide22.xml" Type="http://schemas.openxmlformats.org/officeDocument/2006/relationships/slide"/><Relationship Id="rId28" Target="slides/slide23.xml" Type="http://schemas.openxmlformats.org/officeDocument/2006/relationships/slide"/><Relationship Id="rId29" Target="slides/slide24.xml" Type="http://schemas.openxmlformats.org/officeDocument/2006/relationships/slide"/><Relationship Id="rId3" Target="viewProps.xml" Type="http://schemas.openxmlformats.org/officeDocument/2006/relationships/viewProps"/><Relationship Id="rId30" Target="slides/slide25.xml" Type="http://schemas.openxmlformats.org/officeDocument/2006/relationships/slide"/><Relationship Id="rId31" Target="slides/slide26.xml" Type="http://schemas.openxmlformats.org/officeDocument/2006/relationships/slide"/><Relationship Id="rId32" Target="slides/slide27.xml" Type="http://schemas.openxmlformats.org/officeDocument/2006/relationships/slide"/><Relationship Id="rId33" Target="slides/slide28.xml" Type="http://schemas.openxmlformats.org/officeDocument/2006/relationships/slide"/><Relationship Id="rId34" Target="slides/slide29.xml" Type="http://schemas.openxmlformats.org/officeDocument/2006/relationships/slide"/><Relationship Id="rId35" Target="slides/slide30.xml" Type="http://schemas.openxmlformats.org/officeDocument/2006/relationships/slide"/><Relationship Id="rId36" Target="slides/slide31.xml" Type="http://schemas.openxmlformats.org/officeDocument/2006/relationships/slide"/><Relationship Id="rId37" Target="slides/slide32.xml" Type="http://schemas.openxmlformats.org/officeDocument/2006/relationships/slide"/><Relationship Id="rId38" Target="slides/slide33.xml" Type="http://schemas.openxmlformats.org/officeDocument/2006/relationships/slide"/><Relationship Id="rId39" Target="slides/slide34.xml" Type="http://schemas.openxmlformats.org/officeDocument/2006/relationships/slide"/><Relationship Id="rId4" Target="theme/theme1.xml" Type="http://schemas.openxmlformats.org/officeDocument/2006/relationships/theme"/><Relationship Id="rId40" Target="slides/slide35.xml" Type="http://schemas.openxmlformats.org/officeDocument/2006/relationships/slide"/><Relationship Id="rId41" Target="slides/slide36.xml" Type="http://schemas.openxmlformats.org/officeDocument/2006/relationships/slide"/><Relationship Id="rId42" Target="slides/slide37.xml" Type="http://schemas.openxmlformats.org/officeDocument/2006/relationships/slide"/><Relationship Id="rId43" Target="slides/slide38.xml" Type="http://schemas.openxmlformats.org/officeDocument/2006/relationships/slide"/><Relationship Id="rId44" Target="slides/slide39.xml" Type="http://schemas.openxmlformats.org/officeDocument/2006/relationships/slide"/><Relationship Id="rId45" Target="slides/slide40.xml" Type="http://schemas.openxmlformats.org/officeDocument/2006/relationships/slide"/><Relationship Id="rId46" Target="slides/slide41.xml" Type="http://schemas.openxmlformats.org/officeDocument/2006/relationships/slide"/><Relationship Id="rId47" Target="fonts/font47.fntdata" Type="http://schemas.openxmlformats.org/officeDocument/2006/relationships/font"/><Relationship Id="rId48" Target="fonts/font48.fntdata" Type="http://schemas.openxmlformats.org/officeDocument/2006/relationships/font"/><Relationship Id="rId49" Target="fonts/font49.fntdata" Type="http://schemas.openxmlformats.org/officeDocument/2006/relationships/font"/><Relationship Id="rId5" Target="tableStyles.xml" Type="http://schemas.openxmlformats.org/officeDocument/2006/relationships/tableStyles"/><Relationship Id="rId50" Target="fonts/font50.fntdata" Type="http://schemas.openxmlformats.org/officeDocument/2006/relationships/font"/><Relationship Id="rId51" Target="fonts/font51.fntdata" Type="http://schemas.openxmlformats.org/officeDocument/2006/relationships/font"/><Relationship Id="rId52" Target="fonts/font52.fntdata" Type="http://schemas.openxmlformats.org/officeDocument/2006/relationships/font"/><Relationship Id="rId53" Target="fonts/font53.fntdata" Type="http://schemas.openxmlformats.org/officeDocument/2006/relationships/font"/><Relationship Id="rId54" Target="notesMasters/notesMaster1.xml" Type="http://schemas.openxmlformats.org/officeDocument/2006/relationships/notesMaster"/><Relationship Id="rId55" Target="theme/theme2.xml" Type="http://schemas.openxmlformats.org/officeDocument/2006/relationships/theme"/><Relationship Id="rId56" Target="notesSlides/notesSlide1.xml" Type="http://schemas.openxmlformats.org/officeDocument/2006/relationships/notesSlide"/><Relationship Id="rId57" Target="notesSlides/notesSlide2.xml" Type="http://schemas.openxmlformats.org/officeDocument/2006/relationships/notesSlide"/><Relationship Id="rId58" Target="notesSlides/notesSlide3.xml" Type="http://schemas.openxmlformats.org/officeDocument/2006/relationships/notesSlide"/><Relationship Id="rId59" Target="notesSlides/notesSlide4.xml" Type="http://schemas.openxmlformats.org/officeDocument/2006/relationships/notesSlide"/><Relationship Id="rId6" Target="slides/slide1.xml" Type="http://schemas.openxmlformats.org/officeDocument/2006/relationships/slide"/><Relationship Id="rId60" Target="notesSlides/notesSlide5.xml" Type="http://schemas.openxmlformats.org/officeDocument/2006/relationships/notesSlide"/><Relationship Id="rId61" Target="notesSlides/notesSlide6.xml" Type="http://schemas.openxmlformats.org/officeDocument/2006/relationships/notesSlide"/><Relationship Id="rId62" Target="notesSlides/notesSlide7.xml" Type="http://schemas.openxmlformats.org/officeDocument/2006/relationships/notesSlide"/><Relationship Id="rId7" Target="slides/slide2.xml" Type="http://schemas.openxmlformats.org/officeDocument/2006/relationships/slide"/><Relationship Id="rId8" Target="slides/slide3.xml" Type="http://schemas.openxmlformats.org/officeDocument/2006/relationships/slide"/><Relationship Id="rId9" Target="slides/slide4.xml" Type="http://schemas.openxmlformats.org/officeDocument/2006/relationships/slide"/></Relationships>
</file>

<file path=ppt/notesMasters/_rels/notesMaster1.xml.rels><?xml version="1.0" encoding="UTF-8" standalone="yes"?><Relationships xmlns="http://schemas.openxmlformats.org/package/2006/relationships"><Relationship Id="rId1" Target="../theme/theme2.xml" Type="http://schemas.openxmlformats.org/officeDocument/2006/relationships/theme"/></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lang="cs-CZ"/>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fld id="{B7268E1E-0E44-426D-905E-8AD9B19D2182}" type="datetimeFigureOut">
              <a:rPr lang="cs-CZ" smtClean="0"/>
              <a:t>1.7.2013</a:t>
            </a:fld>
            <a:endParaRPr lang="cs-CZ"/>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lang="cs-CZ"/>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cs-CZ"/>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lang="cs-CZ"/>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fld id="{871B2431-D351-4C6E-A3CF-9DFAC0E3E050}" type="slidenum">
              <a:rPr lang="cs-CZ" smtClean="0"/>
              <a:t>‹#›</a:t>
            </a:fld>
            <a:endParaRPr lang="cs-CZ"/>
          </a:p>
        </p:txBody>
      </p:sp>
    </p:spTree>
    <p:extLst>
      <p:ext uri="{BB962C8B-B14F-4D97-AF65-F5344CB8AC3E}">
        <p14:creationId xmlns:p14="http://schemas.microsoft.com/office/powerpoint/2010/main" val="179888911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7.xml" Type="http://schemas.openxmlformats.org/officeDocument/2006/relationships/slide"/></Relationships>
</file>

<file path=ppt/notesSlides/_rels/notesSlide2.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8.xml" Type="http://schemas.openxmlformats.org/officeDocument/2006/relationships/slide"/></Relationships>
</file>

<file path=ppt/notesSlides/_rels/notesSlide3.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9.xml" Type="http://schemas.openxmlformats.org/officeDocument/2006/relationships/slide"/></Relationships>
</file>

<file path=ppt/notesSlides/_rels/notesSlide4.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10.xml" Type="http://schemas.openxmlformats.org/officeDocument/2006/relationships/slide"/></Relationships>
</file>

<file path=ppt/notesSlides/_rels/notesSlide5.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11.xml" Type="http://schemas.openxmlformats.org/officeDocument/2006/relationships/slide"/></Relationships>
</file>

<file path=ppt/notesSlides/_rels/notesSlide6.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12.xml" Type="http://schemas.openxmlformats.org/officeDocument/2006/relationships/slide"/></Relationships>
</file>

<file path=ppt/notesSlides/_rels/notesSlide7.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19.xml" Type="http://schemas.openxmlformats.org/officeDocument/2006/relationships/slide"/></Relationships>
</file>

<file path=ppt/notesSlides/notesSlide1.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Khi chúng ta xem xét cách chuyển đổi giá thành lợi nhuận, điều quan trọng là chúng ta cần phải cụ thể hóa qua một ví dụ thực tế. Trong ví dụ này, chúng ta sẽ đi từ dữ liệu giá ban đầu đến kết quả lợi nhuận, giúp chúng ta hình dung rõ hơn về quy trình này.</a:t>
            </a:r>
          </a:p>
          <a:p>
            <a:r>
              <a:rPr lang="en-US"/>
              <a:t/>
            </a:r>
          </a:p>
          <a:p>
            <a:r>
              <a:rPr lang="en-US"/>
              <a:t>Bắt đầu với dữ liệu giá tải về từ Yahoo Finance, chúng ta sử dụng cột giá đã điều chỉnh để đảm bảo rằng tất cả các yếu tố như chia cổ tức đã được tính đến. Sau khi chuẩn bị dữ liệu, chúng ta áp dụng phương pháp tính lợi nhuận đơn giản và lợi nhuận logarit như đã thảo luận.</a:t>
            </a:r>
          </a:p>
          <a:p>
            <a:r>
              <a:rPr lang="en-US"/>
              <a:t/>
            </a:r>
          </a:p>
          <a:p>
            <a:r>
              <a:rPr lang="en-US"/>
              <a:t>[Vì vậy, hãy tạm dừng một chút để suy nghĩ về điều này.]</a:t>
            </a:r>
          </a:p>
          <a:p>
            <a:r>
              <a:rPr lang="en-US"/>
              <a:t/>
            </a:r>
          </a:p>
          <a:p>
            <a:r>
              <a:rPr lang="en-US"/>
              <a:t>Ví dụ cụ thể sẽ giúp làm sáng tỏ sự khác biệt nhỏ giữa hai loại lợi nhuận này, đặc biệt khi áp dụng cho dữ liệu tần suất cao như hàng ngày. Chúng ta có thể thấy rằng lợi nhuận logarit thường có giá trị nhỏ hơn một chút so với lợi nhuận đơn giản, nhưng lại cung cấp một cách tính toán nhất quán hơn khi gộp theo thời gian.</a:t>
            </a:r>
          </a:p>
          <a:p>
            <a:r>
              <a:rPr lang="en-US"/>
              <a:t/>
            </a:r>
          </a:p>
          <a:p>
            <a:r>
              <a:rPr lang="en-US"/>
              <a:t>[Bây giờ, hãy tưởng tượng tầm quan trọng của sự chính xác này trong phân tích đầu tư.]</a:t>
            </a:r>
          </a:p>
          <a:p>
            <a:r>
              <a:rPr lang="en-US"/>
              <a:t/>
            </a:r>
          </a:p>
          <a:p>
            <a:r>
              <a:rPr lang="en-US"/>
              <a:t>Chúng ta sẽ thấy kết quả của quy trình này ngay sau đây, giúp khẳng định những lý thuyết mà chúng ta vừa thảo luận. Điều này sẽ cung cấp cho chúng ta một cái nhìn rõ nét về cách thức chuyển đổi giá thành lợi nhuận thực sự hoạt động.</a:t>
            </a:r>
          </a:p>
          <a:p>
            <a:r>
              <a:rPr lang="en-US"/>
              <a:t/>
            </a:r>
          </a:p>
          <a:p>
            <a:r>
              <a:rPr lang="en-US"/>
              <a:t>[Cảm ơn sự chú ý của các bạn, và hãy sẵn sàng cho phần tiếp theo về điều chỉnh lợi nhuận theo lạm phát.]</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2.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Khi chúng ta xem xét cách chuyển đổi giá thành lợi nhuận, điều quan trọng là chúng ta cần phải cụ thể hóa qua một ví dụ thực tế. Trong ví dụ này, chúng ta sẽ đi từ dữ liệu giá ban đầu đến kết quả lợi nhuận, giúp chúng ta hình dung rõ hơn về quy trình này.</a:t>
            </a:r>
          </a:p>
          <a:p>
            <a:r>
              <a:rPr lang="en-US"/>
              <a:t/>
            </a:r>
          </a:p>
          <a:p>
            <a:r>
              <a:rPr lang="en-US"/>
              <a:t>Bắt đầu với dữ liệu giá tải về từ Yahoo Finance, chúng ta sử dụng cột giá đã điều chỉnh để đảm bảo rằng tất cả các yếu tố như chia cổ tức đã được tính đến. Sau khi chuẩn bị dữ liệu, chúng ta áp dụng phương pháp tính lợi nhuận đơn giản và lợi nhuận logarit như đã thảo luận.</a:t>
            </a:r>
          </a:p>
          <a:p>
            <a:r>
              <a:rPr lang="en-US"/>
              <a:t/>
            </a:r>
          </a:p>
          <a:p>
            <a:r>
              <a:rPr lang="en-US"/>
              <a:t>[Vì vậy, hãy tạm dừng một chút để suy nghĩ về điều này.]</a:t>
            </a:r>
          </a:p>
          <a:p>
            <a:r>
              <a:rPr lang="en-US"/>
              <a:t/>
            </a:r>
          </a:p>
          <a:p>
            <a:r>
              <a:rPr lang="en-US"/>
              <a:t>Ví dụ cụ thể sẽ giúp làm sáng tỏ sự khác biệt nhỏ giữa hai loại lợi nhuận này, đặc biệt khi áp dụng cho dữ liệu tần suất cao như hàng ngày. Chúng ta có thể thấy rằng lợi nhuận logarit thường có giá trị nhỏ hơn một chút so với lợi nhuận đơn giản, nhưng lại cung cấp một cách tính toán nhất quán hơn khi gộp theo thời gian.</a:t>
            </a:r>
          </a:p>
          <a:p>
            <a:r>
              <a:rPr lang="en-US"/>
              <a:t/>
            </a:r>
          </a:p>
          <a:p>
            <a:r>
              <a:rPr lang="en-US"/>
              <a:t>[Bây giờ, hãy tưởng tượng tầm quan trọng của sự chính xác này trong phân tích đầu tư.]</a:t>
            </a:r>
          </a:p>
          <a:p>
            <a:r>
              <a:rPr lang="en-US"/>
              <a:t/>
            </a:r>
          </a:p>
          <a:p>
            <a:r>
              <a:rPr lang="en-US"/>
              <a:t>Chúng ta sẽ thấy kết quả của quy trình này ngay sau đây, giúp khẳng định những lý thuyết mà chúng ta vừa thảo luận. Điều này sẽ cung cấp cho chúng ta một cái nhìn rõ nét về cách thức chuyển đổi giá thành lợi nhuận thực sự hoạt động.</a:t>
            </a:r>
          </a:p>
          <a:p>
            <a:r>
              <a:rPr lang="en-US"/>
              <a:t/>
            </a:r>
          </a:p>
          <a:p>
            <a:r>
              <a:rPr lang="en-US"/>
              <a:t>[Cảm ơn sự chú ý của các bạn, và hãy sẵn sàng cho phần tiếp theo về điều chỉnh lợi nhuận theo lạm phát.]</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3.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Khi chúng ta xem xét cách chuyển đổi giá thành lợi nhuận, điều quan trọng là chúng ta cần phải cụ thể hóa qua một ví dụ thực tế. Trong ví dụ này, chúng ta sẽ đi từ dữ liệu giá ban đầu đến kết quả lợi nhuận, giúp chúng ta hình dung rõ hơn về quy trình này.</a:t>
            </a:r>
          </a:p>
          <a:p>
            <a:r>
              <a:rPr lang="en-US"/>
              <a:t/>
            </a:r>
          </a:p>
          <a:p>
            <a:r>
              <a:rPr lang="en-US"/>
              <a:t>Bắt đầu với dữ liệu giá tải về từ Yahoo Finance, chúng ta sử dụng cột giá đã điều chỉnh để đảm bảo rằng tất cả các yếu tố như chia cổ tức đã được tính đến. Sau khi chuẩn bị dữ liệu, chúng ta áp dụng phương pháp tính lợi nhuận đơn giản và lợi nhuận logarit như đã thảo luận.</a:t>
            </a:r>
          </a:p>
          <a:p>
            <a:r>
              <a:rPr lang="en-US"/>
              <a:t/>
            </a:r>
          </a:p>
          <a:p>
            <a:r>
              <a:rPr lang="en-US"/>
              <a:t>[Vì vậy, hãy tạm dừng một chút để suy nghĩ về điều này.]</a:t>
            </a:r>
          </a:p>
          <a:p>
            <a:r>
              <a:rPr lang="en-US"/>
              <a:t/>
            </a:r>
          </a:p>
          <a:p>
            <a:r>
              <a:rPr lang="en-US"/>
              <a:t>Ví dụ cụ thể sẽ giúp làm sáng tỏ sự khác biệt nhỏ giữa hai loại lợi nhuận này, đặc biệt khi áp dụng cho dữ liệu tần suất cao như hàng ngày. Chúng ta có thể thấy rằng lợi nhuận logarit thường có giá trị nhỏ hơn một chút so với lợi nhuận đơn giản, nhưng lại cung cấp một cách tính toán nhất quán hơn khi gộp theo thời gian.</a:t>
            </a:r>
          </a:p>
          <a:p>
            <a:r>
              <a:rPr lang="en-US"/>
              <a:t/>
            </a:r>
          </a:p>
          <a:p>
            <a:r>
              <a:rPr lang="en-US"/>
              <a:t>[Bây giờ, hãy tưởng tượng tầm quan trọng của sự chính xác này trong phân tích đầu tư.]</a:t>
            </a:r>
          </a:p>
          <a:p>
            <a:r>
              <a:rPr lang="en-US"/>
              <a:t/>
            </a:r>
          </a:p>
          <a:p>
            <a:r>
              <a:rPr lang="en-US"/>
              <a:t>Chúng ta sẽ thấy kết quả của quy trình này ngay sau đây, giúp khẳng định những lý thuyết mà chúng ta vừa thảo luận. Điều này sẽ cung cấp cho chúng ta một cái nhìn rõ nét về cách thức chuyển đổi giá thành lợi nhuận thực sự hoạt động.</a:t>
            </a:r>
          </a:p>
          <a:p>
            <a:r>
              <a:rPr lang="en-US"/>
              <a:t/>
            </a:r>
          </a:p>
          <a:p>
            <a:r>
              <a:rPr lang="en-US"/>
              <a:t>[Cảm ơn sự chú ý của các bạn, và hãy sẵn sàng cho phần tiếp theo về điều chỉnh lợi nhuận theo lạm phát.]</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4.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Khi chúng ta xem xét cách chuyển đổi giá thành lợi nhuận, điều quan trọng là chúng ta cần phải cụ thể hóa qua một ví dụ thực tế. Trong ví dụ này, chúng ta sẽ đi từ dữ liệu giá ban đầu đến kết quả lợi nhuận, giúp chúng ta hình dung rõ hơn về quy trình này.</a:t>
            </a:r>
          </a:p>
          <a:p>
            <a:r>
              <a:rPr lang="en-US"/>
              <a:t/>
            </a:r>
          </a:p>
          <a:p>
            <a:r>
              <a:rPr lang="en-US"/>
              <a:t>Bắt đầu với dữ liệu giá tải về từ Yahoo Finance, chúng ta sử dụng cột giá đã điều chỉnh để đảm bảo rằng tất cả các yếu tố như chia cổ tức đã được tính đến. Sau khi chuẩn bị dữ liệu, chúng ta áp dụng phương pháp tính lợi nhuận đơn giản và lợi nhuận logarit như đã thảo luận.</a:t>
            </a:r>
          </a:p>
          <a:p>
            <a:r>
              <a:rPr lang="en-US"/>
              <a:t/>
            </a:r>
          </a:p>
          <a:p>
            <a:r>
              <a:rPr lang="en-US"/>
              <a:t>[Vì vậy, hãy tạm dừng một chút để suy nghĩ về điều này.]</a:t>
            </a:r>
          </a:p>
          <a:p>
            <a:r>
              <a:rPr lang="en-US"/>
              <a:t/>
            </a:r>
          </a:p>
          <a:p>
            <a:r>
              <a:rPr lang="en-US"/>
              <a:t>Ví dụ cụ thể sẽ giúp làm sáng tỏ sự khác biệt nhỏ giữa hai loại lợi nhuận này, đặc biệt khi áp dụng cho dữ liệu tần suất cao như hàng ngày. Chúng ta có thể thấy rằng lợi nhuận logarit thường có giá trị nhỏ hơn một chút so với lợi nhuận đơn giản, nhưng lại cung cấp một cách tính toán nhất quán hơn khi gộp theo thời gian.</a:t>
            </a:r>
          </a:p>
          <a:p>
            <a:r>
              <a:rPr lang="en-US"/>
              <a:t/>
            </a:r>
          </a:p>
          <a:p>
            <a:r>
              <a:rPr lang="en-US"/>
              <a:t>[Bây giờ, hãy tưởng tượng tầm quan trọng của sự chính xác này trong phân tích đầu tư.]</a:t>
            </a:r>
          </a:p>
          <a:p>
            <a:r>
              <a:rPr lang="en-US"/>
              <a:t/>
            </a:r>
          </a:p>
          <a:p>
            <a:r>
              <a:rPr lang="en-US"/>
              <a:t>Chúng ta sẽ thấy kết quả của quy trình này ngay sau đây, giúp khẳng định những lý thuyết mà chúng ta vừa thảo luận. Điều này sẽ cung cấp cho chúng ta một cái nhìn rõ nét về cách thức chuyển đổi giá thành lợi nhuận thực sự hoạt động.</a:t>
            </a:r>
          </a:p>
          <a:p>
            <a:r>
              <a:rPr lang="en-US"/>
              <a:t/>
            </a:r>
          </a:p>
          <a:p>
            <a:r>
              <a:rPr lang="en-US"/>
              <a:t>[Cảm ơn sự chú ý của các bạn, và hãy sẵn sàng cho phần tiếp theo về điều chỉnh lợi nhuận theo lạm phát.]</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5.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Khi chúng ta xem xét cách chuyển đổi giá thành lợi nhuận, điều quan trọng là chúng ta cần phải cụ thể hóa qua một ví dụ thực tế. Trong ví dụ này, chúng ta sẽ đi từ dữ liệu giá ban đầu đến kết quả lợi nhuận, giúp chúng ta hình dung rõ hơn về quy trình này.</a:t>
            </a:r>
          </a:p>
          <a:p>
            <a:r>
              <a:rPr lang="en-US"/>
              <a:t/>
            </a:r>
          </a:p>
          <a:p>
            <a:r>
              <a:rPr lang="en-US"/>
              <a:t>Bắt đầu với dữ liệu giá tải về từ Yahoo Finance, chúng ta sử dụng cột giá đã điều chỉnh để đảm bảo rằng tất cả các yếu tố như chia cổ tức đã được tính đến. Sau khi chuẩn bị dữ liệu, chúng ta áp dụng phương pháp tính lợi nhuận đơn giản và lợi nhuận logarit như đã thảo luận.</a:t>
            </a:r>
          </a:p>
          <a:p>
            <a:r>
              <a:rPr lang="en-US"/>
              <a:t/>
            </a:r>
          </a:p>
          <a:p>
            <a:r>
              <a:rPr lang="en-US"/>
              <a:t>[Vì vậy, hãy tạm dừng một chút để suy nghĩ về điều này.]</a:t>
            </a:r>
          </a:p>
          <a:p>
            <a:r>
              <a:rPr lang="en-US"/>
              <a:t/>
            </a:r>
          </a:p>
          <a:p>
            <a:r>
              <a:rPr lang="en-US"/>
              <a:t>Ví dụ cụ thể sẽ giúp làm sáng tỏ sự khác biệt nhỏ giữa hai loại lợi nhuận này, đặc biệt khi áp dụng cho dữ liệu tần suất cao như hàng ngày. Chúng ta có thể thấy rằng lợi nhuận logarit thường có giá trị nhỏ hơn một chút so với lợi nhuận đơn giản, nhưng lại cung cấp một cách tính toán nhất quán hơn khi gộp theo thời gian.</a:t>
            </a:r>
          </a:p>
          <a:p>
            <a:r>
              <a:rPr lang="en-US"/>
              <a:t/>
            </a:r>
          </a:p>
          <a:p>
            <a:r>
              <a:rPr lang="en-US"/>
              <a:t>[Bây giờ, hãy tưởng tượng tầm quan trọng của sự chính xác này trong phân tích đầu tư.]</a:t>
            </a:r>
          </a:p>
          <a:p>
            <a:r>
              <a:rPr lang="en-US"/>
              <a:t/>
            </a:r>
          </a:p>
          <a:p>
            <a:r>
              <a:rPr lang="en-US"/>
              <a:t>Chúng ta sẽ thấy kết quả của quy trình này ngay sau đây, giúp khẳng định những lý thuyết mà chúng ta vừa thảo luận. Điều này sẽ cung cấp cho chúng ta một cái nhìn rõ nét về cách thức chuyển đổi giá thành lợi nhuận thực sự hoạt động.</a:t>
            </a:r>
          </a:p>
          <a:p>
            <a:r>
              <a:rPr lang="en-US"/>
              <a:t/>
            </a:r>
          </a:p>
          <a:p>
            <a:r>
              <a:rPr lang="en-US"/>
              <a:t>[Cảm ơn sự chú ý của các bạn, và hãy sẵn sàng cho phần tiếp theo về điều chỉnh lợi nhuận theo lạm phát.]</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6.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Khi chúng ta xem xét cách chuyển đổi giá thành lợi nhuận, điều quan trọng là chúng ta cần phải cụ thể hóa qua một ví dụ thực tế. Trong ví dụ này, chúng ta sẽ đi từ dữ liệu giá ban đầu đến kết quả lợi nhuận, giúp chúng ta hình dung rõ hơn về quy trình này.</a:t>
            </a:r>
          </a:p>
          <a:p>
            <a:r>
              <a:rPr lang="en-US"/>
              <a:t/>
            </a:r>
          </a:p>
          <a:p>
            <a:r>
              <a:rPr lang="en-US"/>
              <a:t>Bắt đầu với dữ liệu giá tải về từ Yahoo Finance, chúng ta sử dụng cột giá đã điều chỉnh để đảm bảo rằng tất cả các yếu tố như chia cổ tức đã được tính đến. Sau khi chuẩn bị dữ liệu, chúng ta áp dụng phương pháp tính lợi nhuận đơn giản và lợi nhuận logarit như đã thảo luận.</a:t>
            </a:r>
          </a:p>
          <a:p>
            <a:r>
              <a:rPr lang="en-US"/>
              <a:t/>
            </a:r>
          </a:p>
          <a:p>
            <a:r>
              <a:rPr lang="en-US"/>
              <a:t>[Vì vậy, hãy tạm dừng một chút để suy nghĩ về điều này.]</a:t>
            </a:r>
          </a:p>
          <a:p>
            <a:r>
              <a:rPr lang="en-US"/>
              <a:t/>
            </a:r>
          </a:p>
          <a:p>
            <a:r>
              <a:rPr lang="en-US"/>
              <a:t>Ví dụ cụ thể sẽ giúp làm sáng tỏ sự khác biệt nhỏ giữa hai loại lợi nhuận này, đặc biệt khi áp dụng cho dữ liệu tần suất cao như hàng ngày. Chúng ta có thể thấy rằng lợi nhuận logarit thường có giá trị nhỏ hơn một chút so với lợi nhuận đơn giản, nhưng lại cung cấp một cách tính toán nhất quán hơn khi gộp theo thời gian.</a:t>
            </a:r>
          </a:p>
          <a:p>
            <a:r>
              <a:rPr lang="en-US"/>
              <a:t/>
            </a:r>
          </a:p>
          <a:p>
            <a:r>
              <a:rPr lang="en-US"/>
              <a:t>[Bây giờ, hãy tưởng tượng tầm quan trọng của sự chính xác này trong phân tích đầu tư.]</a:t>
            </a:r>
          </a:p>
          <a:p>
            <a:r>
              <a:rPr lang="en-US"/>
              <a:t/>
            </a:r>
          </a:p>
          <a:p>
            <a:r>
              <a:rPr lang="en-US"/>
              <a:t>Chúng ta sẽ thấy kết quả của quy trình này ngay sau đây, giúp khẳng định những lý thuyết mà chúng ta vừa thảo luận. Điều này sẽ cung cấp cho chúng ta một cái nhìn rõ nét về cách thức chuyển đổi giá thành lợi nhuận thực sự hoạt động.</a:t>
            </a:r>
          </a:p>
          <a:p>
            <a:r>
              <a:rPr lang="en-US"/>
              <a:t/>
            </a:r>
          </a:p>
          <a:p>
            <a:r>
              <a:rPr lang="en-US"/>
              <a:t>[Cảm ơn sự chú ý của các bạn, và hãy sẵn sàng cho phần tiếp theo về điều chỉnh lợi nhuận theo lạm phát.]</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7.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Khi chúng ta xem xét cách chuyển đổi giá thành lợi nhuận, điều quan trọng là chúng ta cần phải cụ thể hóa qua một ví dụ thực tế. Trong ví dụ này, chúng ta sẽ đi từ dữ liệu giá ban đầu đến kết quả lợi nhuận, giúp chúng ta hình dung rõ hơn về quy trình này.</a:t>
            </a:r>
          </a:p>
          <a:p>
            <a:r>
              <a:rPr lang="en-US"/>
              <a:t/>
            </a:r>
          </a:p>
          <a:p>
            <a:r>
              <a:rPr lang="en-US"/>
              <a:t>Bắt đầu với dữ liệu giá tải về từ Yahoo Finance, chúng ta sử dụng cột giá đã điều chỉnh để đảm bảo rằng tất cả các yếu tố như chia cổ tức đã được tính đến. Sau khi chuẩn bị dữ liệu, chúng ta áp dụng phương pháp tính lợi nhuận đơn giản và lợi nhuận logarit như đã thảo luận.</a:t>
            </a:r>
          </a:p>
          <a:p>
            <a:r>
              <a:rPr lang="en-US"/>
              <a:t/>
            </a:r>
          </a:p>
          <a:p>
            <a:r>
              <a:rPr lang="en-US"/>
              <a:t>[Vì vậy, hãy tạm dừng một chút để suy nghĩ về điều này.]</a:t>
            </a:r>
          </a:p>
          <a:p>
            <a:r>
              <a:rPr lang="en-US"/>
              <a:t/>
            </a:r>
          </a:p>
          <a:p>
            <a:r>
              <a:rPr lang="en-US"/>
              <a:t>Ví dụ cụ thể sẽ giúp làm sáng tỏ sự khác biệt nhỏ giữa hai loại lợi nhuận này, đặc biệt khi áp dụng cho dữ liệu tần suất cao như hàng ngày. Chúng ta có thể thấy rằng lợi nhuận logarit thường có giá trị nhỏ hơn một chút so với lợi nhuận đơn giản, nhưng lại cung cấp một cách tính toán nhất quán hơn khi gộp theo thời gian.</a:t>
            </a:r>
          </a:p>
          <a:p>
            <a:r>
              <a:rPr lang="en-US"/>
              <a:t/>
            </a:r>
          </a:p>
          <a:p>
            <a:r>
              <a:rPr lang="en-US"/>
              <a:t>[Bây giờ, hãy tưởng tượng tầm quan trọng của sự chính xác này trong phân tích đầu tư.]</a:t>
            </a:r>
          </a:p>
          <a:p>
            <a:r>
              <a:rPr lang="en-US"/>
              <a:t/>
            </a:r>
          </a:p>
          <a:p>
            <a:r>
              <a:rPr lang="en-US"/>
              <a:t>Chúng ta sẽ thấy kết quả của quy trình này ngay sau đây, giúp khẳng định những lý thuyết mà chúng ta vừa thảo luận. Điều này sẽ cung cấp cho chúng ta một cái nhìn rõ nét về cách thức chuyển đổi giá thành lợi nhuận thực sự hoạt động.</a:t>
            </a:r>
          </a:p>
          <a:p>
            <a:r>
              <a:rPr lang="en-US"/>
              <a:t/>
            </a:r>
          </a:p>
          <a:p>
            <a:r>
              <a:rPr lang="en-US"/>
              <a:t>[Cảm ơn sự chú ý của các bạn, và hãy sẵn sàng cho phần tiếp theo về điều chỉnh lợi nhuận theo lạm phát.]</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slideLayouts/_rels/slideLayout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2.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3.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4.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5.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6.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7.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8.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9.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0.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1D8BD707-D9CF-40AE-B4C6-C98DA3205C09}" type="datetimeFigureOut">
              <a:rPr lang="en-US" smtClean="0"/>
              <a:pPr/>
              <a:t>8/1/2011</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1D8BD707-D9CF-40AE-B4C6-C98DA3205C09}" type="datetimeFigureOut">
              <a:rPr lang="en-US" smtClean="0"/>
              <a:pPr/>
              <a:t>8/1/2011</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8/1/2011</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Relationships xmlns="http://schemas.openxmlformats.org/package/2006/relationships"><Relationship Id="rId1" Target="../slideLayouts/slideLayout1.xml" Type="http://schemas.openxmlformats.org/officeDocument/2006/relationships/slideLayout"/><Relationship Id="rId10" Target="../slideLayouts/slideLayout10.xml" Type="http://schemas.openxmlformats.org/officeDocument/2006/relationships/slideLayout"/><Relationship Id="rId11" Target="../slideLayouts/slideLayout11.xml" Type="http://schemas.openxmlformats.org/officeDocument/2006/relationships/slideLayout"/><Relationship Id="rId12" Target="../theme/theme1.xml" Type="http://schemas.openxmlformats.org/officeDocument/2006/relationships/theme"/><Relationship Id="rId2" Target="../slideLayouts/slideLayout2.xml" Type="http://schemas.openxmlformats.org/officeDocument/2006/relationships/slideLayout"/><Relationship Id="rId3" Target="../slideLayouts/slideLayout3.xml" Type="http://schemas.openxmlformats.org/officeDocument/2006/relationships/slideLayout"/><Relationship Id="rId4" Target="../slideLayouts/slideLayout4.xml" Type="http://schemas.openxmlformats.org/officeDocument/2006/relationships/slideLayout"/><Relationship Id="rId5" Target="../slideLayouts/slideLayout5.xml" Type="http://schemas.openxmlformats.org/officeDocument/2006/relationships/slideLayout"/><Relationship Id="rId6" Target="../slideLayouts/slideLayout6.xml" Type="http://schemas.openxmlformats.org/officeDocument/2006/relationships/slideLayout"/><Relationship Id="rId7" Target="../slideLayouts/slideLayout7.xml" Type="http://schemas.openxmlformats.org/officeDocument/2006/relationships/slideLayout"/><Relationship Id="rId8" Target="../slideLayouts/slideLayout8.xml" Type="http://schemas.openxmlformats.org/officeDocument/2006/relationships/slideLayout"/><Relationship Id="rId9" Target="../slideLayouts/slideLayout9.xml" Type="http://schemas.openxmlformats.org/officeDocument/2006/relationships/slideLayout"/></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8/1/2011</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png" Type="http://schemas.openxmlformats.org/officeDocument/2006/relationships/image"/><Relationship Id="rId4" Target="../media/image3.png" Type="http://schemas.openxmlformats.org/officeDocument/2006/relationships/image"/></Relationships>
</file>

<file path=ppt/slides/_rels/slide2.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s>
</file>

<file path=ppt/slides/_rels/slide3.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4.png" Type="http://schemas.openxmlformats.org/officeDocument/2006/relationships/image"/></Relationships>
</file>

<file path=ppt/slides/_rels/slide4.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5.png" Type="http://schemas.openxmlformats.org/officeDocument/2006/relationships/image"/><Relationship Id="rId4" Target="../media/image6.png" Type="http://schemas.openxmlformats.org/officeDocument/2006/relationships/image"/><Relationship Id="rId5" Target="../media/image7.png" Type="http://schemas.openxmlformats.org/officeDocument/2006/relationships/image"/></Relationships>
</file>

<file path=ppt/slides/_rels/slide5.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4.png" Type="http://schemas.openxmlformats.org/officeDocument/2006/relationships/image"/><Relationship Id="rId4" Target="../media/image8.png" Type="http://schemas.openxmlformats.org/officeDocument/2006/relationships/image"/></Relationships>
</file>

<file path=ppt/slides/_rels/slide6.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4.png" Type="http://schemas.openxmlformats.org/officeDocument/2006/relationships/image"/><Relationship Id="rId4" Target="../media/image9.png" Type="http://schemas.openxmlformats.org/officeDocument/2006/relationships/image"/><Relationship Id="rId5" Target="../media/image10.png" Type="http://schemas.openxmlformats.org/officeDocument/2006/relationships/image"/><Relationship Id="rId6" Target="../media/image11.png" Type="http://schemas.openxmlformats.org/officeDocument/2006/relationships/image"/><Relationship Id="rId7" Target="../media/image12.png" Type="http://schemas.openxmlformats.org/officeDocument/2006/relationships/image"/></Relationships>
</file>

<file path=ppt/slides/_rels/slide7.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1.xml" Type="http://schemas.openxmlformats.org/officeDocument/2006/relationships/notesSlide"/><Relationship Id="rId3" Target="../media/image1.png" Type="http://schemas.openxmlformats.org/officeDocument/2006/relationships/image"/><Relationship Id="rId4" Target="../media/image4.png" Type="http://schemas.openxmlformats.org/officeDocument/2006/relationships/image"/><Relationship Id="rId5" Target="../media/image13.png" Type="http://schemas.openxmlformats.org/officeDocument/2006/relationships/image"/><Relationship Id="rId6" Target="../media/image14.png" Type="http://schemas.openxmlformats.org/officeDocument/2006/relationships/image"/></Relationships>
</file>

<file path=ppt/slides/_rels/slide8.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2.xml" Type="http://schemas.openxmlformats.org/officeDocument/2006/relationships/notesSlide"/><Relationship Id="rId3" Target="../media/image1.png" Type="http://schemas.openxmlformats.org/officeDocument/2006/relationships/image"/><Relationship Id="rId4" Target="../media/image4.png" Type="http://schemas.openxmlformats.org/officeDocument/2006/relationships/image"/><Relationship Id="rId5" Target="../media/image15.png" Type="http://schemas.openxmlformats.org/officeDocument/2006/relationships/image"/><Relationship Id="rId6" Target="../media/image16.png" Type="http://schemas.openxmlformats.org/officeDocument/2006/relationships/image"/></Relationships>
</file>

<file path=ppt/slides/_rels/slide9.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3.xml" Type="http://schemas.openxmlformats.org/officeDocument/2006/relationships/notesSlide"/><Relationship Id="rId3" Target="../media/image1.png" Type="http://schemas.openxmlformats.org/officeDocument/2006/relationships/image"/><Relationship Id="rId4" Target="../media/image4.png" Type="http://schemas.openxmlformats.org/officeDocument/2006/relationships/image"/><Relationship Id="rId5" Target="../media/image17.png" Type="http://schemas.openxmlformats.org/officeDocument/2006/relationships/image"/><Relationship Id="rId6" Target="../media/image18.png" Type="http://schemas.openxmlformats.org/officeDocument/2006/relationships/image"/><Relationship Id="rId7" Target="../media/image19.png" Type="http://schemas.openxmlformats.org/officeDocument/2006/relationships/image"/></Relationships>
</file>

<file path=ppt/slides/_rels/slide10.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4.xml" Type="http://schemas.openxmlformats.org/officeDocument/2006/relationships/notesSlide"/><Relationship Id="rId3" Target="../media/image1.png" Type="http://schemas.openxmlformats.org/officeDocument/2006/relationships/image"/><Relationship Id="rId4" Target="../media/image4.png" Type="http://schemas.openxmlformats.org/officeDocument/2006/relationships/image"/><Relationship Id="rId5" Target="../media/image20.png" Type="http://schemas.openxmlformats.org/officeDocument/2006/relationships/image"/><Relationship Id="rId6" Target="../media/image21.png" Type="http://schemas.openxmlformats.org/officeDocument/2006/relationships/image"/></Relationships>
</file>

<file path=ppt/slides/_rels/slide11.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5.xml" Type="http://schemas.openxmlformats.org/officeDocument/2006/relationships/notesSlide"/><Relationship Id="rId3" Target="../media/image1.png" Type="http://schemas.openxmlformats.org/officeDocument/2006/relationships/image"/><Relationship Id="rId4" Target="../media/image4.png" Type="http://schemas.openxmlformats.org/officeDocument/2006/relationships/image"/><Relationship Id="rId5" Target="../media/image22.png" Type="http://schemas.openxmlformats.org/officeDocument/2006/relationships/image"/><Relationship Id="rId6" Target="../media/image23.png" Type="http://schemas.openxmlformats.org/officeDocument/2006/relationships/image"/></Relationships>
</file>

<file path=ppt/slides/_rels/slide12.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6.xml" Type="http://schemas.openxmlformats.org/officeDocument/2006/relationships/notesSlide"/><Relationship Id="rId3" Target="../media/image1.png" Type="http://schemas.openxmlformats.org/officeDocument/2006/relationships/image"/><Relationship Id="rId4" Target="../media/image4.png" Type="http://schemas.openxmlformats.org/officeDocument/2006/relationships/image"/><Relationship Id="rId5" Target="../media/image24.png" Type="http://schemas.openxmlformats.org/officeDocument/2006/relationships/image"/><Relationship Id="rId6" Target="../media/image25.png" Type="http://schemas.openxmlformats.org/officeDocument/2006/relationships/image"/></Relationships>
</file>

<file path=ppt/slides/_rels/slide13.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png" Type="http://schemas.openxmlformats.org/officeDocument/2006/relationships/image"/></Relationships>
</file>

<file path=ppt/slides/_rels/slide14.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4.png" Type="http://schemas.openxmlformats.org/officeDocument/2006/relationships/image"/></Relationships>
</file>

<file path=ppt/slides/_rels/slide15.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4.png" Type="http://schemas.openxmlformats.org/officeDocument/2006/relationships/image"/></Relationships>
</file>

<file path=ppt/slides/_rels/slide16.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4.png" Type="http://schemas.openxmlformats.org/officeDocument/2006/relationships/image"/></Relationships>
</file>

<file path=ppt/slides/_rels/slide17.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4.png" Type="http://schemas.openxmlformats.org/officeDocument/2006/relationships/image"/><Relationship Id="rId4" Target="../media/image26.png" Type="http://schemas.openxmlformats.org/officeDocument/2006/relationships/image"/><Relationship Id="rId5" Target="../media/image27.png" Type="http://schemas.openxmlformats.org/officeDocument/2006/relationships/image"/></Relationships>
</file>

<file path=ppt/slides/_rels/slide18.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4.png" Type="http://schemas.openxmlformats.org/officeDocument/2006/relationships/image"/><Relationship Id="rId4" Target="../media/image28.png" Type="http://schemas.openxmlformats.org/officeDocument/2006/relationships/image"/></Relationships>
</file>

<file path=ppt/slides/_rels/slide19.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34.svg" Type="http://schemas.openxmlformats.org/officeDocument/2006/relationships/image"/><Relationship Id="rId2" Target="../notesSlides/notesSlide7.xml" Type="http://schemas.openxmlformats.org/officeDocument/2006/relationships/notesSlide"/><Relationship Id="rId3" Target="../media/image1.png" Type="http://schemas.openxmlformats.org/officeDocument/2006/relationships/image"/><Relationship Id="rId4" Target="../media/image4.png" Type="http://schemas.openxmlformats.org/officeDocument/2006/relationships/image"/><Relationship Id="rId5" Target="../media/image29.png" Type="http://schemas.openxmlformats.org/officeDocument/2006/relationships/image"/><Relationship Id="rId6" Target="../media/image30.png" Type="http://schemas.openxmlformats.org/officeDocument/2006/relationships/image"/><Relationship Id="rId7" Target="../media/image31.png" Type="http://schemas.openxmlformats.org/officeDocument/2006/relationships/image"/><Relationship Id="rId8" Target="../media/image32.png" Type="http://schemas.openxmlformats.org/officeDocument/2006/relationships/image"/><Relationship Id="rId9" Target="../media/image33.png" Type="http://schemas.openxmlformats.org/officeDocument/2006/relationships/image"/></Relationships>
</file>

<file path=ppt/slides/_rels/slide20.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4.png" Type="http://schemas.openxmlformats.org/officeDocument/2006/relationships/image"/><Relationship Id="rId4" Target="../media/image35.png" Type="http://schemas.openxmlformats.org/officeDocument/2006/relationships/image"/><Relationship Id="rId5" Target="../media/image36.png" Type="http://schemas.openxmlformats.org/officeDocument/2006/relationships/image"/><Relationship Id="rId6" Target="../media/image37.png" Type="http://schemas.openxmlformats.org/officeDocument/2006/relationships/image"/><Relationship Id="rId7" Target="../media/image38.png" Type="http://schemas.openxmlformats.org/officeDocument/2006/relationships/image"/></Relationships>
</file>

<file path=ppt/slides/_rels/slide21.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4.png" Type="http://schemas.openxmlformats.org/officeDocument/2006/relationships/image"/><Relationship Id="rId4" Target="../media/image39.png" Type="http://schemas.openxmlformats.org/officeDocument/2006/relationships/image"/><Relationship Id="rId5" Target="../media/image40.png" Type="http://schemas.openxmlformats.org/officeDocument/2006/relationships/image"/></Relationships>
</file>

<file path=ppt/slides/_rels/slide22.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4.png" Type="http://schemas.openxmlformats.org/officeDocument/2006/relationships/image"/><Relationship Id="rId4" Target="../media/image41.png" Type="http://schemas.openxmlformats.org/officeDocument/2006/relationships/image"/><Relationship Id="rId5" Target="../media/image42.png" Type="http://schemas.openxmlformats.org/officeDocument/2006/relationships/image"/></Relationships>
</file>

<file path=ppt/slides/_rels/slide23.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4.png" Type="http://schemas.openxmlformats.org/officeDocument/2006/relationships/image"/><Relationship Id="rId4" Target="../media/image43.png" Type="http://schemas.openxmlformats.org/officeDocument/2006/relationships/image"/><Relationship Id="rId5" Target="../media/image44.png" Type="http://schemas.openxmlformats.org/officeDocument/2006/relationships/image"/><Relationship Id="rId6" Target="../media/image45.png" Type="http://schemas.openxmlformats.org/officeDocument/2006/relationships/image"/></Relationships>
</file>

<file path=ppt/slides/_rels/slide24.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4.png" Type="http://schemas.openxmlformats.org/officeDocument/2006/relationships/image"/><Relationship Id="rId4" Target="../media/image46.png" Type="http://schemas.openxmlformats.org/officeDocument/2006/relationships/image"/></Relationships>
</file>

<file path=ppt/slides/_rels/slide25.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4.png" Type="http://schemas.openxmlformats.org/officeDocument/2006/relationships/image"/><Relationship Id="rId4" Target="../media/image47.png" Type="http://schemas.openxmlformats.org/officeDocument/2006/relationships/image"/></Relationships>
</file>

<file path=ppt/slides/_rels/slide26.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4.png" Type="http://schemas.openxmlformats.org/officeDocument/2006/relationships/image"/><Relationship Id="rId4" Target="../media/image48.png" Type="http://schemas.openxmlformats.org/officeDocument/2006/relationships/image"/></Relationships>
</file>

<file path=ppt/slides/_rels/slide27.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4.png" Type="http://schemas.openxmlformats.org/officeDocument/2006/relationships/image"/><Relationship Id="rId4" Target="../media/image49.png" Type="http://schemas.openxmlformats.org/officeDocument/2006/relationships/image"/><Relationship Id="rId5" Target="../media/image50.png" Type="http://schemas.openxmlformats.org/officeDocument/2006/relationships/image"/><Relationship Id="rId6" Target="../media/image51.png" Type="http://schemas.openxmlformats.org/officeDocument/2006/relationships/image"/></Relationships>
</file>

<file path=ppt/slides/_rels/slide28.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png" Type="http://schemas.openxmlformats.org/officeDocument/2006/relationships/image"/></Relationships>
</file>

<file path=ppt/slides/_rels/slide29.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png" Type="http://schemas.openxmlformats.org/officeDocument/2006/relationships/image"/><Relationship Id="rId4" Target="../media/image52.png" Type="http://schemas.openxmlformats.org/officeDocument/2006/relationships/image"/><Relationship Id="rId5" Target="../media/image53.png" Type="http://schemas.openxmlformats.org/officeDocument/2006/relationships/image"/></Relationships>
</file>

<file path=ppt/slides/_rels/slide30.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png" Type="http://schemas.openxmlformats.org/officeDocument/2006/relationships/image"/><Relationship Id="rId4" Target="../media/image54.png" Type="http://schemas.openxmlformats.org/officeDocument/2006/relationships/image"/></Relationships>
</file>

<file path=ppt/slides/_rels/slide31.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4.png" Type="http://schemas.openxmlformats.org/officeDocument/2006/relationships/image"/></Relationships>
</file>

<file path=ppt/slides/_rels/slide32.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4.png" Type="http://schemas.openxmlformats.org/officeDocument/2006/relationships/image"/><Relationship Id="rId4" Target="../media/image55.png" Type="http://schemas.openxmlformats.org/officeDocument/2006/relationships/image"/><Relationship Id="rId5" Target="../media/image56.svg" Type="http://schemas.openxmlformats.org/officeDocument/2006/relationships/image"/></Relationships>
</file>

<file path=ppt/slides/_rels/slide33.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4.png" Type="http://schemas.openxmlformats.org/officeDocument/2006/relationships/image"/><Relationship Id="rId4" Target="../media/image57.png" Type="http://schemas.openxmlformats.org/officeDocument/2006/relationships/image"/></Relationships>
</file>

<file path=ppt/slides/_rels/slide34.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4.png" Type="http://schemas.openxmlformats.org/officeDocument/2006/relationships/image"/><Relationship Id="rId4" Target="../media/image58.png" Type="http://schemas.openxmlformats.org/officeDocument/2006/relationships/image"/></Relationships>
</file>

<file path=ppt/slides/_rels/slide35.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4.png" Type="http://schemas.openxmlformats.org/officeDocument/2006/relationships/image"/><Relationship Id="rId4" Target="../media/image59.png" Type="http://schemas.openxmlformats.org/officeDocument/2006/relationships/image"/></Relationships>
</file>

<file path=ppt/slides/_rels/slide36.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4.png" Type="http://schemas.openxmlformats.org/officeDocument/2006/relationships/image"/><Relationship Id="rId4" Target="../media/image60.png" Type="http://schemas.openxmlformats.org/officeDocument/2006/relationships/image"/><Relationship Id="rId5" Target="../media/image61.png" Type="http://schemas.openxmlformats.org/officeDocument/2006/relationships/image"/></Relationships>
</file>

<file path=ppt/slides/_rels/slide37.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4.png" Type="http://schemas.openxmlformats.org/officeDocument/2006/relationships/image"/><Relationship Id="rId4" Target="../media/image62.png" Type="http://schemas.openxmlformats.org/officeDocument/2006/relationships/image"/></Relationships>
</file>

<file path=ppt/slides/_rels/slide38.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4.png" Type="http://schemas.openxmlformats.org/officeDocument/2006/relationships/image"/><Relationship Id="rId4" Target="../media/image63.png" Type="http://schemas.openxmlformats.org/officeDocument/2006/relationships/image"/></Relationships>
</file>

<file path=ppt/slides/_rels/slide39.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4.png" Type="http://schemas.openxmlformats.org/officeDocument/2006/relationships/image"/><Relationship Id="rId4" Target="../media/image64.png" Type="http://schemas.openxmlformats.org/officeDocument/2006/relationships/image"/><Relationship Id="rId5" Target="../media/image65.png" Type="http://schemas.openxmlformats.org/officeDocument/2006/relationships/image"/></Relationships>
</file>

<file path=ppt/slides/_rels/slide40.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4.png" Type="http://schemas.openxmlformats.org/officeDocument/2006/relationships/image"/></Relationships>
</file>

<file path=ppt/slides/_rels/slide41.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s>
</file>

<file path=ppt/slides/slide1.xml><?xml version="1.0" encoding="utf-8"?>
<p:sld xmlns:p="http://schemas.openxmlformats.org/presentationml/2006/main" xmlns:a="http://schemas.openxmlformats.org/drawingml/2006/main" xmlns:r="http://schemas.openxmlformats.org/officeDocument/2006/relationships">
  <p:cSld>
    <p:bg>
      <p:bgPr>
        <a:solidFill>
          <a:srgbClr val="F2F7FA"/>
        </a:solidFill>
      </p:bgPr>
    </p:bg>
    <p:spTree>
      <p:nvGrpSpPr>
        <p:cNvPr id="1" name=""/>
        <p:cNvGrpSpPr/>
        <p:nvPr/>
      </p:nvGrpSpPr>
      <p:grpSpPr>
        <a:xfrm>
          <a:off x="0" y="0"/>
          <a:ext cx="0" cy="0"/>
          <a:chOff x="0" y="0"/>
          <a:chExt cx="0" cy="0"/>
        </a:xfrm>
      </p:grpSpPr>
      <p:sp>
        <p:nvSpPr>
          <p:cNvPr name="Freeform 2" id="2"/>
          <p:cNvSpPr/>
          <p:nvPr/>
        </p:nvSpPr>
        <p:spPr>
          <a:xfrm flipH="false" flipV="false" rot="-207862">
            <a:off x="2681348" y="5116954"/>
            <a:ext cx="15048401" cy="6376760"/>
          </a:xfrm>
          <a:custGeom>
            <a:avLst/>
            <a:gdLst/>
            <a:ahLst/>
            <a:cxnLst/>
            <a:rect r="r" b="b" t="t" l="l"/>
            <a:pathLst>
              <a:path h="6376760" w="15048401">
                <a:moveTo>
                  <a:pt x="0" y="0"/>
                </a:moveTo>
                <a:lnTo>
                  <a:pt x="15048401" y="0"/>
                </a:lnTo>
                <a:lnTo>
                  <a:pt x="15048401" y="6376760"/>
                </a:lnTo>
                <a:lnTo>
                  <a:pt x="0" y="6376760"/>
                </a:lnTo>
                <a:lnTo>
                  <a:pt x="0" y="0"/>
                </a:lnTo>
                <a:close/>
              </a:path>
            </a:pathLst>
          </a:custGeom>
          <a:blipFill>
            <a:blip r:embed="rId2"/>
            <a:stretch>
              <a:fillRect l="0" t="0" r="0" b="0"/>
            </a:stretch>
          </a:blipFill>
        </p:spPr>
      </p:sp>
      <p:sp>
        <p:nvSpPr>
          <p:cNvPr name="Freeform 3" id="3"/>
          <p:cNvSpPr/>
          <p:nvPr/>
        </p:nvSpPr>
        <p:spPr>
          <a:xfrm flipH="false" flipV="true" rot="0">
            <a:off x="4229425" y="-754248"/>
            <a:ext cx="6732105" cy="4030848"/>
          </a:xfrm>
          <a:custGeom>
            <a:avLst/>
            <a:gdLst/>
            <a:ahLst/>
            <a:cxnLst/>
            <a:rect r="r" b="b" t="t" l="l"/>
            <a:pathLst>
              <a:path h="4030848" w="6732105">
                <a:moveTo>
                  <a:pt x="0" y="4030848"/>
                </a:moveTo>
                <a:lnTo>
                  <a:pt x="6732105" y="4030848"/>
                </a:lnTo>
                <a:lnTo>
                  <a:pt x="6732105" y="0"/>
                </a:lnTo>
                <a:lnTo>
                  <a:pt x="0" y="0"/>
                </a:lnTo>
                <a:lnTo>
                  <a:pt x="0" y="4030848"/>
                </a:lnTo>
                <a:close/>
              </a:path>
            </a:pathLst>
          </a:custGeom>
          <a:blipFill>
            <a:blip r:embed="rId3"/>
            <a:stretch>
              <a:fillRect l="0" t="0" r="0" b="0"/>
            </a:stretch>
          </a:blipFill>
        </p:spPr>
      </p:sp>
      <p:sp>
        <p:nvSpPr>
          <p:cNvPr name="TextBox 4" id="4"/>
          <p:cNvSpPr txBox="true"/>
          <p:nvPr/>
        </p:nvSpPr>
        <p:spPr>
          <a:xfrm rot="0">
            <a:off x="15067703" y="783695"/>
            <a:ext cx="2191597" cy="351790"/>
          </a:xfrm>
          <a:prstGeom prst="rect">
            <a:avLst/>
          </a:prstGeom>
        </p:spPr>
        <p:txBody>
          <a:bodyPr anchor="t" rtlCol="false" tIns="0" lIns="0" bIns="0" rIns="0">
            <a:spAutoFit/>
          </a:bodyPr>
          <a:lstStyle/>
          <a:p>
            <a:pPr algn="r">
              <a:lnSpc>
                <a:spcPts val="2660"/>
              </a:lnSpc>
              <a:spcBef>
                <a:spcPct val="0"/>
              </a:spcBef>
            </a:pPr>
            <a:r>
              <a:rPr lang="en-US" sz="1900" spc="95">
                <a:solidFill>
                  <a:srgbClr val="164B82"/>
                </a:solidFill>
                <a:latin typeface="Telegraf Extra-Light"/>
                <a:ea typeface="Telegraf Extra-Light"/>
                <a:cs typeface="Telegraf Extra-Light"/>
                <a:sym typeface="Telegraf Extra-Light"/>
              </a:rPr>
              <a:t>2024</a:t>
            </a:r>
          </a:p>
        </p:txBody>
      </p:sp>
      <p:sp>
        <p:nvSpPr>
          <p:cNvPr name="TextBox 5" id="5"/>
          <p:cNvSpPr txBox="true"/>
          <p:nvPr/>
        </p:nvSpPr>
        <p:spPr>
          <a:xfrm rot="0">
            <a:off x="12346639" y="783695"/>
            <a:ext cx="2191597" cy="351790"/>
          </a:xfrm>
          <a:prstGeom prst="rect">
            <a:avLst/>
          </a:prstGeom>
        </p:spPr>
        <p:txBody>
          <a:bodyPr anchor="t" rtlCol="false" tIns="0" lIns="0" bIns="0" rIns="0">
            <a:spAutoFit/>
          </a:bodyPr>
          <a:lstStyle/>
          <a:p>
            <a:pPr algn="ctr">
              <a:lnSpc>
                <a:spcPts val="2660"/>
              </a:lnSpc>
              <a:spcBef>
                <a:spcPct val="0"/>
              </a:spcBef>
            </a:pPr>
            <a:r>
              <a:rPr lang="en-US" sz="1900" spc="95">
                <a:solidFill>
                  <a:srgbClr val="164B82"/>
                </a:solidFill>
                <a:latin typeface="Telegraf Extra-Light"/>
                <a:ea typeface="Telegraf Extra-Light"/>
                <a:cs typeface="Telegraf Extra-Light"/>
                <a:sym typeface="Telegraf Extra-Light"/>
              </a:rPr>
              <a:t>Project.</a:t>
            </a:r>
          </a:p>
        </p:txBody>
      </p:sp>
      <p:sp>
        <p:nvSpPr>
          <p:cNvPr name="TextBox 6" id="6"/>
          <p:cNvSpPr txBox="true"/>
          <p:nvPr/>
        </p:nvSpPr>
        <p:spPr>
          <a:xfrm rot="0">
            <a:off x="691728" y="3867150"/>
            <a:ext cx="10797967" cy="2190750"/>
          </a:xfrm>
          <a:prstGeom prst="rect">
            <a:avLst/>
          </a:prstGeom>
        </p:spPr>
        <p:txBody>
          <a:bodyPr anchor="t" rtlCol="false" tIns="0" lIns="0" bIns="0" rIns="0">
            <a:spAutoFit/>
          </a:bodyPr>
          <a:lstStyle/>
          <a:p>
            <a:pPr algn="l">
              <a:lnSpc>
                <a:spcPts val="16800"/>
              </a:lnSpc>
              <a:spcBef>
                <a:spcPct val="0"/>
              </a:spcBef>
            </a:pPr>
            <a:r>
              <a:rPr lang="en-US" b="true" sz="12000" spc="600">
                <a:solidFill>
                  <a:srgbClr val="343434"/>
                </a:solidFill>
                <a:latin typeface="Telegraf Bold"/>
                <a:ea typeface="Telegraf Bold"/>
                <a:cs typeface="Telegraf Bold"/>
                <a:sym typeface="Telegraf Bold"/>
              </a:rPr>
              <a:t>KHAI PHÁ</a:t>
            </a:r>
          </a:p>
        </p:txBody>
      </p:sp>
      <p:sp>
        <p:nvSpPr>
          <p:cNvPr name="TextBox 7" id="7"/>
          <p:cNvSpPr txBox="true"/>
          <p:nvPr/>
        </p:nvSpPr>
        <p:spPr>
          <a:xfrm rot="0">
            <a:off x="908555" y="5838581"/>
            <a:ext cx="10797967" cy="1170940"/>
          </a:xfrm>
          <a:prstGeom prst="rect">
            <a:avLst/>
          </a:prstGeom>
        </p:spPr>
        <p:txBody>
          <a:bodyPr anchor="t" rtlCol="false" tIns="0" lIns="0" bIns="0" rIns="0">
            <a:spAutoFit/>
          </a:bodyPr>
          <a:lstStyle/>
          <a:p>
            <a:pPr algn="l">
              <a:lnSpc>
                <a:spcPts val="8959"/>
              </a:lnSpc>
              <a:spcBef>
                <a:spcPct val="0"/>
              </a:spcBef>
            </a:pPr>
            <a:r>
              <a:rPr lang="en-US" b="true" sz="6399" spc="697">
                <a:solidFill>
                  <a:srgbClr val="343434"/>
                </a:solidFill>
                <a:latin typeface="Telegraf Bold"/>
                <a:ea typeface="Telegraf Bold"/>
                <a:cs typeface="Telegraf Bold"/>
                <a:sym typeface="Telegraf Bold"/>
              </a:rPr>
              <a:t>DỮ LIỆU</a:t>
            </a:r>
          </a:p>
        </p:txBody>
      </p:sp>
      <p:grpSp>
        <p:nvGrpSpPr>
          <p:cNvPr name="Group 8" id="8"/>
          <p:cNvGrpSpPr/>
          <p:nvPr/>
        </p:nvGrpSpPr>
        <p:grpSpPr>
          <a:xfrm rot="0">
            <a:off x="10205548" y="-392510"/>
            <a:ext cx="8397932" cy="11072020"/>
            <a:chOff x="0" y="0"/>
            <a:chExt cx="2211801" cy="2916088"/>
          </a:xfrm>
        </p:grpSpPr>
        <p:sp>
          <p:nvSpPr>
            <p:cNvPr name="Freeform 9" id="9"/>
            <p:cNvSpPr/>
            <p:nvPr/>
          </p:nvSpPr>
          <p:spPr>
            <a:xfrm flipH="false" flipV="false" rot="0">
              <a:off x="0" y="0"/>
              <a:ext cx="2211801" cy="2916088"/>
            </a:xfrm>
            <a:custGeom>
              <a:avLst/>
              <a:gdLst/>
              <a:ahLst/>
              <a:cxnLst/>
              <a:rect r="r" b="b" t="t" l="l"/>
              <a:pathLst>
                <a:path h="2916088" w="2211801">
                  <a:moveTo>
                    <a:pt x="0" y="0"/>
                  </a:moveTo>
                  <a:lnTo>
                    <a:pt x="2211801" y="0"/>
                  </a:lnTo>
                  <a:lnTo>
                    <a:pt x="2211801" y="2916088"/>
                  </a:lnTo>
                  <a:lnTo>
                    <a:pt x="0" y="2916088"/>
                  </a:lnTo>
                  <a:close/>
                </a:path>
              </a:pathLst>
            </a:custGeom>
            <a:gradFill rotWithShape="true">
              <a:gsLst>
                <a:gs pos="0">
                  <a:srgbClr val="E4B795">
                    <a:alpha val="100000"/>
                  </a:srgbClr>
                </a:gs>
                <a:gs pos="50000">
                  <a:srgbClr val="699ACD">
                    <a:alpha val="100000"/>
                  </a:srgbClr>
                </a:gs>
                <a:gs pos="100000">
                  <a:srgbClr val="2F679F">
                    <a:alpha val="100000"/>
                  </a:srgbClr>
                </a:gs>
              </a:gsLst>
              <a:path path="circle">
                <a:fillToRect l="0" r="100000" t="0" b="100000"/>
              </a:path>
              <a:tileRect r="0" l="-100000" b="0" t="-100000"/>
            </a:gradFill>
          </p:spPr>
        </p:sp>
        <p:sp>
          <p:nvSpPr>
            <p:cNvPr name="TextBox 10" id="10"/>
            <p:cNvSpPr txBox="true"/>
            <p:nvPr/>
          </p:nvSpPr>
          <p:spPr>
            <a:xfrm>
              <a:off x="0" y="-57150"/>
              <a:ext cx="2211801" cy="2973238"/>
            </a:xfrm>
            <a:prstGeom prst="rect">
              <a:avLst/>
            </a:prstGeom>
          </p:spPr>
          <p:txBody>
            <a:bodyPr anchor="ctr" rtlCol="false" tIns="50800" lIns="50800" bIns="50800" rIns="50800"/>
            <a:lstStyle/>
            <a:p>
              <a:pPr algn="ctr">
                <a:lnSpc>
                  <a:spcPts val="3639"/>
                </a:lnSpc>
              </a:pPr>
            </a:p>
          </p:txBody>
        </p:sp>
      </p:grpSp>
      <p:sp>
        <p:nvSpPr>
          <p:cNvPr name="Freeform 11" id="11"/>
          <p:cNvSpPr/>
          <p:nvPr/>
        </p:nvSpPr>
        <p:spPr>
          <a:xfrm flipH="false" flipV="false" rot="0">
            <a:off x="0" y="17803"/>
            <a:ext cx="3620535" cy="3620535"/>
          </a:xfrm>
          <a:custGeom>
            <a:avLst/>
            <a:gdLst/>
            <a:ahLst/>
            <a:cxnLst/>
            <a:rect r="r" b="b" t="t" l="l"/>
            <a:pathLst>
              <a:path h="3620535" w="3620535">
                <a:moveTo>
                  <a:pt x="0" y="0"/>
                </a:moveTo>
                <a:lnTo>
                  <a:pt x="3620535" y="0"/>
                </a:lnTo>
                <a:lnTo>
                  <a:pt x="3620535" y="3620535"/>
                </a:lnTo>
                <a:lnTo>
                  <a:pt x="0" y="3620535"/>
                </a:lnTo>
                <a:lnTo>
                  <a:pt x="0" y="0"/>
                </a:lnTo>
                <a:close/>
              </a:path>
            </a:pathLst>
          </a:custGeom>
          <a:blipFill>
            <a:blip r:embed="rId4"/>
            <a:stretch>
              <a:fillRect l="0" t="0" r="0" b="0"/>
            </a:stretch>
          </a:blipFill>
        </p:spPr>
      </p:sp>
      <p:sp>
        <p:nvSpPr>
          <p:cNvPr name="TextBox 12" id="12"/>
          <p:cNvSpPr txBox="true"/>
          <p:nvPr/>
        </p:nvSpPr>
        <p:spPr>
          <a:xfrm rot="0">
            <a:off x="1028700" y="8032284"/>
            <a:ext cx="2554023" cy="460375"/>
          </a:xfrm>
          <a:prstGeom prst="rect">
            <a:avLst/>
          </a:prstGeom>
        </p:spPr>
        <p:txBody>
          <a:bodyPr anchor="t" rtlCol="false" tIns="0" lIns="0" bIns="0" rIns="0">
            <a:spAutoFit/>
          </a:bodyPr>
          <a:lstStyle/>
          <a:p>
            <a:pPr algn="l">
              <a:lnSpc>
                <a:spcPts val="3499"/>
              </a:lnSpc>
              <a:spcBef>
                <a:spcPct val="0"/>
              </a:spcBef>
            </a:pPr>
            <a:r>
              <a:rPr lang="en-US" sz="2499" spc="124">
                <a:solidFill>
                  <a:srgbClr val="343434"/>
                </a:solidFill>
                <a:latin typeface="Telegraf"/>
                <a:ea typeface="Telegraf"/>
                <a:cs typeface="Telegraf"/>
                <a:sym typeface="Telegraf"/>
              </a:rPr>
              <a:t>Giảng viên:</a:t>
            </a:r>
          </a:p>
        </p:txBody>
      </p:sp>
      <p:sp>
        <p:nvSpPr>
          <p:cNvPr name="TextBox 13" id="13"/>
          <p:cNvSpPr txBox="true"/>
          <p:nvPr/>
        </p:nvSpPr>
        <p:spPr>
          <a:xfrm rot="0">
            <a:off x="3311567" y="8032284"/>
            <a:ext cx="4720774" cy="460375"/>
          </a:xfrm>
          <a:prstGeom prst="rect">
            <a:avLst/>
          </a:prstGeom>
        </p:spPr>
        <p:txBody>
          <a:bodyPr anchor="t" rtlCol="false" tIns="0" lIns="0" bIns="0" rIns="0">
            <a:spAutoFit/>
          </a:bodyPr>
          <a:lstStyle/>
          <a:p>
            <a:pPr algn="l">
              <a:lnSpc>
                <a:spcPts val="3499"/>
              </a:lnSpc>
              <a:spcBef>
                <a:spcPct val="0"/>
              </a:spcBef>
            </a:pPr>
            <a:r>
              <a:rPr lang="en-US" sz="2499" spc="124">
                <a:solidFill>
                  <a:srgbClr val="343434"/>
                </a:solidFill>
                <a:latin typeface="Telegraf"/>
                <a:ea typeface="Telegraf"/>
                <a:cs typeface="Telegraf"/>
                <a:sym typeface="Telegraf"/>
              </a:rPr>
              <a:t>ThS. Nguyễn Thanh Phước</a:t>
            </a:r>
          </a:p>
        </p:txBody>
      </p:sp>
      <p:sp>
        <p:nvSpPr>
          <p:cNvPr name="TextBox 14" id="14"/>
          <p:cNvSpPr txBox="true"/>
          <p:nvPr/>
        </p:nvSpPr>
        <p:spPr>
          <a:xfrm rot="0">
            <a:off x="10755709" y="1685925"/>
            <a:ext cx="7297611" cy="7083426"/>
          </a:xfrm>
          <a:prstGeom prst="rect">
            <a:avLst/>
          </a:prstGeom>
        </p:spPr>
        <p:txBody>
          <a:bodyPr anchor="t" rtlCol="false" tIns="0" lIns="0" bIns="0" rIns="0">
            <a:spAutoFit/>
          </a:bodyPr>
          <a:lstStyle/>
          <a:p>
            <a:pPr algn="ctr">
              <a:lnSpc>
                <a:spcPts val="19999"/>
              </a:lnSpc>
            </a:pPr>
            <a:r>
              <a:rPr lang="en-US" b="true" sz="9999" spc="499">
                <a:solidFill>
                  <a:srgbClr val="F2F7FA"/>
                </a:solidFill>
                <a:latin typeface="Telegraf Bold"/>
                <a:ea typeface="Telegraf Bold"/>
                <a:cs typeface="Telegraf Bold"/>
                <a:sym typeface="Telegraf Bold"/>
              </a:rPr>
              <a:t>SEMINAR</a:t>
            </a:r>
          </a:p>
          <a:p>
            <a:pPr algn="l">
              <a:lnSpc>
                <a:spcPts val="8400"/>
              </a:lnSpc>
              <a:spcBef>
                <a:spcPct val="0"/>
              </a:spcBef>
            </a:pPr>
            <a:r>
              <a:rPr lang="en-US" b="true" sz="6000" spc="300">
                <a:solidFill>
                  <a:srgbClr val="F2F7FA"/>
                </a:solidFill>
                <a:latin typeface="Telegraf Bold"/>
                <a:ea typeface="Telegraf Bold"/>
                <a:cs typeface="Telegraf Bold"/>
                <a:sym typeface="Telegraf Bold"/>
              </a:rPr>
              <a:t>PYTHON FOR FINANCE COOKBOOK (CHAPTER 1 + 2)</a:t>
            </a:r>
          </a:p>
        </p:txBody>
      </p:sp>
    </p:spTree>
  </p:cSld>
  <p:clrMapOvr>
    <a:masterClrMapping/>
  </p:clrMapOvr>
</p:sld>
</file>

<file path=ppt/slides/slide2.xml><?xml version="1.0" encoding="utf-8"?>
<p:sld xmlns:p="http://schemas.openxmlformats.org/presentationml/2006/main" xmlns:a="http://schemas.openxmlformats.org/drawingml/2006/main" xmlns:r="http://schemas.openxmlformats.org/officeDocument/2006/relationships">
  <p:cSld>
    <p:bg>
      <p:bgPr>
        <a:solidFill>
          <a:srgbClr val="F2F7FA"/>
        </a:solidFill>
      </p:bgPr>
    </p:bg>
    <p:spTree>
      <p:nvGrpSpPr>
        <p:cNvPr id="1" name=""/>
        <p:cNvGrpSpPr/>
        <p:nvPr/>
      </p:nvGrpSpPr>
      <p:grpSpPr>
        <a:xfrm>
          <a:off x="0" y="0"/>
          <a:ext cx="0" cy="0"/>
          <a:chOff x="0" y="0"/>
          <a:chExt cx="0" cy="0"/>
        </a:xfrm>
      </p:grpSpPr>
      <p:sp>
        <p:nvSpPr>
          <p:cNvPr name="Freeform 2" id="2"/>
          <p:cNvSpPr/>
          <p:nvPr/>
        </p:nvSpPr>
        <p:spPr>
          <a:xfrm flipH="false" flipV="false" rot="0">
            <a:off x="12181036" y="-2648257"/>
            <a:ext cx="15827806" cy="6707033"/>
          </a:xfrm>
          <a:custGeom>
            <a:avLst/>
            <a:gdLst/>
            <a:ahLst/>
            <a:cxnLst/>
            <a:rect r="r" b="b" t="t" l="l"/>
            <a:pathLst>
              <a:path h="6707033" w="15827806">
                <a:moveTo>
                  <a:pt x="0" y="0"/>
                </a:moveTo>
                <a:lnTo>
                  <a:pt x="15827806" y="0"/>
                </a:lnTo>
                <a:lnTo>
                  <a:pt x="15827806" y="6707033"/>
                </a:lnTo>
                <a:lnTo>
                  <a:pt x="0" y="6707033"/>
                </a:lnTo>
                <a:lnTo>
                  <a:pt x="0" y="0"/>
                </a:lnTo>
                <a:close/>
              </a:path>
            </a:pathLst>
          </a:custGeom>
          <a:blipFill>
            <a:blip r:embed="rId2"/>
            <a:stretch>
              <a:fillRect l="0" t="0" r="0" b="0"/>
            </a:stretch>
          </a:blipFill>
        </p:spPr>
      </p:sp>
      <p:sp>
        <p:nvSpPr>
          <p:cNvPr name="Freeform 3" id="3"/>
          <p:cNvSpPr/>
          <p:nvPr/>
        </p:nvSpPr>
        <p:spPr>
          <a:xfrm flipH="true" flipV="false" rot="-2120312">
            <a:off x="-2206894" y="8840361"/>
            <a:ext cx="12760102" cy="5407093"/>
          </a:xfrm>
          <a:custGeom>
            <a:avLst/>
            <a:gdLst/>
            <a:ahLst/>
            <a:cxnLst/>
            <a:rect r="r" b="b" t="t" l="l"/>
            <a:pathLst>
              <a:path h="5407093" w="12760102">
                <a:moveTo>
                  <a:pt x="12760102" y="0"/>
                </a:moveTo>
                <a:lnTo>
                  <a:pt x="0" y="0"/>
                </a:lnTo>
                <a:lnTo>
                  <a:pt x="0" y="5407093"/>
                </a:lnTo>
                <a:lnTo>
                  <a:pt x="12760102" y="5407093"/>
                </a:lnTo>
                <a:lnTo>
                  <a:pt x="12760102" y="0"/>
                </a:lnTo>
                <a:close/>
              </a:path>
            </a:pathLst>
          </a:custGeom>
          <a:blipFill>
            <a:blip r:embed="rId2"/>
            <a:stretch>
              <a:fillRect l="0" t="0" r="0" b="0"/>
            </a:stretch>
          </a:blipFill>
        </p:spPr>
      </p:sp>
      <p:grpSp>
        <p:nvGrpSpPr>
          <p:cNvPr name="Group 4" id="4"/>
          <p:cNvGrpSpPr/>
          <p:nvPr/>
        </p:nvGrpSpPr>
        <p:grpSpPr>
          <a:xfrm rot="0">
            <a:off x="-408865" y="-392510"/>
            <a:ext cx="1437565" cy="11072020"/>
            <a:chOff x="0" y="0"/>
            <a:chExt cx="378618" cy="2916088"/>
          </a:xfrm>
        </p:grpSpPr>
        <p:sp>
          <p:nvSpPr>
            <p:cNvPr name="Freeform 5" id="5"/>
            <p:cNvSpPr/>
            <p:nvPr/>
          </p:nvSpPr>
          <p:spPr>
            <a:xfrm flipH="false" flipV="false" rot="0">
              <a:off x="0" y="0"/>
              <a:ext cx="378618" cy="2916088"/>
            </a:xfrm>
            <a:custGeom>
              <a:avLst/>
              <a:gdLst/>
              <a:ahLst/>
              <a:cxnLst/>
              <a:rect r="r" b="b" t="t" l="l"/>
              <a:pathLst>
                <a:path h="2916088" w="378618">
                  <a:moveTo>
                    <a:pt x="0" y="0"/>
                  </a:moveTo>
                  <a:lnTo>
                    <a:pt x="378618" y="0"/>
                  </a:lnTo>
                  <a:lnTo>
                    <a:pt x="378618" y="2916088"/>
                  </a:lnTo>
                  <a:lnTo>
                    <a:pt x="0" y="2916088"/>
                  </a:lnTo>
                  <a:close/>
                </a:path>
              </a:pathLst>
            </a:custGeom>
            <a:gradFill rotWithShape="true">
              <a:gsLst>
                <a:gs pos="0">
                  <a:srgbClr val="E4B795">
                    <a:alpha val="100000"/>
                  </a:srgbClr>
                </a:gs>
                <a:gs pos="50000">
                  <a:srgbClr val="699ACD">
                    <a:alpha val="100000"/>
                  </a:srgbClr>
                </a:gs>
                <a:gs pos="100000">
                  <a:srgbClr val="2F679F">
                    <a:alpha val="100000"/>
                  </a:srgbClr>
                </a:gs>
              </a:gsLst>
              <a:path path="circle">
                <a:fillToRect l="0" r="100000" t="0" b="100000"/>
              </a:path>
              <a:tileRect r="0" l="-100000" b="0" t="-100000"/>
            </a:gradFill>
          </p:spPr>
        </p:sp>
        <p:sp>
          <p:nvSpPr>
            <p:cNvPr name="TextBox 6" id="6"/>
            <p:cNvSpPr txBox="true"/>
            <p:nvPr/>
          </p:nvSpPr>
          <p:spPr>
            <a:xfrm>
              <a:off x="0" y="-57150"/>
              <a:ext cx="378618" cy="2973238"/>
            </a:xfrm>
            <a:prstGeom prst="rect">
              <a:avLst/>
            </a:prstGeom>
          </p:spPr>
          <p:txBody>
            <a:bodyPr anchor="ctr" rtlCol="false" tIns="50800" lIns="50800" bIns="50800" rIns="50800"/>
            <a:lstStyle/>
            <a:p>
              <a:pPr algn="ctr">
                <a:lnSpc>
                  <a:spcPts val="3639"/>
                </a:lnSpc>
              </a:pPr>
            </a:p>
          </p:txBody>
        </p:sp>
      </p:grpSp>
      <p:grpSp>
        <p:nvGrpSpPr>
          <p:cNvPr name="Group 7" id="7"/>
          <p:cNvGrpSpPr/>
          <p:nvPr/>
        </p:nvGrpSpPr>
        <p:grpSpPr>
          <a:xfrm rot="0">
            <a:off x="9577341" y="3014892"/>
            <a:ext cx="7748327" cy="1709161"/>
            <a:chOff x="0" y="0"/>
            <a:chExt cx="1816112" cy="400606"/>
          </a:xfrm>
        </p:grpSpPr>
        <p:sp>
          <p:nvSpPr>
            <p:cNvPr name="Freeform 8" id="8"/>
            <p:cNvSpPr/>
            <p:nvPr/>
          </p:nvSpPr>
          <p:spPr>
            <a:xfrm flipH="false" flipV="false" rot="0">
              <a:off x="0" y="0"/>
              <a:ext cx="1816112" cy="400606"/>
            </a:xfrm>
            <a:custGeom>
              <a:avLst/>
              <a:gdLst/>
              <a:ahLst/>
              <a:cxnLst/>
              <a:rect r="r" b="b" t="t" l="l"/>
              <a:pathLst>
                <a:path h="400606" w="1816112">
                  <a:moveTo>
                    <a:pt x="0" y="0"/>
                  </a:moveTo>
                  <a:lnTo>
                    <a:pt x="1816112" y="0"/>
                  </a:lnTo>
                  <a:lnTo>
                    <a:pt x="1816112" y="400606"/>
                  </a:lnTo>
                  <a:lnTo>
                    <a:pt x="0" y="400606"/>
                  </a:lnTo>
                  <a:close/>
                </a:path>
              </a:pathLst>
            </a:custGeom>
            <a:gradFill rotWithShape="true">
              <a:gsLst>
                <a:gs pos="0">
                  <a:srgbClr val="E4B795">
                    <a:alpha val="100000"/>
                  </a:srgbClr>
                </a:gs>
                <a:gs pos="50000">
                  <a:srgbClr val="699ACD">
                    <a:alpha val="100000"/>
                  </a:srgbClr>
                </a:gs>
                <a:gs pos="100000">
                  <a:srgbClr val="2F679F">
                    <a:alpha val="100000"/>
                  </a:srgbClr>
                </a:gs>
              </a:gsLst>
              <a:path path="circle">
                <a:fillToRect l="0" r="100000" t="0" b="100000"/>
              </a:path>
              <a:tileRect r="0" l="-100000" b="0" t="-100000"/>
            </a:gradFill>
          </p:spPr>
        </p:sp>
        <p:sp>
          <p:nvSpPr>
            <p:cNvPr name="TextBox 9" id="9"/>
            <p:cNvSpPr txBox="true"/>
            <p:nvPr/>
          </p:nvSpPr>
          <p:spPr>
            <a:xfrm>
              <a:off x="0" y="-57150"/>
              <a:ext cx="1816112" cy="457756"/>
            </a:xfrm>
            <a:prstGeom prst="rect">
              <a:avLst/>
            </a:prstGeom>
          </p:spPr>
          <p:txBody>
            <a:bodyPr anchor="ctr" rtlCol="false" tIns="50800" lIns="50800" bIns="50800" rIns="50800"/>
            <a:lstStyle/>
            <a:p>
              <a:pPr algn="ctr">
                <a:lnSpc>
                  <a:spcPts val="3639"/>
                </a:lnSpc>
              </a:pPr>
            </a:p>
          </p:txBody>
        </p:sp>
      </p:grpSp>
      <p:grpSp>
        <p:nvGrpSpPr>
          <p:cNvPr name="Group 10" id="10"/>
          <p:cNvGrpSpPr/>
          <p:nvPr/>
        </p:nvGrpSpPr>
        <p:grpSpPr>
          <a:xfrm rot="0">
            <a:off x="9577341" y="5035669"/>
            <a:ext cx="7748327" cy="1709161"/>
            <a:chOff x="0" y="0"/>
            <a:chExt cx="1816112" cy="400606"/>
          </a:xfrm>
        </p:grpSpPr>
        <p:sp>
          <p:nvSpPr>
            <p:cNvPr name="Freeform 11" id="11"/>
            <p:cNvSpPr/>
            <p:nvPr/>
          </p:nvSpPr>
          <p:spPr>
            <a:xfrm flipH="false" flipV="false" rot="0">
              <a:off x="0" y="0"/>
              <a:ext cx="1816112" cy="400606"/>
            </a:xfrm>
            <a:custGeom>
              <a:avLst/>
              <a:gdLst/>
              <a:ahLst/>
              <a:cxnLst/>
              <a:rect r="r" b="b" t="t" l="l"/>
              <a:pathLst>
                <a:path h="400606" w="1816112">
                  <a:moveTo>
                    <a:pt x="0" y="0"/>
                  </a:moveTo>
                  <a:lnTo>
                    <a:pt x="1816112" y="0"/>
                  </a:lnTo>
                  <a:lnTo>
                    <a:pt x="1816112" y="400606"/>
                  </a:lnTo>
                  <a:lnTo>
                    <a:pt x="0" y="400606"/>
                  </a:lnTo>
                  <a:close/>
                </a:path>
              </a:pathLst>
            </a:custGeom>
            <a:gradFill rotWithShape="true">
              <a:gsLst>
                <a:gs pos="0">
                  <a:srgbClr val="E4B795">
                    <a:alpha val="100000"/>
                  </a:srgbClr>
                </a:gs>
                <a:gs pos="50000">
                  <a:srgbClr val="699ACD">
                    <a:alpha val="100000"/>
                  </a:srgbClr>
                </a:gs>
                <a:gs pos="100000">
                  <a:srgbClr val="2F679F">
                    <a:alpha val="100000"/>
                  </a:srgbClr>
                </a:gs>
              </a:gsLst>
              <a:path path="circle">
                <a:fillToRect l="0" r="100000" t="0" b="100000"/>
              </a:path>
              <a:tileRect r="0" l="-100000" b="0" t="-100000"/>
            </a:gradFill>
          </p:spPr>
        </p:sp>
        <p:sp>
          <p:nvSpPr>
            <p:cNvPr name="TextBox 12" id="12"/>
            <p:cNvSpPr txBox="true"/>
            <p:nvPr/>
          </p:nvSpPr>
          <p:spPr>
            <a:xfrm>
              <a:off x="0" y="-57150"/>
              <a:ext cx="1816112" cy="457756"/>
            </a:xfrm>
            <a:prstGeom prst="rect">
              <a:avLst/>
            </a:prstGeom>
          </p:spPr>
          <p:txBody>
            <a:bodyPr anchor="ctr" rtlCol="false" tIns="50800" lIns="50800" bIns="50800" rIns="50800"/>
            <a:lstStyle/>
            <a:p>
              <a:pPr algn="ctr">
                <a:lnSpc>
                  <a:spcPts val="3639"/>
                </a:lnSpc>
              </a:pPr>
            </a:p>
          </p:txBody>
        </p:sp>
      </p:grpSp>
      <p:sp>
        <p:nvSpPr>
          <p:cNvPr name="TextBox 13" id="13"/>
          <p:cNvSpPr txBox="true"/>
          <p:nvPr/>
        </p:nvSpPr>
        <p:spPr>
          <a:xfrm rot="0">
            <a:off x="1869338" y="2082771"/>
            <a:ext cx="7274662" cy="3615117"/>
          </a:xfrm>
          <a:prstGeom prst="rect">
            <a:avLst/>
          </a:prstGeom>
        </p:spPr>
        <p:txBody>
          <a:bodyPr anchor="t" rtlCol="false" tIns="0" lIns="0" bIns="0" rIns="0">
            <a:spAutoFit/>
          </a:bodyPr>
          <a:lstStyle/>
          <a:p>
            <a:pPr algn="l">
              <a:lnSpc>
                <a:spcPts val="9059"/>
              </a:lnSpc>
            </a:pPr>
            <a:r>
              <a:rPr lang="en-US" sz="9339" b="true">
                <a:solidFill>
                  <a:srgbClr val="343434"/>
                </a:solidFill>
                <a:latin typeface="Telegraf Bold"/>
                <a:ea typeface="Telegraf Bold"/>
                <a:cs typeface="Telegraf Bold"/>
                <a:sym typeface="Telegraf Bold"/>
              </a:rPr>
              <a:t>NỘI DUNG THUYẾT TRÌNH</a:t>
            </a:r>
          </a:p>
        </p:txBody>
      </p:sp>
      <p:sp>
        <p:nvSpPr>
          <p:cNvPr name="TextBox 14" id="14"/>
          <p:cNvSpPr txBox="true"/>
          <p:nvPr/>
        </p:nvSpPr>
        <p:spPr>
          <a:xfrm rot="0">
            <a:off x="9577341" y="3365526"/>
            <a:ext cx="1522567" cy="1153302"/>
          </a:xfrm>
          <a:prstGeom prst="rect">
            <a:avLst/>
          </a:prstGeom>
        </p:spPr>
        <p:txBody>
          <a:bodyPr anchor="t" rtlCol="false" tIns="0" lIns="0" bIns="0" rIns="0">
            <a:spAutoFit/>
          </a:bodyPr>
          <a:lstStyle/>
          <a:p>
            <a:pPr algn="ctr">
              <a:lnSpc>
                <a:spcPts val="8809"/>
              </a:lnSpc>
              <a:spcBef>
                <a:spcPct val="0"/>
              </a:spcBef>
            </a:pPr>
            <a:r>
              <a:rPr lang="en-US" sz="6292" spc="151">
                <a:solidFill>
                  <a:srgbClr val="F2F7FA"/>
                </a:solidFill>
                <a:latin typeface="Telegraf"/>
                <a:ea typeface="Telegraf"/>
                <a:cs typeface="Telegraf"/>
                <a:sym typeface="Telegraf"/>
              </a:rPr>
              <a:t>01</a:t>
            </a:r>
          </a:p>
        </p:txBody>
      </p:sp>
      <p:sp>
        <p:nvSpPr>
          <p:cNvPr name="TextBox 15" id="15"/>
          <p:cNvSpPr txBox="true"/>
          <p:nvPr/>
        </p:nvSpPr>
        <p:spPr>
          <a:xfrm rot="0">
            <a:off x="9577341" y="5386304"/>
            <a:ext cx="1522567" cy="1153302"/>
          </a:xfrm>
          <a:prstGeom prst="rect">
            <a:avLst/>
          </a:prstGeom>
        </p:spPr>
        <p:txBody>
          <a:bodyPr anchor="t" rtlCol="false" tIns="0" lIns="0" bIns="0" rIns="0">
            <a:spAutoFit/>
          </a:bodyPr>
          <a:lstStyle/>
          <a:p>
            <a:pPr algn="ctr">
              <a:lnSpc>
                <a:spcPts val="8809"/>
              </a:lnSpc>
              <a:spcBef>
                <a:spcPct val="0"/>
              </a:spcBef>
            </a:pPr>
            <a:r>
              <a:rPr lang="en-US" sz="6292" spc="151">
                <a:solidFill>
                  <a:srgbClr val="F2F7FA"/>
                </a:solidFill>
                <a:latin typeface="Telegraf"/>
                <a:ea typeface="Telegraf"/>
                <a:cs typeface="Telegraf"/>
                <a:sym typeface="Telegraf"/>
              </a:rPr>
              <a:t>02</a:t>
            </a:r>
          </a:p>
        </p:txBody>
      </p:sp>
      <p:sp>
        <p:nvSpPr>
          <p:cNvPr name="TextBox 16" id="16"/>
          <p:cNvSpPr txBox="true"/>
          <p:nvPr/>
        </p:nvSpPr>
        <p:spPr>
          <a:xfrm rot="0">
            <a:off x="11347640" y="3664772"/>
            <a:ext cx="5602297" cy="681738"/>
          </a:xfrm>
          <a:prstGeom prst="rect">
            <a:avLst/>
          </a:prstGeom>
        </p:spPr>
        <p:txBody>
          <a:bodyPr anchor="t" rtlCol="false" tIns="0" lIns="0" bIns="0" rIns="0">
            <a:spAutoFit/>
          </a:bodyPr>
          <a:lstStyle/>
          <a:p>
            <a:pPr algn="l">
              <a:lnSpc>
                <a:spcPts val="2674"/>
              </a:lnSpc>
              <a:spcBef>
                <a:spcPct val="0"/>
              </a:spcBef>
            </a:pPr>
            <a:r>
              <a:rPr lang="en-US" sz="1910" spc="95">
                <a:solidFill>
                  <a:srgbClr val="F2F7FA"/>
                </a:solidFill>
                <a:latin typeface="Telegraf"/>
                <a:ea typeface="Telegraf"/>
                <a:cs typeface="Telegraf"/>
                <a:sym typeface="Telegraf"/>
              </a:rPr>
              <a:t>Giới thiệu về bộ dữ liệu Acquiring Financial Data </a:t>
            </a:r>
          </a:p>
        </p:txBody>
      </p:sp>
      <p:sp>
        <p:nvSpPr>
          <p:cNvPr name="TextBox 17" id="17"/>
          <p:cNvSpPr txBox="true"/>
          <p:nvPr/>
        </p:nvSpPr>
        <p:spPr>
          <a:xfrm rot="0">
            <a:off x="11347640" y="5823575"/>
            <a:ext cx="5602297" cy="349946"/>
          </a:xfrm>
          <a:prstGeom prst="rect">
            <a:avLst/>
          </a:prstGeom>
        </p:spPr>
        <p:txBody>
          <a:bodyPr anchor="t" rtlCol="false" tIns="0" lIns="0" bIns="0" rIns="0">
            <a:spAutoFit/>
          </a:bodyPr>
          <a:lstStyle/>
          <a:p>
            <a:pPr algn="l">
              <a:lnSpc>
                <a:spcPts val="2674"/>
              </a:lnSpc>
              <a:spcBef>
                <a:spcPct val="0"/>
              </a:spcBef>
            </a:pPr>
            <a:r>
              <a:rPr lang="en-US" sz="1910" spc="95">
                <a:solidFill>
                  <a:srgbClr val="F2F7FA"/>
                </a:solidFill>
                <a:latin typeface="Telegraf"/>
                <a:ea typeface="Telegraf"/>
                <a:cs typeface="Telegraf"/>
                <a:sym typeface="Telegraf"/>
              </a:rPr>
              <a:t>Các phương pháp tiền xử lý dữ liệu tài chính</a:t>
            </a:r>
          </a:p>
        </p:txBody>
      </p:sp>
      <p:sp>
        <p:nvSpPr>
          <p:cNvPr name="TextBox 18" id="18"/>
          <p:cNvSpPr txBox="true"/>
          <p:nvPr/>
        </p:nvSpPr>
        <p:spPr>
          <a:xfrm rot="0">
            <a:off x="2993151" y="783695"/>
            <a:ext cx="2492949" cy="351790"/>
          </a:xfrm>
          <a:prstGeom prst="rect">
            <a:avLst/>
          </a:prstGeom>
        </p:spPr>
        <p:txBody>
          <a:bodyPr anchor="t" rtlCol="false" tIns="0" lIns="0" bIns="0" rIns="0">
            <a:spAutoFit/>
          </a:bodyPr>
          <a:lstStyle/>
          <a:p>
            <a:pPr algn="l">
              <a:lnSpc>
                <a:spcPts val="2660"/>
              </a:lnSpc>
              <a:spcBef>
                <a:spcPct val="0"/>
              </a:spcBef>
            </a:pPr>
            <a:r>
              <a:rPr lang="en-US" sz="1900" spc="95">
                <a:solidFill>
                  <a:srgbClr val="164B82"/>
                </a:solidFill>
                <a:latin typeface="Telegraf Extra-Light"/>
                <a:ea typeface="Telegraf Extra-Light"/>
                <a:cs typeface="Telegraf Extra-Light"/>
                <a:sym typeface="Telegraf Extra-Light"/>
              </a:rPr>
              <a:t>Studio Shodwe</a:t>
            </a:r>
          </a:p>
        </p:txBody>
      </p:sp>
      <p:sp>
        <p:nvSpPr>
          <p:cNvPr name="TextBox 19" id="19"/>
          <p:cNvSpPr txBox="true"/>
          <p:nvPr/>
        </p:nvSpPr>
        <p:spPr>
          <a:xfrm rot="0">
            <a:off x="8277374" y="783695"/>
            <a:ext cx="1819999" cy="351790"/>
          </a:xfrm>
          <a:prstGeom prst="rect">
            <a:avLst/>
          </a:prstGeom>
        </p:spPr>
        <p:txBody>
          <a:bodyPr anchor="t" rtlCol="false" tIns="0" lIns="0" bIns="0" rIns="0">
            <a:spAutoFit/>
          </a:bodyPr>
          <a:lstStyle/>
          <a:p>
            <a:pPr algn="r">
              <a:lnSpc>
                <a:spcPts val="2660"/>
              </a:lnSpc>
              <a:spcBef>
                <a:spcPct val="0"/>
              </a:spcBef>
            </a:pPr>
            <a:r>
              <a:rPr lang="en-US" sz="1900" spc="95">
                <a:solidFill>
                  <a:srgbClr val="164B82"/>
                </a:solidFill>
                <a:latin typeface="Telegraf Extra-Light"/>
                <a:ea typeface="Telegraf Extra-Light"/>
                <a:cs typeface="Telegraf Extra-Light"/>
                <a:sym typeface="Telegraf Extra-Light"/>
              </a:rPr>
              <a:t>2024</a:t>
            </a:r>
          </a:p>
        </p:txBody>
      </p:sp>
      <p:sp>
        <p:nvSpPr>
          <p:cNvPr name="TextBox 20" id="20"/>
          <p:cNvSpPr txBox="true"/>
          <p:nvPr/>
        </p:nvSpPr>
        <p:spPr>
          <a:xfrm rot="0">
            <a:off x="6017681" y="783695"/>
            <a:ext cx="1819999" cy="351790"/>
          </a:xfrm>
          <a:prstGeom prst="rect">
            <a:avLst/>
          </a:prstGeom>
        </p:spPr>
        <p:txBody>
          <a:bodyPr anchor="t" rtlCol="false" tIns="0" lIns="0" bIns="0" rIns="0">
            <a:spAutoFit/>
          </a:bodyPr>
          <a:lstStyle/>
          <a:p>
            <a:pPr algn="ctr">
              <a:lnSpc>
                <a:spcPts val="2660"/>
              </a:lnSpc>
              <a:spcBef>
                <a:spcPct val="0"/>
              </a:spcBef>
            </a:pPr>
            <a:r>
              <a:rPr lang="en-US" sz="1900" spc="95">
                <a:solidFill>
                  <a:srgbClr val="164B82"/>
                </a:solidFill>
                <a:latin typeface="Telegraf Extra-Light"/>
                <a:ea typeface="Telegraf Extra-Light"/>
                <a:cs typeface="Telegraf Extra-Light"/>
                <a:sym typeface="Telegraf Extra-Light"/>
              </a:rPr>
              <a:t>Project.</a:t>
            </a:r>
          </a:p>
        </p:txBody>
      </p:sp>
      <p:grpSp>
        <p:nvGrpSpPr>
          <p:cNvPr name="Group 21" id="21"/>
          <p:cNvGrpSpPr/>
          <p:nvPr/>
        </p:nvGrpSpPr>
        <p:grpSpPr>
          <a:xfrm rot="5400000">
            <a:off x="6283346" y="-3710637"/>
            <a:ext cx="643045" cy="9407130"/>
            <a:chOff x="0" y="0"/>
            <a:chExt cx="169362" cy="2477598"/>
          </a:xfrm>
        </p:grpSpPr>
        <p:sp>
          <p:nvSpPr>
            <p:cNvPr name="Freeform 22" id="22"/>
            <p:cNvSpPr/>
            <p:nvPr/>
          </p:nvSpPr>
          <p:spPr>
            <a:xfrm flipH="false" flipV="false" rot="0">
              <a:off x="0" y="0"/>
              <a:ext cx="169362" cy="2477598"/>
            </a:xfrm>
            <a:custGeom>
              <a:avLst/>
              <a:gdLst/>
              <a:ahLst/>
              <a:cxnLst/>
              <a:rect r="r" b="b" t="t" l="l"/>
              <a:pathLst>
                <a:path h="2477598" w="169362">
                  <a:moveTo>
                    <a:pt x="84681" y="0"/>
                  </a:moveTo>
                  <a:lnTo>
                    <a:pt x="84681" y="0"/>
                  </a:lnTo>
                  <a:cubicBezTo>
                    <a:pt x="107140" y="0"/>
                    <a:pt x="128678" y="8922"/>
                    <a:pt x="144559" y="24802"/>
                  </a:cubicBezTo>
                  <a:cubicBezTo>
                    <a:pt x="160440" y="40683"/>
                    <a:pt x="169362" y="62222"/>
                    <a:pt x="169362" y="84681"/>
                  </a:cubicBezTo>
                  <a:lnTo>
                    <a:pt x="169362" y="2392917"/>
                  </a:lnTo>
                  <a:cubicBezTo>
                    <a:pt x="169362" y="2439685"/>
                    <a:pt x="131449" y="2477598"/>
                    <a:pt x="84681" y="2477598"/>
                  </a:cubicBezTo>
                  <a:lnTo>
                    <a:pt x="84681" y="2477598"/>
                  </a:lnTo>
                  <a:cubicBezTo>
                    <a:pt x="37913" y="2477598"/>
                    <a:pt x="0" y="2439685"/>
                    <a:pt x="0" y="2392917"/>
                  </a:cubicBezTo>
                  <a:lnTo>
                    <a:pt x="0" y="84681"/>
                  </a:lnTo>
                  <a:cubicBezTo>
                    <a:pt x="0" y="37913"/>
                    <a:pt x="37913" y="0"/>
                    <a:pt x="84681" y="0"/>
                  </a:cubicBezTo>
                  <a:close/>
                </a:path>
              </a:pathLst>
            </a:custGeom>
            <a:ln w="19050" cap="rnd">
              <a:solidFill>
                <a:srgbClr val="164B82"/>
              </a:solidFill>
              <a:prstDash val="solid"/>
              <a:round/>
            </a:ln>
          </p:spPr>
        </p:sp>
        <p:sp>
          <p:nvSpPr>
            <p:cNvPr name="TextBox 23" id="23"/>
            <p:cNvSpPr txBox="true"/>
            <p:nvPr/>
          </p:nvSpPr>
          <p:spPr>
            <a:xfrm>
              <a:off x="0" y="-57150"/>
              <a:ext cx="169362" cy="2534748"/>
            </a:xfrm>
            <a:prstGeom prst="rect">
              <a:avLst/>
            </a:prstGeom>
          </p:spPr>
          <p:txBody>
            <a:bodyPr anchor="ctr" rtlCol="false" tIns="50800" lIns="50800" bIns="50800" rIns="50800"/>
            <a:lstStyle/>
            <a:p>
              <a:pPr algn="ctr">
                <a:lnSpc>
                  <a:spcPts val="3639"/>
                </a:lnSpc>
              </a:pPr>
            </a:p>
          </p:txBody>
        </p:sp>
      </p:grpSp>
      <p:grpSp>
        <p:nvGrpSpPr>
          <p:cNvPr name="Group 24" id="24"/>
          <p:cNvGrpSpPr/>
          <p:nvPr/>
        </p:nvGrpSpPr>
        <p:grpSpPr>
          <a:xfrm rot="0">
            <a:off x="9577341" y="7056447"/>
            <a:ext cx="7748327" cy="1709161"/>
            <a:chOff x="0" y="0"/>
            <a:chExt cx="1816112" cy="400606"/>
          </a:xfrm>
        </p:grpSpPr>
        <p:sp>
          <p:nvSpPr>
            <p:cNvPr name="Freeform 25" id="25"/>
            <p:cNvSpPr/>
            <p:nvPr/>
          </p:nvSpPr>
          <p:spPr>
            <a:xfrm flipH="false" flipV="false" rot="0">
              <a:off x="0" y="0"/>
              <a:ext cx="1816112" cy="400606"/>
            </a:xfrm>
            <a:custGeom>
              <a:avLst/>
              <a:gdLst/>
              <a:ahLst/>
              <a:cxnLst/>
              <a:rect r="r" b="b" t="t" l="l"/>
              <a:pathLst>
                <a:path h="400606" w="1816112">
                  <a:moveTo>
                    <a:pt x="0" y="0"/>
                  </a:moveTo>
                  <a:lnTo>
                    <a:pt x="1816112" y="0"/>
                  </a:lnTo>
                  <a:lnTo>
                    <a:pt x="1816112" y="400606"/>
                  </a:lnTo>
                  <a:lnTo>
                    <a:pt x="0" y="400606"/>
                  </a:lnTo>
                  <a:close/>
                </a:path>
              </a:pathLst>
            </a:custGeom>
            <a:gradFill rotWithShape="true">
              <a:gsLst>
                <a:gs pos="0">
                  <a:srgbClr val="E4B795">
                    <a:alpha val="100000"/>
                  </a:srgbClr>
                </a:gs>
                <a:gs pos="50000">
                  <a:srgbClr val="699ACD">
                    <a:alpha val="100000"/>
                  </a:srgbClr>
                </a:gs>
                <a:gs pos="100000">
                  <a:srgbClr val="2F679F">
                    <a:alpha val="100000"/>
                  </a:srgbClr>
                </a:gs>
              </a:gsLst>
              <a:path path="circle">
                <a:fillToRect l="0" r="100000" t="0" b="100000"/>
              </a:path>
              <a:tileRect r="0" l="-100000" b="0" t="-100000"/>
            </a:gradFill>
          </p:spPr>
        </p:sp>
        <p:sp>
          <p:nvSpPr>
            <p:cNvPr name="TextBox 26" id="26"/>
            <p:cNvSpPr txBox="true"/>
            <p:nvPr/>
          </p:nvSpPr>
          <p:spPr>
            <a:xfrm>
              <a:off x="0" y="-57150"/>
              <a:ext cx="1816112" cy="457756"/>
            </a:xfrm>
            <a:prstGeom prst="rect">
              <a:avLst/>
            </a:prstGeom>
          </p:spPr>
          <p:txBody>
            <a:bodyPr anchor="ctr" rtlCol="false" tIns="50800" lIns="50800" bIns="50800" rIns="50800"/>
            <a:lstStyle/>
            <a:p>
              <a:pPr algn="ctr">
                <a:lnSpc>
                  <a:spcPts val="3639"/>
                </a:lnSpc>
              </a:pPr>
            </a:p>
          </p:txBody>
        </p:sp>
      </p:grpSp>
      <p:sp>
        <p:nvSpPr>
          <p:cNvPr name="TextBox 27" id="27"/>
          <p:cNvSpPr txBox="true"/>
          <p:nvPr/>
        </p:nvSpPr>
        <p:spPr>
          <a:xfrm rot="0">
            <a:off x="9577341" y="7407082"/>
            <a:ext cx="1522567" cy="1153302"/>
          </a:xfrm>
          <a:prstGeom prst="rect">
            <a:avLst/>
          </a:prstGeom>
        </p:spPr>
        <p:txBody>
          <a:bodyPr anchor="t" rtlCol="false" tIns="0" lIns="0" bIns="0" rIns="0">
            <a:spAutoFit/>
          </a:bodyPr>
          <a:lstStyle/>
          <a:p>
            <a:pPr algn="ctr">
              <a:lnSpc>
                <a:spcPts val="8809"/>
              </a:lnSpc>
              <a:spcBef>
                <a:spcPct val="0"/>
              </a:spcBef>
            </a:pPr>
            <a:r>
              <a:rPr lang="en-US" sz="6292" spc="151">
                <a:solidFill>
                  <a:srgbClr val="F2F7FA"/>
                </a:solidFill>
                <a:latin typeface="Telegraf"/>
                <a:ea typeface="Telegraf"/>
                <a:cs typeface="Telegraf"/>
                <a:sym typeface="Telegraf"/>
              </a:rPr>
              <a:t>03</a:t>
            </a:r>
          </a:p>
        </p:txBody>
      </p:sp>
      <p:sp>
        <p:nvSpPr>
          <p:cNvPr name="TextBox 28" id="28"/>
          <p:cNvSpPr txBox="true"/>
          <p:nvPr/>
        </p:nvSpPr>
        <p:spPr>
          <a:xfrm rot="0">
            <a:off x="11347640" y="7816482"/>
            <a:ext cx="5602297" cy="349946"/>
          </a:xfrm>
          <a:prstGeom prst="rect">
            <a:avLst/>
          </a:prstGeom>
        </p:spPr>
        <p:txBody>
          <a:bodyPr anchor="t" rtlCol="false" tIns="0" lIns="0" bIns="0" rIns="0">
            <a:spAutoFit/>
          </a:bodyPr>
          <a:lstStyle/>
          <a:p>
            <a:pPr algn="l">
              <a:lnSpc>
                <a:spcPts val="2674"/>
              </a:lnSpc>
              <a:spcBef>
                <a:spcPct val="0"/>
              </a:spcBef>
            </a:pPr>
            <a:r>
              <a:rPr lang="en-US" sz="1910" spc="95">
                <a:solidFill>
                  <a:srgbClr val="F2F7FA"/>
                </a:solidFill>
                <a:latin typeface="Telegraf"/>
                <a:ea typeface="Telegraf"/>
                <a:cs typeface="Telegraf"/>
                <a:sym typeface="Telegraf"/>
              </a:rPr>
              <a:t>Tổng kết</a:t>
            </a:r>
          </a:p>
        </p:txBody>
      </p:sp>
    </p:spTree>
  </p:cSld>
  <p:clrMapOvr>
    <a:masterClrMapping/>
  </p:clrMapOvr>
</p:sld>
</file>

<file path=ppt/slides/slide3.xml><?xml version="1.0" encoding="utf-8"?>
<p:sld xmlns:p="http://schemas.openxmlformats.org/presentationml/2006/main" xmlns:a="http://schemas.openxmlformats.org/drawingml/2006/main" xmlns:r="http://schemas.openxmlformats.org/officeDocument/2006/relationships">
  <p:cSld>
    <p:bg>
      <p:bgPr>
        <a:solidFill>
          <a:srgbClr val="F2F7FA"/>
        </a:solidFill>
      </p:bgPr>
    </p:bg>
    <p:spTree>
      <p:nvGrpSpPr>
        <p:cNvPr id="1" name=""/>
        <p:cNvGrpSpPr/>
        <p:nvPr/>
      </p:nvGrpSpPr>
      <p:grpSpPr>
        <a:xfrm>
          <a:off x="0" y="0"/>
          <a:ext cx="0" cy="0"/>
          <a:chOff x="0" y="0"/>
          <a:chExt cx="0" cy="0"/>
        </a:xfrm>
      </p:grpSpPr>
      <p:sp>
        <p:nvSpPr>
          <p:cNvPr name="Freeform 2" id="2"/>
          <p:cNvSpPr/>
          <p:nvPr/>
        </p:nvSpPr>
        <p:spPr>
          <a:xfrm flipH="false" flipV="false" rot="225008">
            <a:off x="-467361" y="-2757747"/>
            <a:ext cx="12701350" cy="5382197"/>
          </a:xfrm>
          <a:custGeom>
            <a:avLst/>
            <a:gdLst/>
            <a:ahLst/>
            <a:cxnLst/>
            <a:rect r="r" b="b" t="t" l="l"/>
            <a:pathLst>
              <a:path h="5382197" w="12701350">
                <a:moveTo>
                  <a:pt x="0" y="0"/>
                </a:moveTo>
                <a:lnTo>
                  <a:pt x="12701349" y="0"/>
                </a:lnTo>
                <a:lnTo>
                  <a:pt x="12701349" y="5382197"/>
                </a:lnTo>
                <a:lnTo>
                  <a:pt x="0" y="5382197"/>
                </a:lnTo>
                <a:lnTo>
                  <a:pt x="0" y="0"/>
                </a:lnTo>
                <a:close/>
              </a:path>
            </a:pathLst>
          </a:custGeom>
          <a:blipFill>
            <a:blip r:embed="rId2"/>
            <a:stretch>
              <a:fillRect l="0" t="0" r="0" b="0"/>
            </a:stretch>
          </a:blipFill>
        </p:spPr>
      </p:sp>
      <p:sp>
        <p:nvSpPr>
          <p:cNvPr name="Freeform 3" id="3"/>
          <p:cNvSpPr/>
          <p:nvPr/>
        </p:nvSpPr>
        <p:spPr>
          <a:xfrm flipH="false" flipV="false" rot="0">
            <a:off x="10986204" y="6250419"/>
            <a:ext cx="11514218" cy="8506128"/>
          </a:xfrm>
          <a:custGeom>
            <a:avLst/>
            <a:gdLst/>
            <a:ahLst/>
            <a:cxnLst/>
            <a:rect r="r" b="b" t="t" l="l"/>
            <a:pathLst>
              <a:path h="8506128" w="11514218">
                <a:moveTo>
                  <a:pt x="0" y="0"/>
                </a:moveTo>
                <a:lnTo>
                  <a:pt x="11514218" y="0"/>
                </a:lnTo>
                <a:lnTo>
                  <a:pt x="11514218" y="8506128"/>
                </a:lnTo>
                <a:lnTo>
                  <a:pt x="0" y="8506128"/>
                </a:lnTo>
                <a:lnTo>
                  <a:pt x="0" y="0"/>
                </a:lnTo>
                <a:close/>
              </a:path>
            </a:pathLst>
          </a:custGeom>
          <a:blipFill>
            <a:blip r:embed="rId3"/>
            <a:stretch>
              <a:fillRect l="0" t="0" r="0" b="0"/>
            </a:stretch>
          </a:blipFill>
        </p:spPr>
      </p:sp>
      <p:grpSp>
        <p:nvGrpSpPr>
          <p:cNvPr name="Group 4" id="4"/>
          <p:cNvGrpSpPr/>
          <p:nvPr/>
        </p:nvGrpSpPr>
        <p:grpSpPr>
          <a:xfrm rot="0">
            <a:off x="17259300" y="-392510"/>
            <a:ext cx="1437565" cy="11072020"/>
            <a:chOff x="0" y="0"/>
            <a:chExt cx="378618" cy="2916088"/>
          </a:xfrm>
        </p:grpSpPr>
        <p:sp>
          <p:nvSpPr>
            <p:cNvPr name="Freeform 5" id="5"/>
            <p:cNvSpPr/>
            <p:nvPr/>
          </p:nvSpPr>
          <p:spPr>
            <a:xfrm flipH="false" flipV="false" rot="0">
              <a:off x="0" y="0"/>
              <a:ext cx="378618" cy="2916088"/>
            </a:xfrm>
            <a:custGeom>
              <a:avLst/>
              <a:gdLst/>
              <a:ahLst/>
              <a:cxnLst/>
              <a:rect r="r" b="b" t="t" l="l"/>
              <a:pathLst>
                <a:path h="2916088" w="378618">
                  <a:moveTo>
                    <a:pt x="0" y="0"/>
                  </a:moveTo>
                  <a:lnTo>
                    <a:pt x="378618" y="0"/>
                  </a:lnTo>
                  <a:lnTo>
                    <a:pt x="378618" y="2916088"/>
                  </a:lnTo>
                  <a:lnTo>
                    <a:pt x="0" y="2916088"/>
                  </a:lnTo>
                  <a:close/>
                </a:path>
              </a:pathLst>
            </a:custGeom>
            <a:gradFill rotWithShape="true">
              <a:gsLst>
                <a:gs pos="0">
                  <a:srgbClr val="E4B795">
                    <a:alpha val="100000"/>
                  </a:srgbClr>
                </a:gs>
                <a:gs pos="50000">
                  <a:srgbClr val="699ACD">
                    <a:alpha val="100000"/>
                  </a:srgbClr>
                </a:gs>
                <a:gs pos="100000">
                  <a:srgbClr val="2F679F">
                    <a:alpha val="100000"/>
                  </a:srgbClr>
                </a:gs>
              </a:gsLst>
              <a:path path="circle">
                <a:fillToRect l="0" r="100000" t="0" b="100000"/>
              </a:path>
              <a:tileRect r="0" l="-100000" b="0" t="-100000"/>
            </a:gradFill>
          </p:spPr>
        </p:sp>
        <p:sp>
          <p:nvSpPr>
            <p:cNvPr name="TextBox 6" id="6"/>
            <p:cNvSpPr txBox="true"/>
            <p:nvPr/>
          </p:nvSpPr>
          <p:spPr>
            <a:xfrm>
              <a:off x="0" y="-57150"/>
              <a:ext cx="378618" cy="2973238"/>
            </a:xfrm>
            <a:prstGeom prst="rect">
              <a:avLst/>
            </a:prstGeom>
          </p:spPr>
          <p:txBody>
            <a:bodyPr anchor="ctr" rtlCol="false" tIns="50800" lIns="50800" bIns="50800" rIns="50800"/>
            <a:lstStyle/>
            <a:p>
              <a:pPr algn="ctr">
                <a:lnSpc>
                  <a:spcPts val="3639"/>
                </a:lnSpc>
              </a:pPr>
            </a:p>
          </p:txBody>
        </p:sp>
      </p:grpSp>
      <p:sp>
        <p:nvSpPr>
          <p:cNvPr name="TextBox 7" id="7"/>
          <p:cNvSpPr txBox="true"/>
          <p:nvPr/>
        </p:nvSpPr>
        <p:spPr>
          <a:xfrm rot="0">
            <a:off x="8021110" y="782737"/>
            <a:ext cx="2492949" cy="351790"/>
          </a:xfrm>
          <a:prstGeom prst="rect">
            <a:avLst/>
          </a:prstGeom>
        </p:spPr>
        <p:txBody>
          <a:bodyPr anchor="t" rtlCol="false" tIns="0" lIns="0" bIns="0" rIns="0">
            <a:spAutoFit/>
          </a:bodyPr>
          <a:lstStyle/>
          <a:p>
            <a:pPr algn="l">
              <a:lnSpc>
                <a:spcPts val="2660"/>
              </a:lnSpc>
              <a:spcBef>
                <a:spcPct val="0"/>
              </a:spcBef>
            </a:pPr>
            <a:r>
              <a:rPr lang="en-US" sz="1900" spc="95">
                <a:solidFill>
                  <a:srgbClr val="164B82"/>
                </a:solidFill>
                <a:latin typeface="Telegraf Extra-Light"/>
                <a:ea typeface="Telegraf Extra-Light"/>
                <a:cs typeface="Telegraf Extra-Light"/>
                <a:sym typeface="Telegraf Extra-Light"/>
              </a:rPr>
              <a:t>Studio Shodwe</a:t>
            </a:r>
          </a:p>
        </p:txBody>
      </p:sp>
      <p:sp>
        <p:nvSpPr>
          <p:cNvPr name="TextBox 8" id="8"/>
          <p:cNvSpPr txBox="true"/>
          <p:nvPr/>
        </p:nvSpPr>
        <p:spPr>
          <a:xfrm rot="0">
            <a:off x="13305333" y="782737"/>
            <a:ext cx="1819999" cy="351790"/>
          </a:xfrm>
          <a:prstGeom prst="rect">
            <a:avLst/>
          </a:prstGeom>
        </p:spPr>
        <p:txBody>
          <a:bodyPr anchor="t" rtlCol="false" tIns="0" lIns="0" bIns="0" rIns="0">
            <a:spAutoFit/>
          </a:bodyPr>
          <a:lstStyle/>
          <a:p>
            <a:pPr algn="r">
              <a:lnSpc>
                <a:spcPts val="2660"/>
              </a:lnSpc>
              <a:spcBef>
                <a:spcPct val="0"/>
              </a:spcBef>
            </a:pPr>
            <a:r>
              <a:rPr lang="en-US" sz="1900" spc="95">
                <a:solidFill>
                  <a:srgbClr val="164B82"/>
                </a:solidFill>
                <a:latin typeface="Telegraf Extra-Light"/>
                <a:ea typeface="Telegraf Extra-Light"/>
                <a:cs typeface="Telegraf Extra-Light"/>
                <a:sym typeface="Telegraf Extra-Light"/>
              </a:rPr>
              <a:t>2024</a:t>
            </a:r>
          </a:p>
        </p:txBody>
      </p:sp>
      <p:sp>
        <p:nvSpPr>
          <p:cNvPr name="TextBox 9" id="9"/>
          <p:cNvSpPr txBox="true"/>
          <p:nvPr/>
        </p:nvSpPr>
        <p:spPr>
          <a:xfrm rot="0">
            <a:off x="11045641" y="782737"/>
            <a:ext cx="1819999" cy="351790"/>
          </a:xfrm>
          <a:prstGeom prst="rect">
            <a:avLst/>
          </a:prstGeom>
        </p:spPr>
        <p:txBody>
          <a:bodyPr anchor="t" rtlCol="false" tIns="0" lIns="0" bIns="0" rIns="0">
            <a:spAutoFit/>
          </a:bodyPr>
          <a:lstStyle/>
          <a:p>
            <a:pPr algn="ctr">
              <a:lnSpc>
                <a:spcPts val="2660"/>
              </a:lnSpc>
              <a:spcBef>
                <a:spcPct val="0"/>
              </a:spcBef>
            </a:pPr>
            <a:r>
              <a:rPr lang="en-US" sz="1900" spc="95">
                <a:solidFill>
                  <a:srgbClr val="164B82"/>
                </a:solidFill>
                <a:latin typeface="Telegraf Extra-Light"/>
                <a:ea typeface="Telegraf Extra-Light"/>
                <a:cs typeface="Telegraf Extra-Light"/>
                <a:sym typeface="Telegraf Extra-Light"/>
              </a:rPr>
              <a:t>Project.</a:t>
            </a:r>
          </a:p>
        </p:txBody>
      </p:sp>
      <p:grpSp>
        <p:nvGrpSpPr>
          <p:cNvPr name="Group 10" id="10"/>
          <p:cNvGrpSpPr/>
          <p:nvPr/>
        </p:nvGrpSpPr>
        <p:grpSpPr>
          <a:xfrm rot="5400000">
            <a:off x="11279340" y="-3711595"/>
            <a:ext cx="643045" cy="9407130"/>
            <a:chOff x="0" y="0"/>
            <a:chExt cx="169362" cy="2477598"/>
          </a:xfrm>
        </p:grpSpPr>
        <p:sp>
          <p:nvSpPr>
            <p:cNvPr name="Freeform 11" id="11"/>
            <p:cNvSpPr/>
            <p:nvPr/>
          </p:nvSpPr>
          <p:spPr>
            <a:xfrm flipH="false" flipV="false" rot="0">
              <a:off x="0" y="0"/>
              <a:ext cx="169362" cy="2477598"/>
            </a:xfrm>
            <a:custGeom>
              <a:avLst/>
              <a:gdLst/>
              <a:ahLst/>
              <a:cxnLst/>
              <a:rect r="r" b="b" t="t" l="l"/>
              <a:pathLst>
                <a:path h="2477598" w="169362">
                  <a:moveTo>
                    <a:pt x="84681" y="0"/>
                  </a:moveTo>
                  <a:lnTo>
                    <a:pt x="84681" y="0"/>
                  </a:lnTo>
                  <a:cubicBezTo>
                    <a:pt x="107140" y="0"/>
                    <a:pt x="128678" y="8922"/>
                    <a:pt x="144559" y="24802"/>
                  </a:cubicBezTo>
                  <a:cubicBezTo>
                    <a:pt x="160440" y="40683"/>
                    <a:pt x="169362" y="62222"/>
                    <a:pt x="169362" y="84681"/>
                  </a:cubicBezTo>
                  <a:lnTo>
                    <a:pt x="169362" y="2392917"/>
                  </a:lnTo>
                  <a:cubicBezTo>
                    <a:pt x="169362" y="2439685"/>
                    <a:pt x="131449" y="2477598"/>
                    <a:pt x="84681" y="2477598"/>
                  </a:cubicBezTo>
                  <a:lnTo>
                    <a:pt x="84681" y="2477598"/>
                  </a:lnTo>
                  <a:cubicBezTo>
                    <a:pt x="37913" y="2477598"/>
                    <a:pt x="0" y="2439685"/>
                    <a:pt x="0" y="2392917"/>
                  </a:cubicBezTo>
                  <a:lnTo>
                    <a:pt x="0" y="84681"/>
                  </a:lnTo>
                  <a:cubicBezTo>
                    <a:pt x="0" y="37913"/>
                    <a:pt x="37913" y="0"/>
                    <a:pt x="84681" y="0"/>
                  </a:cubicBezTo>
                  <a:close/>
                </a:path>
              </a:pathLst>
            </a:custGeom>
            <a:ln w="19050" cap="rnd">
              <a:solidFill>
                <a:srgbClr val="164B82"/>
              </a:solidFill>
              <a:prstDash val="solid"/>
              <a:round/>
            </a:ln>
          </p:spPr>
        </p:sp>
        <p:sp>
          <p:nvSpPr>
            <p:cNvPr name="TextBox 12" id="12"/>
            <p:cNvSpPr txBox="true"/>
            <p:nvPr/>
          </p:nvSpPr>
          <p:spPr>
            <a:xfrm>
              <a:off x="0" y="-57150"/>
              <a:ext cx="169362" cy="2534748"/>
            </a:xfrm>
            <a:prstGeom prst="rect">
              <a:avLst/>
            </a:prstGeom>
          </p:spPr>
          <p:txBody>
            <a:bodyPr anchor="ctr" rtlCol="false" tIns="50800" lIns="50800" bIns="50800" rIns="50800"/>
            <a:lstStyle/>
            <a:p>
              <a:pPr algn="ctr">
                <a:lnSpc>
                  <a:spcPts val="3639"/>
                </a:lnSpc>
              </a:pPr>
            </a:p>
          </p:txBody>
        </p:sp>
      </p:grpSp>
      <p:sp>
        <p:nvSpPr>
          <p:cNvPr name="TextBox 13" id="13"/>
          <p:cNvSpPr txBox="true"/>
          <p:nvPr/>
        </p:nvSpPr>
        <p:spPr>
          <a:xfrm rot="0">
            <a:off x="1028700" y="2427917"/>
            <a:ext cx="12765895" cy="1317057"/>
          </a:xfrm>
          <a:prstGeom prst="rect">
            <a:avLst/>
          </a:prstGeom>
        </p:spPr>
        <p:txBody>
          <a:bodyPr anchor="t" rtlCol="false" tIns="0" lIns="0" bIns="0" rIns="0">
            <a:spAutoFit/>
          </a:bodyPr>
          <a:lstStyle/>
          <a:p>
            <a:pPr algn="l">
              <a:lnSpc>
                <a:spcPts val="9059"/>
              </a:lnSpc>
            </a:pPr>
            <a:r>
              <a:rPr lang="en-US" sz="9339" b="true">
                <a:solidFill>
                  <a:srgbClr val="343434"/>
                </a:solidFill>
                <a:latin typeface="Telegraf Bold"/>
                <a:ea typeface="Telegraf Bold"/>
                <a:cs typeface="Telegraf Bold"/>
                <a:sym typeface="Telegraf Bold"/>
              </a:rPr>
              <a:t>NGUYÊN LÝ GIGO</a:t>
            </a:r>
          </a:p>
        </p:txBody>
      </p:sp>
      <p:sp>
        <p:nvSpPr>
          <p:cNvPr name="TextBox 14" id="14"/>
          <p:cNvSpPr txBox="true"/>
          <p:nvPr/>
        </p:nvSpPr>
        <p:spPr>
          <a:xfrm rot="0">
            <a:off x="1028700" y="4198125"/>
            <a:ext cx="10813999" cy="748608"/>
          </a:xfrm>
          <a:prstGeom prst="rect">
            <a:avLst/>
          </a:prstGeom>
        </p:spPr>
        <p:txBody>
          <a:bodyPr anchor="t" rtlCol="false" tIns="0" lIns="0" bIns="0" rIns="0">
            <a:spAutoFit/>
          </a:bodyPr>
          <a:lstStyle/>
          <a:p>
            <a:pPr algn="l">
              <a:lnSpc>
                <a:spcPts val="5773"/>
              </a:lnSpc>
              <a:spcBef>
                <a:spcPct val="0"/>
              </a:spcBef>
            </a:pPr>
            <a:r>
              <a:rPr lang="en-US" b="true" sz="4124" spc="98">
                <a:solidFill>
                  <a:srgbClr val="343434"/>
                </a:solidFill>
                <a:latin typeface="Telegraf Bold"/>
                <a:ea typeface="Telegraf Bold"/>
                <a:cs typeface="Telegraf Bold"/>
                <a:sym typeface="Telegraf Bold"/>
              </a:rPr>
              <a:t>GARBAGE IN, GARBAGE OUT</a:t>
            </a:r>
          </a:p>
        </p:txBody>
      </p:sp>
      <p:sp>
        <p:nvSpPr>
          <p:cNvPr name="TextBox 15" id="15"/>
          <p:cNvSpPr txBox="true"/>
          <p:nvPr/>
        </p:nvSpPr>
        <p:spPr>
          <a:xfrm rot="0">
            <a:off x="1028700" y="5363308"/>
            <a:ext cx="10268241" cy="394335"/>
          </a:xfrm>
          <a:prstGeom prst="rect">
            <a:avLst/>
          </a:prstGeom>
        </p:spPr>
        <p:txBody>
          <a:bodyPr anchor="t" rtlCol="false" tIns="0" lIns="0" bIns="0" rIns="0">
            <a:spAutoFit/>
          </a:bodyPr>
          <a:lstStyle/>
          <a:p>
            <a:pPr algn="l" marL="453390" indent="-226695" lvl="1">
              <a:lnSpc>
                <a:spcPts val="2940"/>
              </a:lnSpc>
              <a:buFont typeface="Arial"/>
              <a:buChar char="•"/>
            </a:pPr>
            <a:r>
              <a:rPr lang="en-US" sz="2100" spc="105">
                <a:solidFill>
                  <a:srgbClr val="343434"/>
                </a:solidFill>
                <a:latin typeface="Telegraf"/>
                <a:ea typeface="Telegraf"/>
                <a:cs typeface="Telegraf"/>
                <a:sym typeface="Telegraf"/>
              </a:rPr>
              <a:t>Nếu dữ liệu nhập vào quá xấu/nhiễu, mô hình sẽ cho ra kết quả sai lệch</a:t>
            </a:r>
          </a:p>
        </p:txBody>
      </p:sp>
      <p:sp>
        <p:nvSpPr>
          <p:cNvPr name="TextBox 16" id="16"/>
          <p:cNvSpPr txBox="true"/>
          <p:nvPr/>
        </p:nvSpPr>
        <p:spPr>
          <a:xfrm rot="0">
            <a:off x="1028700" y="6176743"/>
            <a:ext cx="10268241" cy="765810"/>
          </a:xfrm>
          <a:prstGeom prst="rect">
            <a:avLst/>
          </a:prstGeom>
        </p:spPr>
        <p:txBody>
          <a:bodyPr anchor="t" rtlCol="false" tIns="0" lIns="0" bIns="0" rIns="0">
            <a:spAutoFit/>
          </a:bodyPr>
          <a:lstStyle/>
          <a:p>
            <a:pPr algn="l" marL="453390" indent="-226695" lvl="1">
              <a:lnSpc>
                <a:spcPts val="2940"/>
              </a:lnSpc>
              <a:buFont typeface="Arial"/>
              <a:buChar char="•"/>
            </a:pPr>
            <a:r>
              <a:rPr lang="en-US" sz="2100" spc="105">
                <a:solidFill>
                  <a:srgbClr val="343434"/>
                </a:solidFill>
                <a:latin typeface="Telegraf"/>
                <a:ea typeface="Telegraf"/>
                <a:cs typeface="Telegraf"/>
                <a:sym typeface="Telegraf"/>
              </a:rPr>
              <a:t>Kết quả đầu ra của mô hình máy học phụ thuộc hoàn toàn vào độ "sạch" và chuẩn của dữ liệu đầu vào.</a:t>
            </a:r>
          </a:p>
        </p:txBody>
      </p:sp>
      <p:sp>
        <p:nvSpPr>
          <p:cNvPr name="TextBox 17" id="17"/>
          <p:cNvSpPr txBox="true"/>
          <p:nvPr/>
        </p:nvSpPr>
        <p:spPr>
          <a:xfrm rot="0">
            <a:off x="1028700" y="7361653"/>
            <a:ext cx="9687939" cy="1137285"/>
          </a:xfrm>
          <a:prstGeom prst="rect">
            <a:avLst/>
          </a:prstGeom>
        </p:spPr>
        <p:txBody>
          <a:bodyPr anchor="t" rtlCol="false" tIns="0" lIns="0" bIns="0" rIns="0">
            <a:spAutoFit/>
          </a:bodyPr>
          <a:lstStyle/>
          <a:p>
            <a:pPr algn="l" marL="453388" indent="-226694" lvl="1">
              <a:lnSpc>
                <a:spcPts val="2939"/>
              </a:lnSpc>
              <a:buFont typeface="Arial"/>
              <a:buChar char="•"/>
            </a:pPr>
            <a:r>
              <a:rPr lang="en-US" sz="2099">
                <a:solidFill>
                  <a:srgbClr val="343434"/>
                </a:solidFill>
                <a:latin typeface="Telegraf"/>
                <a:ea typeface="Telegraf"/>
                <a:cs typeface="Telegraf"/>
                <a:sym typeface="Telegraf"/>
              </a:rPr>
              <a:t>Hơn</a:t>
            </a:r>
            <a:r>
              <a:rPr lang="en-US" sz="2099">
                <a:solidFill>
                  <a:srgbClr val="343434"/>
                </a:solidFill>
                <a:latin typeface="Telegraf"/>
                <a:ea typeface="Telegraf"/>
                <a:cs typeface="Telegraf"/>
                <a:sym typeface="Telegraf"/>
              </a:rPr>
              <a:t> 80% thời gian của một dự án Khoa học Dữ liệu được dành cho việc thu thập, làm sạch và tiền xử lý dữ liệu. Chỉ 20% còn lại dành cho việc mô hình hóa.</a:t>
            </a:r>
          </a:p>
        </p:txBody>
      </p:sp>
    </p:spTree>
  </p:cSld>
  <p:clrMapOvr>
    <a:masterClrMapping/>
  </p:clrMapOvr>
</p:sld>
</file>

<file path=ppt/slides/slide4.xml><?xml version="1.0" encoding="utf-8"?>
<p:sld xmlns:p="http://schemas.openxmlformats.org/presentationml/2006/main" xmlns:a="http://schemas.openxmlformats.org/drawingml/2006/main" xmlns:r="http://schemas.openxmlformats.org/officeDocument/2006/relationships">
  <p:cSld>
    <p:bg>
      <p:bgPr>
        <a:solidFill>
          <a:srgbClr val="F2F7FA"/>
        </a:solidFill>
      </p:bgPr>
    </p:bg>
    <p:spTree>
      <p:nvGrpSpPr>
        <p:cNvPr id="1" name=""/>
        <p:cNvGrpSpPr/>
        <p:nvPr/>
      </p:nvGrpSpPr>
      <p:grpSpPr>
        <a:xfrm>
          <a:off x="0" y="0"/>
          <a:ext cx="0" cy="0"/>
          <a:chOff x="0" y="0"/>
          <a:chExt cx="0" cy="0"/>
        </a:xfrm>
      </p:grpSpPr>
      <p:sp>
        <p:nvSpPr>
          <p:cNvPr name="Freeform 2" id="2"/>
          <p:cNvSpPr/>
          <p:nvPr/>
        </p:nvSpPr>
        <p:spPr>
          <a:xfrm flipH="false" flipV="false" rot="0">
            <a:off x="2384366" y="-1968064"/>
            <a:ext cx="12760102" cy="5407093"/>
          </a:xfrm>
          <a:custGeom>
            <a:avLst/>
            <a:gdLst/>
            <a:ahLst/>
            <a:cxnLst/>
            <a:rect r="r" b="b" t="t" l="l"/>
            <a:pathLst>
              <a:path h="5407093" w="12760102">
                <a:moveTo>
                  <a:pt x="0" y="0"/>
                </a:moveTo>
                <a:lnTo>
                  <a:pt x="12760102" y="0"/>
                </a:lnTo>
                <a:lnTo>
                  <a:pt x="12760102" y="5407093"/>
                </a:lnTo>
                <a:lnTo>
                  <a:pt x="0" y="5407093"/>
                </a:lnTo>
                <a:lnTo>
                  <a:pt x="0" y="0"/>
                </a:lnTo>
                <a:close/>
              </a:path>
            </a:pathLst>
          </a:custGeom>
          <a:blipFill>
            <a:blip r:embed="rId2"/>
            <a:stretch>
              <a:fillRect l="0" t="0" r="0" b="0"/>
            </a:stretch>
          </a:blipFill>
        </p:spPr>
      </p:sp>
      <p:grpSp>
        <p:nvGrpSpPr>
          <p:cNvPr name="Group 3" id="3"/>
          <p:cNvGrpSpPr/>
          <p:nvPr/>
        </p:nvGrpSpPr>
        <p:grpSpPr>
          <a:xfrm rot="0">
            <a:off x="-408865" y="-392510"/>
            <a:ext cx="5539682" cy="11072020"/>
            <a:chOff x="0" y="0"/>
            <a:chExt cx="1459011" cy="2916088"/>
          </a:xfrm>
        </p:grpSpPr>
        <p:sp>
          <p:nvSpPr>
            <p:cNvPr name="Freeform 4" id="4"/>
            <p:cNvSpPr/>
            <p:nvPr/>
          </p:nvSpPr>
          <p:spPr>
            <a:xfrm flipH="false" flipV="false" rot="0">
              <a:off x="0" y="0"/>
              <a:ext cx="1459011" cy="2916088"/>
            </a:xfrm>
            <a:custGeom>
              <a:avLst/>
              <a:gdLst/>
              <a:ahLst/>
              <a:cxnLst/>
              <a:rect r="r" b="b" t="t" l="l"/>
              <a:pathLst>
                <a:path h="2916088" w="1459011">
                  <a:moveTo>
                    <a:pt x="0" y="0"/>
                  </a:moveTo>
                  <a:lnTo>
                    <a:pt x="1459011" y="0"/>
                  </a:lnTo>
                  <a:lnTo>
                    <a:pt x="1459011" y="2916088"/>
                  </a:lnTo>
                  <a:lnTo>
                    <a:pt x="0" y="2916088"/>
                  </a:lnTo>
                  <a:close/>
                </a:path>
              </a:pathLst>
            </a:custGeom>
            <a:gradFill rotWithShape="true">
              <a:gsLst>
                <a:gs pos="0">
                  <a:srgbClr val="E4B795">
                    <a:alpha val="100000"/>
                  </a:srgbClr>
                </a:gs>
                <a:gs pos="50000">
                  <a:srgbClr val="699ACD">
                    <a:alpha val="100000"/>
                  </a:srgbClr>
                </a:gs>
                <a:gs pos="100000">
                  <a:srgbClr val="2F679F">
                    <a:alpha val="100000"/>
                  </a:srgbClr>
                </a:gs>
              </a:gsLst>
              <a:path path="circle">
                <a:fillToRect l="0" r="100000" t="0" b="100000"/>
              </a:path>
              <a:tileRect r="0" l="-100000" b="0" t="-100000"/>
            </a:gradFill>
          </p:spPr>
        </p:sp>
        <p:sp>
          <p:nvSpPr>
            <p:cNvPr name="TextBox 5" id="5"/>
            <p:cNvSpPr txBox="true"/>
            <p:nvPr/>
          </p:nvSpPr>
          <p:spPr>
            <a:xfrm>
              <a:off x="0" y="-57150"/>
              <a:ext cx="1459011" cy="2973238"/>
            </a:xfrm>
            <a:prstGeom prst="rect">
              <a:avLst/>
            </a:prstGeom>
          </p:spPr>
          <p:txBody>
            <a:bodyPr anchor="ctr" rtlCol="false" tIns="50800" lIns="50800" bIns="50800" rIns="50800"/>
            <a:lstStyle/>
            <a:p>
              <a:pPr algn="ctr">
                <a:lnSpc>
                  <a:spcPts val="3639"/>
                </a:lnSpc>
              </a:pPr>
            </a:p>
          </p:txBody>
        </p:sp>
      </p:grpSp>
      <p:sp>
        <p:nvSpPr>
          <p:cNvPr name="Freeform 6" id="6"/>
          <p:cNvSpPr/>
          <p:nvPr/>
        </p:nvSpPr>
        <p:spPr>
          <a:xfrm flipH="false" flipV="false" rot="0">
            <a:off x="11431877" y="6332344"/>
            <a:ext cx="12760102" cy="5407093"/>
          </a:xfrm>
          <a:custGeom>
            <a:avLst/>
            <a:gdLst/>
            <a:ahLst/>
            <a:cxnLst/>
            <a:rect r="r" b="b" t="t" l="l"/>
            <a:pathLst>
              <a:path h="5407093" w="12760102">
                <a:moveTo>
                  <a:pt x="0" y="0"/>
                </a:moveTo>
                <a:lnTo>
                  <a:pt x="12760102" y="0"/>
                </a:lnTo>
                <a:lnTo>
                  <a:pt x="12760102" y="5407093"/>
                </a:lnTo>
                <a:lnTo>
                  <a:pt x="0" y="5407093"/>
                </a:lnTo>
                <a:lnTo>
                  <a:pt x="0" y="0"/>
                </a:lnTo>
                <a:close/>
              </a:path>
            </a:pathLst>
          </a:custGeom>
          <a:blipFill>
            <a:blip r:embed="rId2"/>
            <a:stretch>
              <a:fillRect l="0" t="0" r="0" b="0"/>
            </a:stretch>
          </a:blipFill>
        </p:spPr>
      </p:sp>
      <p:grpSp>
        <p:nvGrpSpPr>
          <p:cNvPr name="Group 7" id="7"/>
          <p:cNvGrpSpPr/>
          <p:nvPr/>
        </p:nvGrpSpPr>
        <p:grpSpPr>
          <a:xfrm rot="0">
            <a:off x="5740418" y="4848766"/>
            <a:ext cx="3674063" cy="3674063"/>
            <a:chOff x="0" y="0"/>
            <a:chExt cx="812800" cy="812800"/>
          </a:xfrm>
        </p:grpSpPr>
        <p:sp>
          <p:nvSpPr>
            <p:cNvPr name="Freeform 8" id="8"/>
            <p:cNvSpPr/>
            <p:nvPr/>
          </p:nvSpPr>
          <p:spPr>
            <a:xfrm flipH="false" flipV="false" rot="0">
              <a:off x="0" y="0"/>
              <a:ext cx="812800" cy="812800"/>
            </a:xfrm>
            <a:custGeom>
              <a:avLst/>
              <a:gdLst/>
              <a:ahLst/>
              <a:cxnLst/>
              <a:rect r="r" b="b" t="t" l="l"/>
              <a:pathLst>
                <a:path h="812800" w="812800">
                  <a:moveTo>
                    <a:pt x="48465" y="0"/>
                  </a:moveTo>
                  <a:lnTo>
                    <a:pt x="764335" y="0"/>
                  </a:lnTo>
                  <a:cubicBezTo>
                    <a:pt x="791101" y="0"/>
                    <a:pt x="812800" y="21699"/>
                    <a:pt x="812800" y="48465"/>
                  </a:cubicBezTo>
                  <a:lnTo>
                    <a:pt x="812800" y="764335"/>
                  </a:lnTo>
                  <a:cubicBezTo>
                    <a:pt x="812800" y="791101"/>
                    <a:pt x="791101" y="812800"/>
                    <a:pt x="764335" y="812800"/>
                  </a:cubicBezTo>
                  <a:lnTo>
                    <a:pt x="48465" y="812800"/>
                  </a:lnTo>
                  <a:cubicBezTo>
                    <a:pt x="21699" y="812800"/>
                    <a:pt x="0" y="791101"/>
                    <a:pt x="0" y="764335"/>
                  </a:cubicBezTo>
                  <a:lnTo>
                    <a:pt x="0" y="48465"/>
                  </a:lnTo>
                  <a:cubicBezTo>
                    <a:pt x="0" y="21699"/>
                    <a:pt x="21699" y="0"/>
                    <a:pt x="48465" y="0"/>
                  </a:cubicBezTo>
                  <a:close/>
                </a:path>
              </a:pathLst>
            </a:custGeom>
            <a:blipFill>
              <a:blip r:embed="rId3"/>
              <a:stretch>
                <a:fillRect l="-29353" t="0" r="-29353" b="0"/>
              </a:stretch>
            </a:blipFill>
          </p:spPr>
        </p:sp>
      </p:grpSp>
      <p:sp>
        <p:nvSpPr>
          <p:cNvPr name="TextBox 9" id="9"/>
          <p:cNvSpPr txBox="true"/>
          <p:nvPr/>
        </p:nvSpPr>
        <p:spPr>
          <a:xfrm rot="0">
            <a:off x="0" y="3354471"/>
            <a:ext cx="4926147" cy="1132319"/>
          </a:xfrm>
          <a:prstGeom prst="rect">
            <a:avLst/>
          </a:prstGeom>
        </p:spPr>
        <p:txBody>
          <a:bodyPr anchor="t" rtlCol="false" tIns="0" lIns="0" bIns="0" rIns="0">
            <a:spAutoFit/>
          </a:bodyPr>
          <a:lstStyle/>
          <a:p>
            <a:pPr algn="l">
              <a:lnSpc>
                <a:spcPts val="7869"/>
              </a:lnSpc>
            </a:pPr>
            <a:r>
              <a:rPr lang="en-US" b="true" sz="8112">
                <a:solidFill>
                  <a:srgbClr val="F2F7FA"/>
                </a:solidFill>
                <a:latin typeface="Telegraf Bold"/>
                <a:ea typeface="Telegraf Bold"/>
                <a:cs typeface="Telegraf Bold"/>
                <a:sym typeface="Telegraf Bold"/>
              </a:rPr>
              <a:t>CHƯƠNG</a:t>
            </a:r>
          </a:p>
        </p:txBody>
      </p:sp>
      <p:sp>
        <p:nvSpPr>
          <p:cNvPr name="TextBox 10" id="10"/>
          <p:cNvSpPr txBox="true"/>
          <p:nvPr/>
        </p:nvSpPr>
        <p:spPr>
          <a:xfrm rot="0">
            <a:off x="-550125" y="4486363"/>
            <a:ext cx="6026397" cy="4827496"/>
          </a:xfrm>
          <a:prstGeom prst="rect">
            <a:avLst/>
          </a:prstGeom>
        </p:spPr>
        <p:txBody>
          <a:bodyPr anchor="t" rtlCol="false" tIns="0" lIns="0" bIns="0" rIns="0">
            <a:spAutoFit/>
          </a:bodyPr>
          <a:lstStyle/>
          <a:p>
            <a:pPr algn="ctr">
              <a:lnSpc>
                <a:spcPts val="33472"/>
              </a:lnSpc>
            </a:pPr>
            <a:r>
              <a:rPr lang="en-US" b="true" sz="34507" spc="-2760">
                <a:solidFill>
                  <a:srgbClr val="F2F7FA"/>
                </a:solidFill>
                <a:latin typeface="Telegraf Bold"/>
                <a:ea typeface="Telegraf Bold"/>
                <a:cs typeface="Telegraf Bold"/>
                <a:sym typeface="Telegraf Bold"/>
              </a:rPr>
              <a:t>01</a:t>
            </a:r>
          </a:p>
        </p:txBody>
      </p:sp>
      <p:sp>
        <p:nvSpPr>
          <p:cNvPr name="TextBox 11" id="11"/>
          <p:cNvSpPr txBox="true"/>
          <p:nvPr/>
        </p:nvSpPr>
        <p:spPr>
          <a:xfrm rot="0">
            <a:off x="5740418" y="567690"/>
            <a:ext cx="10717772" cy="835660"/>
          </a:xfrm>
          <a:prstGeom prst="rect">
            <a:avLst/>
          </a:prstGeom>
        </p:spPr>
        <p:txBody>
          <a:bodyPr anchor="t" rtlCol="false" tIns="0" lIns="0" bIns="0" rIns="0">
            <a:spAutoFit/>
          </a:bodyPr>
          <a:lstStyle/>
          <a:p>
            <a:pPr algn="l">
              <a:lnSpc>
                <a:spcPts val="6439"/>
              </a:lnSpc>
              <a:spcBef>
                <a:spcPct val="0"/>
              </a:spcBef>
            </a:pPr>
            <a:r>
              <a:rPr lang="en-US" sz="4599" spc="110">
                <a:solidFill>
                  <a:srgbClr val="343434"/>
                </a:solidFill>
                <a:latin typeface="Telegraf"/>
                <a:ea typeface="Telegraf"/>
                <a:cs typeface="Telegraf"/>
                <a:sym typeface="Telegraf"/>
              </a:rPr>
              <a:t>TỔNG QUAN VỀ DỮ LIỆU TÀI CHÍNH</a:t>
            </a:r>
          </a:p>
        </p:txBody>
      </p:sp>
      <p:sp>
        <p:nvSpPr>
          <p:cNvPr name="TextBox 12" id="12"/>
          <p:cNvSpPr txBox="true"/>
          <p:nvPr/>
        </p:nvSpPr>
        <p:spPr>
          <a:xfrm rot="0">
            <a:off x="5740418" y="2107966"/>
            <a:ext cx="10717772" cy="817880"/>
          </a:xfrm>
          <a:prstGeom prst="rect">
            <a:avLst/>
          </a:prstGeom>
        </p:spPr>
        <p:txBody>
          <a:bodyPr anchor="t" rtlCol="false" tIns="0" lIns="0" bIns="0" rIns="0">
            <a:spAutoFit/>
          </a:bodyPr>
          <a:lstStyle/>
          <a:p>
            <a:pPr algn="l" marL="496569" indent="-248284" lvl="1">
              <a:lnSpc>
                <a:spcPts val="3219"/>
              </a:lnSpc>
              <a:buFont typeface="Arial"/>
              <a:buChar char="•"/>
            </a:pPr>
            <a:r>
              <a:rPr lang="en-US" sz="2299" spc="114">
                <a:solidFill>
                  <a:srgbClr val="343434"/>
                </a:solidFill>
                <a:latin typeface="Telegraf"/>
                <a:ea typeface="Telegraf"/>
                <a:cs typeface="Telegraf"/>
                <a:sym typeface="Telegraf"/>
              </a:rPr>
              <a:t>Các nguồn dữ liệu được thu thập đa dạng về hình dạng và kích thước</a:t>
            </a:r>
          </a:p>
        </p:txBody>
      </p:sp>
      <p:sp>
        <p:nvSpPr>
          <p:cNvPr name="TextBox 13" id="13"/>
          <p:cNvSpPr txBox="true"/>
          <p:nvPr/>
        </p:nvSpPr>
        <p:spPr>
          <a:xfrm rot="0">
            <a:off x="5740418" y="1511137"/>
            <a:ext cx="4174764" cy="537666"/>
          </a:xfrm>
          <a:prstGeom prst="rect">
            <a:avLst/>
          </a:prstGeom>
        </p:spPr>
        <p:txBody>
          <a:bodyPr anchor="t" rtlCol="false" tIns="0" lIns="0" bIns="0" rIns="0">
            <a:spAutoFit/>
          </a:bodyPr>
          <a:lstStyle/>
          <a:p>
            <a:pPr algn="l" marL="692399" indent="-346200" lvl="1">
              <a:lnSpc>
                <a:spcPts val="4489"/>
              </a:lnSpc>
              <a:buAutoNum type="arabicPeriod" startAt="1"/>
            </a:pPr>
            <a:r>
              <a:rPr lang="en-US" b="true" sz="3207">
                <a:solidFill>
                  <a:srgbClr val="000000"/>
                </a:solidFill>
                <a:latin typeface="Canva Sans Bold"/>
                <a:ea typeface="Canva Sans Bold"/>
                <a:cs typeface="Canva Sans Bold"/>
                <a:sym typeface="Canva Sans Bold"/>
              </a:rPr>
              <a:t>Đặc điểm dữ liệu </a:t>
            </a:r>
          </a:p>
        </p:txBody>
      </p:sp>
      <p:sp>
        <p:nvSpPr>
          <p:cNvPr name="TextBox 14" id="14"/>
          <p:cNvSpPr txBox="true"/>
          <p:nvPr/>
        </p:nvSpPr>
        <p:spPr>
          <a:xfrm rot="0">
            <a:off x="5740418" y="8465680"/>
            <a:ext cx="3674063" cy="1513205"/>
          </a:xfrm>
          <a:prstGeom prst="rect">
            <a:avLst/>
          </a:prstGeom>
        </p:spPr>
        <p:txBody>
          <a:bodyPr anchor="t" rtlCol="false" tIns="0" lIns="0" bIns="0" rIns="0">
            <a:spAutoFit/>
          </a:bodyPr>
          <a:lstStyle/>
          <a:p>
            <a:pPr algn="ctr">
              <a:lnSpc>
                <a:spcPts val="3639"/>
              </a:lnSpc>
              <a:spcBef>
                <a:spcPct val="0"/>
              </a:spcBef>
            </a:pPr>
            <a:r>
              <a:rPr lang="en-US" b="true" sz="2599">
                <a:solidFill>
                  <a:srgbClr val="000000"/>
                </a:solidFill>
                <a:latin typeface="TT Hoves Bold"/>
                <a:ea typeface="TT Hoves Bold"/>
                <a:cs typeface="TT Hoves Bold"/>
                <a:sym typeface="TT Hoves Bold"/>
              </a:rPr>
              <a:t>Dữ liệu Thô &amp; Co</a:t>
            </a:r>
            <a:r>
              <a:rPr lang="en-US" b="true" sz="2599">
                <a:solidFill>
                  <a:srgbClr val="000000"/>
                </a:solidFill>
                <a:latin typeface="TT Hoves Bold"/>
                <a:ea typeface="TT Hoves Bold"/>
                <a:cs typeface="TT Hoves Bold"/>
                <a:sym typeface="TT Hoves Bold"/>
              </a:rPr>
              <a:t>de</a:t>
            </a:r>
          </a:p>
          <a:p>
            <a:pPr algn="ctr">
              <a:lnSpc>
                <a:spcPts val="2799"/>
              </a:lnSpc>
              <a:spcBef>
                <a:spcPct val="0"/>
              </a:spcBef>
            </a:pPr>
            <a:r>
              <a:rPr lang="en-US" sz="1999">
                <a:solidFill>
                  <a:srgbClr val="000000"/>
                </a:solidFill>
                <a:latin typeface="TT Hoves"/>
                <a:ea typeface="TT Hoves"/>
                <a:cs typeface="TT Hoves"/>
                <a:sym typeface="TT Hoves"/>
              </a:rPr>
              <a:t>Bytes, JSON, CSV yêu cầu xử lý trước khi đưa vào DataFrame</a:t>
            </a:r>
            <a:r>
              <a:rPr lang="en-US" b="true" sz="1999">
                <a:solidFill>
                  <a:srgbClr val="000000"/>
                </a:solidFill>
                <a:latin typeface="TT Hoves Bold"/>
                <a:ea typeface="TT Hoves Bold"/>
                <a:cs typeface="TT Hoves Bold"/>
                <a:sym typeface="TT Hoves Bold"/>
              </a:rPr>
              <a:t>.</a:t>
            </a:r>
          </a:p>
          <a:p>
            <a:pPr algn="ctr">
              <a:lnSpc>
                <a:spcPts val="2799"/>
              </a:lnSpc>
              <a:spcBef>
                <a:spcPct val="0"/>
              </a:spcBef>
            </a:pPr>
          </a:p>
        </p:txBody>
      </p:sp>
      <p:grpSp>
        <p:nvGrpSpPr>
          <p:cNvPr name="Group 15" id="15"/>
          <p:cNvGrpSpPr/>
          <p:nvPr/>
        </p:nvGrpSpPr>
        <p:grpSpPr>
          <a:xfrm rot="0">
            <a:off x="10021063" y="4848766"/>
            <a:ext cx="3674063" cy="3674063"/>
            <a:chOff x="0" y="0"/>
            <a:chExt cx="812800" cy="812800"/>
          </a:xfrm>
        </p:grpSpPr>
        <p:sp>
          <p:nvSpPr>
            <p:cNvPr name="Freeform 16" id="16"/>
            <p:cNvSpPr/>
            <p:nvPr/>
          </p:nvSpPr>
          <p:spPr>
            <a:xfrm flipH="false" flipV="false" rot="0">
              <a:off x="0" y="0"/>
              <a:ext cx="812800" cy="812800"/>
            </a:xfrm>
            <a:custGeom>
              <a:avLst/>
              <a:gdLst/>
              <a:ahLst/>
              <a:cxnLst/>
              <a:rect r="r" b="b" t="t" l="l"/>
              <a:pathLst>
                <a:path h="812800" w="812800">
                  <a:moveTo>
                    <a:pt x="48465" y="0"/>
                  </a:moveTo>
                  <a:lnTo>
                    <a:pt x="764335" y="0"/>
                  </a:lnTo>
                  <a:cubicBezTo>
                    <a:pt x="791101" y="0"/>
                    <a:pt x="812800" y="21699"/>
                    <a:pt x="812800" y="48465"/>
                  </a:cubicBezTo>
                  <a:lnTo>
                    <a:pt x="812800" y="764335"/>
                  </a:lnTo>
                  <a:cubicBezTo>
                    <a:pt x="812800" y="791101"/>
                    <a:pt x="791101" y="812800"/>
                    <a:pt x="764335" y="812800"/>
                  </a:cubicBezTo>
                  <a:lnTo>
                    <a:pt x="48465" y="812800"/>
                  </a:lnTo>
                  <a:cubicBezTo>
                    <a:pt x="21699" y="812800"/>
                    <a:pt x="0" y="791101"/>
                    <a:pt x="0" y="764335"/>
                  </a:cubicBezTo>
                  <a:lnTo>
                    <a:pt x="0" y="48465"/>
                  </a:lnTo>
                  <a:cubicBezTo>
                    <a:pt x="0" y="21699"/>
                    <a:pt x="21699" y="0"/>
                    <a:pt x="48465" y="0"/>
                  </a:cubicBezTo>
                  <a:close/>
                </a:path>
              </a:pathLst>
            </a:custGeom>
            <a:blipFill>
              <a:blip r:embed="rId4"/>
              <a:stretch>
                <a:fillRect l="-29601" t="0" r="-29601" b="0"/>
              </a:stretch>
            </a:blipFill>
          </p:spPr>
        </p:sp>
      </p:grpSp>
      <p:sp>
        <p:nvSpPr>
          <p:cNvPr name="TextBox 17" id="17"/>
          <p:cNvSpPr txBox="true"/>
          <p:nvPr/>
        </p:nvSpPr>
        <p:spPr>
          <a:xfrm rot="0">
            <a:off x="10021063" y="8475205"/>
            <a:ext cx="3674063" cy="1943299"/>
          </a:xfrm>
          <a:prstGeom prst="rect">
            <a:avLst/>
          </a:prstGeom>
        </p:spPr>
        <p:txBody>
          <a:bodyPr anchor="t" rtlCol="false" tIns="0" lIns="0" bIns="0" rIns="0">
            <a:spAutoFit/>
          </a:bodyPr>
          <a:lstStyle/>
          <a:p>
            <a:pPr algn="ctr">
              <a:lnSpc>
                <a:spcPts val="3640"/>
              </a:lnSpc>
              <a:spcBef>
                <a:spcPct val="0"/>
              </a:spcBef>
            </a:pPr>
            <a:r>
              <a:rPr lang="en-US" b="true" sz="2600">
                <a:solidFill>
                  <a:srgbClr val="000000"/>
                </a:solidFill>
                <a:latin typeface="TT Hoves Bold"/>
                <a:ea typeface="TT Hoves Bold"/>
                <a:cs typeface="TT Hoves Bold"/>
                <a:sym typeface="TT Hoves Bold"/>
              </a:rPr>
              <a:t>Dữ liệu Phi truyền thống</a:t>
            </a:r>
          </a:p>
          <a:p>
            <a:pPr algn="ctr">
              <a:lnSpc>
                <a:spcPts val="2800"/>
              </a:lnSpc>
              <a:spcBef>
                <a:spcPct val="0"/>
              </a:spcBef>
            </a:pPr>
            <a:r>
              <a:rPr lang="en-US" sz="2000">
                <a:solidFill>
                  <a:srgbClr val="000000"/>
                </a:solidFill>
                <a:latin typeface="TT Hoves"/>
                <a:ea typeface="TT Hoves"/>
                <a:cs typeface="TT Hoves"/>
                <a:sym typeface="TT Hoves"/>
              </a:rPr>
              <a:t>Hình ảnh vệ tinh, cảm biến, web traffic, feedback từ khách hàng.</a:t>
            </a:r>
          </a:p>
          <a:p>
            <a:pPr algn="ctr">
              <a:lnSpc>
                <a:spcPts val="2638"/>
              </a:lnSpc>
              <a:spcBef>
                <a:spcPct val="0"/>
              </a:spcBef>
            </a:pPr>
          </a:p>
        </p:txBody>
      </p:sp>
      <p:grpSp>
        <p:nvGrpSpPr>
          <p:cNvPr name="Group 18" id="18"/>
          <p:cNvGrpSpPr/>
          <p:nvPr/>
        </p:nvGrpSpPr>
        <p:grpSpPr>
          <a:xfrm rot="0">
            <a:off x="14301708" y="4820166"/>
            <a:ext cx="3674063" cy="3674063"/>
            <a:chOff x="0" y="0"/>
            <a:chExt cx="812800" cy="812800"/>
          </a:xfrm>
        </p:grpSpPr>
        <p:sp>
          <p:nvSpPr>
            <p:cNvPr name="Freeform 19" id="19"/>
            <p:cNvSpPr/>
            <p:nvPr/>
          </p:nvSpPr>
          <p:spPr>
            <a:xfrm flipH="false" flipV="false" rot="0">
              <a:off x="0" y="0"/>
              <a:ext cx="812800" cy="812800"/>
            </a:xfrm>
            <a:custGeom>
              <a:avLst/>
              <a:gdLst/>
              <a:ahLst/>
              <a:cxnLst/>
              <a:rect r="r" b="b" t="t" l="l"/>
              <a:pathLst>
                <a:path h="812800" w="812800">
                  <a:moveTo>
                    <a:pt x="48465" y="0"/>
                  </a:moveTo>
                  <a:lnTo>
                    <a:pt x="764335" y="0"/>
                  </a:lnTo>
                  <a:cubicBezTo>
                    <a:pt x="791101" y="0"/>
                    <a:pt x="812800" y="21699"/>
                    <a:pt x="812800" y="48465"/>
                  </a:cubicBezTo>
                  <a:lnTo>
                    <a:pt x="812800" y="764335"/>
                  </a:lnTo>
                  <a:cubicBezTo>
                    <a:pt x="812800" y="791101"/>
                    <a:pt x="791101" y="812800"/>
                    <a:pt x="764335" y="812800"/>
                  </a:cubicBezTo>
                  <a:lnTo>
                    <a:pt x="48465" y="812800"/>
                  </a:lnTo>
                  <a:cubicBezTo>
                    <a:pt x="21699" y="812800"/>
                    <a:pt x="0" y="791101"/>
                    <a:pt x="0" y="764335"/>
                  </a:cubicBezTo>
                  <a:lnTo>
                    <a:pt x="0" y="48465"/>
                  </a:lnTo>
                  <a:cubicBezTo>
                    <a:pt x="0" y="21699"/>
                    <a:pt x="21699" y="0"/>
                    <a:pt x="48465" y="0"/>
                  </a:cubicBezTo>
                  <a:close/>
                </a:path>
              </a:pathLst>
            </a:custGeom>
            <a:blipFill>
              <a:blip r:embed="rId5"/>
              <a:stretch>
                <a:fillRect l="-29601" t="0" r="-29601" b="0"/>
              </a:stretch>
            </a:blipFill>
          </p:spPr>
        </p:sp>
      </p:grpSp>
      <p:sp>
        <p:nvSpPr>
          <p:cNvPr name="TextBox 20" id="20"/>
          <p:cNvSpPr txBox="true"/>
          <p:nvPr/>
        </p:nvSpPr>
        <p:spPr>
          <a:xfrm rot="0">
            <a:off x="14301708" y="8437079"/>
            <a:ext cx="3674063" cy="1865630"/>
          </a:xfrm>
          <a:prstGeom prst="rect">
            <a:avLst/>
          </a:prstGeom>
        </p:spPr>
        <p:txBody>
          <a:bodyPr anchor="t" rtlCol="false" tIns="0" lIns="0" bIns="0" rIns="0">
            <a:spAutoFit/>
          </a:bodyPr>
          <a:lstStyle/>
          <a:p>
            <a:pPr algn="ctr">
              <a:lnSpc>
                <a:spcPts val="3639"/>
              </a:lnSpc>
              <a:spcBef>
                <a:spcPct val="0"/>
              </a:spcBef>
            </a:pPr>
            <a:r>
              <a:rPr lang="en-US" b="true" sz="2599">
                <a:solidFill>
                  <a:srgbClr val="000000"/>
                </a:solidFill>
                <a:latin typeface="TT Hoves Bold"/>
                <a:ea typeface="TT Hoves Bold"/>
                <a:cs typeface="TT Hoves Bold"/>
                <a:sym typeface="TT Hoves Bold"/>
              </a:rPr>
              <a:t>Dữ liệu Cấu trúc</a:t>
            </a:r>
          </a:p>
          <a:p>
            <a:pPr algn="ctr">
              <a:lnSpc>
                <a:spcPts val="2799"/>
              </a:lnSpc>
              <a:spcBef>
                <a:spcPct val="0"/>
              </a:spcBef>
            </a:pPr>
            <a:r>
              <a:rPr lang="en-US" sz="1999">
                <a:solidFill>
                  <a:srgbClr val="000000"/>
                </a:solidFill>
                <a:latin typeface="TT Hoves"/>
                <a:ea typeface="TT Hoves"/>
                <a:cs typeface="TT Hoves"/>
                <a:sym typeface="TT Hoves"/>
              </a:rPr>
              <a:t>Giá trị cơ bản, OHLCV định dạng sẵn bằng Pandas DataFrame.</a:t>
            </a:r>
          </a:p>
          <a:p>
            <a:pPr algn="ctr">
              <a:lnSpc>
                <a:spcPts val="2799"/>
              </a:lnSpc>
              <a:spcBef>
                <a:spcPct val="0"/>
              </a:spcBef>
            </a:pPr>
          </a:p>
        </p:txBody>
      </p:sp>
      <p:sp>
        <p:nvSpPr>
          <p:cNvPr name="TextBox 21" id="21"/>
          <p:cNvSpPr txBox="true"/>
          <p:nvPr/>
        </p:nvSpPr>
        <p:spPr>
          <a:xfrm rot="0">
            <a:off x="5740418" y="2982996"/>
            <a:ext cx="7466085" cy="417830"/>
          </a:xfrm>
          <a:prstGeom prst="rect">
            <a:avLst/>
          </a:prstGeom>
        </p:spPr>
        <p:txBody>
          <a:bodyPr anchor="t" rtlCol="false" tIns="0" lIns="0" bIns="0" rIns="0">
            <a:spAutoFit/>
          </a:bodyPr>
          <a:lstStyle/>
          <a:p>
            <a:pPr algn="l" marL="496567" indent="-248284" lvl="1">
              <a:lnSpc>
                <a:spcPts val="3219"/>
              </a:lnSpc>
              <a:buFont typeface="Arial"/>
              <a:buChar char="•"/>
            </a:pPr>
            <a:r>
              <a:rPr lang="en-US" sz="2299">
                <a:solidFill>
                  <a:srgbClr val="343434"/>
                </a:solidFill>
                <a:latin typeface="Telegraf"/>
                <a:ea typeface="Telegraf"/>
                <a:cs typeface="Telegraf"/>
                <a:sym typeface="Telegraf"/>
              </a:rPr>
              <a:t>Sử dụng "Informational Edge" để tạo ra chỉ số Alpha</a:t>
            </a:r>
          </a:p>
        </p:txBody>
      </p:sp>
      <p:sp>
        <p:nvSpPr>
          <p:cNvPr name="TextBox 22" id="22"/>
          <p:cNvSpPr txBox="true"/>
          <p:nvPr/>
        </p:nvSpPr>
        <p:spPr>
          <a:xfrm rot="0">
            <a:off x="5740418" y="3631059"/>
            <a:ext cx="11518882" cy="1217707"/>
          </a:xfrm>
          <a:prstGeom prst="rect">
            <a:avLst/>
          </a:prstGeom>
        </p:spPr>
        <p:txBody>
          <a:bodyPr anchor="t" rtlCol="false" tIns="0" lIns="0" bIns="0" rIns="0">
            <a:spAutoFit/>
          </a:bodyPr>
          <a:lstStyle/>
          <a:p>
            <a:pPr algn="l" marL="496567" indent="-248284" lvl="1">
              <a:lnSpc>
                <a:spcPts val="3219"/>
              </a:lnSpc>
              <a:buFont typeface="Arial"/>
              <a:buChar char="•"/>
            </a:pPr>
            <a:r>
              <a:rPr lang="en-US" sz="2299">
                <a:solidFill>
                  <a:srgbClr val="343434"/>
                </a:solidFill>
                <a:latin typeface="Telegraf"/>
                <a:ea typeface="Telegraf"/>
                <a:cs typeface="Telegraf"/>
                <a:sym typeface="Telegraf"/>
              </a:rPr>
              <a:t>D</a:t>
            </a:r>
            <a:r>
              <a:rPr lang="en-US" sz="2299">
                <a:solidFill>
                  <a:srgbClr val="343434"/>
                </a:solidFill>
                <a:latin typeface="Telegraf"/>
                <a:ea typeface="Telegraf"/>
                <a:cs typeface="Telegraf"/>
                <a:sym typeface="Telegraf"/>
              </a:rPr>
              <a:t>ữ liệu có thể dưới dạng pandas DataFrame, nhưng cũng có thể ở định dạng JSON, hay thậm chí là dạng bytes thô để chuyển đổi thành CSV.</a:t>
            </a:r>
          </a:p>
          <a:p>
            <a:pPr algn="l">
              <a:lnSpc>
                <a:spcPts val="3219"/>
              </a:lnSpc>
            </a:pPr>
          </a:p>
        </p:txBody>
      </p:sp>
    </p:spTree>
  </p:cSld>
  <p:clrMapOvr>
    <a:masterClrMapping/>
  </p:clrMapOvr>
</p:sld>
</file>

<file path=ppt/slides/slide5.xml><?xml version="1.0" encoding="utf-8"?>
<p:sld xmlns:p="http://schemas.openxmlformats.org/presentationml/2006/main" xmlns:a="http://schemas.openxmlformats.org/drawingml/2006/main" xmlns:r="http://schemas.openxmlformats.org/officeDocument/2006/relationships">
  <p:cSld>
    <p:bg>
      <p:bgPr>
        <a:solidFill>
          <a:srgbClr val="F2F7FA"/>
        </a:solidFill>
      </p:bgPr>
    </p:bg>
    <p:spTree>
      <p:nvGrpSpPr>
        <p:cNvPr id="1" name=""/>
        <p:cNvGrpSpPr/>
        <p:nvPr/>
      </p:nvGrpSpPr>
      <p:grpSpPr>
        <a:xfrm>
          <a:off x="0" y="0"/>
          <a:ext cx="0" cy="0"/>
          <a:chOff x="0" y="0"/>
          <a:chExt cx="0" cy="0"/>
        </a:xfrm>
      </p:grpSpPr>
      <p:sp>
        <p:nvSpPr>
          <p:cNvPr name="Freeform 2" id="2"/>
          <p:cNvSpPr/>
          <p:nvPr/>
        </p:nvSpPr>
        <p:spPr>
          <a:xfrm flipH="false" flipV="false" rot="225008">
            <a:off x="-467361" y="-2757747"/>
            <a:ext cx="12701350" cy="5382197"/>
          </a:xfrm>
          <a:custGeom>
            <a:avLst/>
            <a:gdLst/>
            <a:ahLst/>
            <a:cxnLst/>
            <a:rect r="r" b="b" t="t" l="l"/>
            <a:pathLst>
              <a:path h="5382197" w="12701350">
                <a:moveTo>
                  <a:pt x="0" y="0"/>
                </a:moveTo>
                <a:lnTo>
                  <a:pt x="12701349" y="0"/>
                </a:lnTo>
                <a:lnTo>
                  <a:pt x="12701349" y="5382197"/>
                </a:lnTo>
                <a:lnTo>
                  <a:pt x="0" y="5382197"/>
                </a:lnTo>
                <a:lnTo>
                  <a:pt x="0" y="0"/>
                </a:lnTo>
                <a:close/>
              </a:path>
            </a:pathLst>
          </a:custGeom>
          <a:blipFill>
            <a:blip r:embed="rId2"/>
            <a:stretch>
              <a:fillRect l="0" t="0" r="0" b="0"/>
            </a:stretch>
          </a:blipFill>
        </p:spPr>
      </p:sp>
      <p:sp>
        <p:nvSpPr>
          <p:cNvPr name="Freeform 3" id="3"/>
          <p:cNvSpPr/>
          <p:nvPr/>
        </p:nvSpPr>
        <p:spPr>
          <a:xfrm flipH="false" flipV="false" rot="0">
            <a:off x="12026490" y="7306236"/>
            <a:ext cx="11514218" cy="8506128"/>
          </a:xfrm>
          <a:custGeom>
            <a:avLst/>
            <a:gdLst/>
            <a:ahLst/>
            <a:cxnLst/>
            <a:rect r="r" b="b" t="t" l="l"/>
            <a:pathLst>
              <a:path h="8506128" w="11514218">
                <a:moveTo>
                  <a:pt x="0" y="0"/>
                </a:moveTo>
                <a:lnTo>
                  <a:pt x="11514217" y="0"/>
                </a:lnTo>
                <a:lnTo>
                  <a:pt x="11514217" y="8506129"/>
                </a:lnTo>
                <a:lnTo>
                  <a:pt x="0" y="8506129"/>
                </a:lnTo>
                <a:lnTo>
                  <a:pt x="0" y="0"/>
                </a:lnTo>
                <a:close/>
              </a:path>
            </a:pathLst>
          </a:custGeom>
          <a:blipFill>
            <a:blip r:embed="rId3"/>
            <a:stretch>
              <a:fillRect l="0" t="0" r="0" b="0"/>
            </a:stretch>
          </a:blipFill>
        </p:spPr>
      </p:sp>
      <p:grpSp>
        <p:nvGrpSpPr>
          <p:cNvPr name="Group 4" id="4"/>
          <p:cNvGrpSpPr/>
          <p:nvPr/>
        </p:nvGrpSpPr>
        <p:grpSpPr>
          <a:xfrm rot="0">
            <a:off x="17259300" y="-392510"/>
            <a:ext cx="1437565" cy="11072020"/>
            <a:chOff x="0" y="0"/>
            <a:chExt cx="378618" cy="2916088"/>
          </a:xfrm>
        </p:grpSpPr>
        <p:sp>
          <p:nvSpPr>
            <p:cNvPr name="Freeform 5" id="5"/>
            <p:cNvSpPr/>
            <p:nvPr/>
          </p:nvSpPr>
          <p:spPr>
            <a:xfrm flipH="false" flipV="false" rot="0">
              <a:off x="0" y="0"/>
              <a:ext cx="378618" cy="2916088"/>
            </a:xfrm>
            <a:custGeom>
              <a:avLst/>
              <a:gdLst/>
              <a:ahLst/>
              <a:cxnLst/>
              <a:rect r="r" b="b" t="t" l="l"/>
              <a:pathLst>
                <a:path h="2916088" w="378618">
                  <a:moveTo>
                    <a:pt x="0" y="0"/>
                  </a:moveTo>
                  <a:lnTo>
                    <a:pt x="378618" y="0"/>
                  </a:lnTo>
                  <a:lnTo>
                    <a:pt x="378618" y="2916088"/>
                  </a:lnTo>
                  <a:lnTo>
                    <a:pt x="0" y="2916088"/>
                  </a:lnTo>
                  <a:close/>
                </a:path>
              </a:pathLst>
            </a:custGeom>
            <a:gradFill rotWithShape="true">
              <a:gsLst>
                <a:gs pos="0">
                  <a:srgbClr val="E4B795">
                    <a:alpha val="100000"/>
                  </a:srgbClr>
                </a:gs>
                <a:gs pos="50000">
                  <a:srgbClr val="699ACD">
                    <a:alpha val="100000"/>
                  </a:srgbClr>
                </a:gs>
                <a:gs pos="100000">
                  <a:srgbClr val="2F679F">
                    <a:alpha val="100000"/>
                  </a:srgbClr>
                </a:gs>
              </a:gsLst>
              <a:path path="circle">
                <a:fillToRect l="0" r="100000" t="0" b="100000"/>
              </a:path>
              <a:tileRect r="0" l="-100000" b="0" t="-100000"/>
            </a:gradFill>
          </p:spPr>
        </p:sp>
        <p:sp>
          <p:nvSpPr>
            <p:cNvPr name="TextBox 6" id="6"/>
            <p:cNvSpPr txBox="true"/>
            <p:nvPr/>
          </p:nvSpPr>
          <p:spPr>
            <a:xfrm>
              <a:off x="0" y="-57150"/>
              <a:ext cx="378618" cy="2973238"/>
            </a:xfrm>
            <a:prstGeom prst="rect">
              <a:avLst/>
            </a:prstGeom>
          </p:spPr>
          <p:txBody>
            <a:bodyPr anchor="ctr" rtlCol="false" tIns="50800" lIns="50800" bIns="50800" rIns="50800"/>
            <a:lstStyle/>
            <a:p>
              <a:pPr algn="ctr">
                <a:lnSpc>
                  <a:spcPts val="3639"/>
                </a:lnSpc>
              </a:pPr>
            </a:p>
          </p:txBody>
        </p:sp>
      </p:grpSp>
      <p:sp>
        <p:nvSpPr>
          <p:cNvPr name="TextBox 7" id="7"/>
          <p:cNvSpPr txBox="true"/>
          <p:nvPr/>
        </p:nvSpPr>
        <p:spPr>
          <a:xfrm rot="0">
            <a:off x="8021110" y="782737"/>
            <a:ext cx="2492949" cy="351790"/>
          </a:xfrm>
          <a:prstGeom prst="rect">
            <a:avLst/>
          </a:prstGeom>
        </p:spPr>
        <p:txBody>
          <a:bodyPr anchor="t" rtlCol="false" tIns="0" lIns="0" bIns="0" rIns="0">
            <a:spAutoFit/>
          </a:bodyPr>
          <a:lstStyle/>
          <a:p>
            <a:pPr algn="l">
              <a:lnSpc>
                <a:spcPts val="2660"/>
              </a:lnSpc>
              <a:spcBef>
                <a:spcPct val="0"/>
              </a:spcBef>
            </a:pPr>
            <a:r>
              <a:rPr lang="en-US" sz="1900" spc="95">
                <a:solidFill>
                  <a:srgbClr val="164B82"/>
                </a:solidFill>
                <a:latin typeface="Telegraf Extra-Light"/>
                <a:ea typeface="Telegraf Extra-Light"/>
                <a:cs typeface="Telegraf Extra-Light"/>
                <a:sym typeface="Telegraf Extra-Light"/>
              </a:rPr>
              <a:t>Studio Shodwe</a:t>
            </a:r>
          </a:p>
        </p:txBody>
      </p:sp>
      <p:sp>
        <p:nvSpPr>
          <p:cNvPr name="TextBox 8" id="8"/>
          <p:cNvSpPr txBox="true"/>
          <p:nvPr/>
        </p:nvSpPr>
        <p:spPr>
          <a:xfrm rot="0">
            <a:off x="13305333" y="782737"/>
            <a:ext cx="1819999" cy="351790"/>
          </a:xfrm>
          <a:prstGeom prst="rect">
            <a:avLst/>
          </a:prstGeom>
        </p:spPr>
        <p:txBody>
          <a:bodyPr anchor="t" rtlCol="false" tIns="0" lIns="0" bIns="0" rIns="0">
            <a:spAutoFit/>
          </a:bodyPr>
          <a:lstStyle/>
          <a:p>
            <a:pPr algn="r">
              <a:lnSpc>
                <a:spcPts val="2660"/>
              </a:lnSpc>
              <a:spcBef>
                <a:spcPct val="0"/>
              </a:spcBef>
            </a:pPr>
            <a:r>
              <a:rPr lang="en-US" sz="1900" spc="95">
                <a:solidFill>
                  <a:srgbClr val="164B82"/>
                </a:solidFill>
                <a:latin typeface="Telegraf Extra-Light"/>
                <a:ea typeface="Telegraf Extra-Light"/>
                <a:cs typeface="Telegraf Extra-Light"/>
                <a:sym typeface="Telegraf Extra-Light"/>
              </a:rPr>
              <a:t>2024</a:t>
            </a:r>
          </a:p>
        </p:txBody>
      </p:sp>
      <p:sp>
        <p:nvSpPr>
          <p:cNvPr name="TextBox 9" id="9"/>
          <p:cNvSpPr txBox="true"/>
          <p:nvPr/>
        </p:nvSpPr>
        <p:spPr>
          <a:xfrm rot="0">
            <a:off x="11045641" y="782737"/>
            <a:ext cx="1819999" cy="351790"/>
          </a:xfrm>
          <a:prstGeom prst="rect">
            <a:avLst/>
          </a:prstGeom>
        </p:spPr>
        <p:txBody>
          <a:bodyPr anchor="t" rtlCol="false" tIns="0" lIns="0" bIns="0" rIns="0">
            <a:spAutoFit/>
          </a:bodyPr>
          <a:lstStyle/>
          <a:p>
            <a:pPr algn="ctr">
              <a:lnSpc>
                <a:spcPts val="2660"/>
              </a:lnSpc>
              <a:spcBef>
                <a:spcPct val="0"/>
              </a:spcBef>
            </a:pPr>
            <a:r>
              <a:rPr lang="en-US" sz="1900" spc="95">
                <a:solidFill>
                  <a:srgbClr val="164B82"/>
                </a:solidFill>
                <a:latin typeface="Telegraf Extra-Light"/>
                <a:ea typeface="Telegraf Extra-Light"/>
                <a:cs typeface="Telegraf Extra-Light"/>
                <a:sym typeface="Telegraf Extra-Light"/>
              </a:rPr>
              <a:t>Project.</a:t>
            </a:r>
          </a:p>
        </p:txBody>
      </p:sp>
      <p:grpSp>
        <p:nvGrpSpPr>
          <p:cNvPr name="Group 10" id="10"/>
          <p:cNvGrpSpPr/>
          <p:nvPr/>
        </p:nvGrpSpPr>
        <p:grpSpPr>
          <a:xfrm rot="5400000">
            <a:off x="11279340" y="-3711595"/>
            <a:ext cx="643045" cy="9407130"/>
            <a:chOff x="0" y="0"/>
            <a:chExt cx="169362" cy="2477598"/>
          </a:xfrm>
        </p:grpSpPr>
        <p:sp>
          <p:nvSpPr>
            <p:cNvPr name="Freeform 11" id="11"/>
            <p:cNvSpPr/>
            <p:nvPr/>
          </p:nvSpPr>
          <p:spPr>
            <a:xfrm flipH="false" flipV="false" rot="0">
              <a:off x="0" y="0"/>
              <a:ext cx="169362" cy="2477598"/>
            </a:xfrm>
            <a:custGeom>
              <a:avLst/>
              <a:gdLst/>
              <a:ahLst/>
              <a:cxnLst/>
              <a:rect r="r" b="b" t="t" l="l"/>
              <a:pathLst>
                <a:path h="2477598" w="169362">
                  <a:moveTo>
                    <a:pt x="84681" y="0"/>
                  </a:moveTo>
                  <a:lnTo>
                    <a:pt x="84681" y="0"/>
                  </a:lnTo>
                  <a:cubicBezTo>
                    <a:pt x="107140" y="0"/>
                    <a:pt x="128678" y="8922"/>
                    <a:pt x="144559" y="24802"/>
                  </a:cubicBezTo>
                  <a:cubicBezTo>
                    <a:pt x="160440" y="40683"/>
                    <a:pt x="169362" y="62222"/>
                    <a:pt x="169362" y="84681"/>
                  </a:cubicBezTo>
                  <a:lnTo>
                    <a:pt x="169362" y="2392917"/>
                  </a:lnTo>
                  <a:cubicBezTo>
                    <a:pt x="169362" y="2439685"/>
                    <a:pt x="131449" y="2477598"/>
                    <a:pt x="84681" y="2477598"/>
                  </a:cubicBezTo>
                  <a:lnTo>
                    <a:pt x="84681" y="2477598"/>
                  </a:lnTo>
                  <a:cubicBezTo>
                    <a:pt x="37913" y="2477598"/>
                    <a:pt x="0" y="2439685"/>
                    <a:pt x="0" y="2392917"/>
                  </a:cubicBezTo>
                  <a:lnTo>
                    <a:pt x="0" y="84681"/>
                  </a:lnTo>
                  <a:cubicBezTo>
                    <a:pt x="0" y="37913"/>
                    <a:pt x="37913" y="0"/>
                    <a:pt x="84681" y="0"/>
                  </a:cubicBezTo>
                  <a:close/>
                </a:path>
              </a:pathLst>
            </a:custGeom>
            <a:ln w="19050" cap="rnd">
              <a:solidFill>
                <a:srgbClr val="164B82"/>
              </a:solidFill>
              <a:prstDash val="solid"/>
              <a:round/>
            </a:ln>
          </p:spPr>
        </p:sp>
        <p:sp>
          <p:nvSpPr>
            <p:cNvPr name="TextBox 12" id="12"/>
            <p:cNvSpPr txBox="true"/>
            <p:nvPr/>
          </p:nvSpPr>
          <p:spPr>
            <a:xfrm>
              <a:off x="0" y="-57150"/>
              <a:ext cx="169362" cy="2534748"/>
            </a:xfrm>
            <a:prstGeom prst="rect">
              <a:avLst/>
            </a:prstGeom>
          </p:spPr>
          <p:txBody>
            <a:bodyPr anchor="ctr" rtlCol="false" tIns="50800" lIns="50800" bIns="50800" rIns="50800"/>
            <a:lstStyle/>
            <a:p>
              <a:pPr algn="ctr">
                <a:lnSpc>
                  <a:spcPts val="3639"/>
                </a:lnSpc>
              </a:pPr>
            </a:p>
          </p:txBody>
        </p:sp>
      </p:grpSp>
      <p:sp>
        <p:nvSpPr>
          <p:cNvPr name="Freeform 13" id="13"/>
          <p:cNvSpPr/>
          <p:nvPr/>
        </p:nvSpPr>
        <p:spPr>
          <a:xfrm flipH="false" flipV="false" rot="0">
            <a:off x="1028700" y="3742638"/>
            <a:ext cx="914243" cy="890971"/>
          </a:xfrm>
          <a:custGeom>
            <a:avLst/>
            <a:gdLst/>
            <a:ahLst/>
            <a:cxnLst/>
            <a:rect r="r" b="b" t="t" l="l"/>
            <a:pathLst>
              <a:path h="890971" w="914243">
                <a:moveTo>
                  <a:pt x="0" y="0"/>
                </a:moveTo>
                <a:lnTo>
                  <a:pt x="914243" y="0"/>
                </a:lnTo>
                <a:lnTo>
                  <a:pt x="914243" y="890971"/>
                </a:lnTo>
                <a:lnTo>
                  <a:pt x="0" y="890971"/>
                </a:lnTo>
                <a:lnTo>
                  <a:pt x="0" y="0"/>
                </a:lnTo>
                <a:close/>
              </a:path>
            </a:pathLst>
          </a:custGeom>
          <a:blipFill>
            <a:blip r:embed="rId4"/>
            <a:stretch>
              <a:fillRect l="0" t="0" r="0" b="0"/>
            </a:stretch>
          </a:blipFill>
        </p:spPr>
      </p:sp>
      <p:sp>
        <p:nvSpPr>
          <p:cNvPr name="TextBox 14" id="14"/>
          <p:cNvSpPr txBox="true"/>
          <p:nvPr/>
        </p:nvSpPr>
        <p:spPr>
          <a:xfrm rot="0">
            <a:off x="1223184" y="1930704"/>
            <a:ext cx="17703925" cy="1329498"/>
          </a:xfrm>
          <a:prstGeom prst="rect">
            <a:avLst/>
          </a:prstGeom>
        </p:spPr>
        <p:txBody>
          <a:bodyPr anchor="t" rtlCol="false" tIns="0" lIns="0" bIns="0" rIns="0">
            <a:spAutoFit/>
          </a:bodyPr>
          <a:lstStyle/>
          <a:p>
            <a:pPr algn="l">
              <a:lnSpc>
                <a:spcPts val="4927"/>
              </a:lnSpc>
            </a:pPr>
            <a:r>
              <a:rPr lang="en-US" sz="5080" b="true">
                <a:solidFill>
                  <a:srgbClr val="343434"/>
                </a:solidFill>
                <a:latin typeface="Telegraf Bold"/>
                <a:ea typeface="Telegraf Bold"/>
                <a:cs typeface="Telegraf Bold"/>
                <a:sym typeface="Telegraf Bold"/>
              </a:rPr>
              <a:t>DỮ LIỆU TÀI CHÍNH LÀ NỀN TẢNG QUAN TRỌNG </a:t>
            </a:r>
          </a:p>
          <a:p>
            <a:pPr algn="l">
              <a:lnSpc>
                <a:spcPts val="4927"/>
              </a:lnSpc>
            </a:pPr>
            <a:r>
              <a:rPr lang="en-US" sz="5080" b="true">
                <a:solidFill>
                  <a:srgbClr val="343434"/>
                </a:solidFill>
                <a:latin typeface="Telegraf Bold"/>
                <a:ea typeface="Telegraf Bold"/>
                <a:cs typeface="Telegraf Bold"/>
                <a:sym typeface="Telegraf Bold"/>
              </a:rPr>
              <a:t>CHO DATA SCIENCE &amp; QUANT FINANCE</a:t>
            </a:r>
          </a:p>
        </p:txBody>
      </p:sp>
      <p:sp>
        <p:nvSpPr>
          <p:cNvPr name="TextBox 15" id="15"/>
          <p:cNvSpPr txBox="true"/>
          <p:nvPr/>
        </p:nvSpPr>
        <p:spPr>
          <a:xfrm rot="0">
            <a:off x="1942943" y="3936855"/>
            <a:ext cx="3442939" cy="644526"/>
          </a:xfrm>
          <a:prstGeom prst="rect">
            <a:avLst/>
          </a:prstGeom>
        </p:spPr>
        <p:txBody>
          <a:bodyPr anchor="t" rtlCol="false" tIns="0" lIns="0" bIns="0" rIns="0">
            <a:spAutoFit/>
          </a:bodyPr>
          <a:lstStyle/>
          <a:p>
            <a:pPr algn="l">
              <a:lnSpc>
                <a:spcPts val="4899"/>
              </a:lnSpc>
            </a:pPr>
            <a:r>
              <a:rPr lang="en-US" b="true" sz="3499" spc="174">
                <a:solidFill>
                  <a:srgbClr val="343434"/>
                </a:solidFill>
                <a:latin typeface="Telegraf Bold"/>
                <a:ea typeface="Telegraf Bold"/>
                <a:cs typeface="Telegraf Bold"/>
                <a:sym typeface="Telegraf Bold"/>
              </a:rPr>
              <a:t>Mục tiêu</a:t>
            </a:r>
            <a:r>
              <a:rPr lang="en-US" sz="3499" spc="174">
                <a:solidFill>
                  <a:srgbClr val="343434"/>
                </a:solidFill>
                <a:latin typeface="Telegraf"/>
                <a:ea typeface="Telegraf"/>
                <a:cs typeface="Telegraf"/>
                <a:sym typeface="Telegraf"/>
              </a:rPr>
              <a:t>: </a:t>
            </a:r>
          </a:p>
        </p:txBody>
      </p:sp>
      <p:sp>
        <p:nvSpPr>
          <p:cNvPr name="TextBox 16" id="16"/>
          <p:cNvSpPr txBox="true"/>
          <p:nvPr/>
        </p:nvSpPr>
        <p:spPr>
          <a:xfrm rot="0">
            <a:off x="1485822" y="4833750"/>
            <a:ext cx="4612125" cy="1391508"/>
          </a:xfrm>
          <a:prstGeom prst="rect">
            <a:avLst/>
          </a:prstGeom>
        </p:spPr>
        <p:txBody>
          <a:bodyPr anchor="t" rtlCol="false" tIns="0" lIns="0" bIns="0" rIns="0">
            <a:spAutoFit/>
          </a:bodyPr>
          <a:lstStyle/>
          <a:p>
            <a:pPr algn="l">
              <a:lnSpc>
                <a:spcPts val="3639"/>
              </a:lnSpc>
            </a:pPr>
            <a:r>
              <a:rPr lang="en-US" sz="2599" spc="129">
                <a:solidFill>
                  <a:srgbClr val="343434"/>
                </a:solidFill>
                <a:latin typeface="Telegraf"/>
                <a:ea typeface="Telegraf"/>
                <a:cs typeface="Telegraf"/>
                <a:sym typeface="Telegraf"/>
              </a:rPr>
              <a:t>Thu thập dữ liệu chất lượng</a:t>
            </a:r>
          </a:p>
          <a:p>
            <a:pPr algn="l">
              <a:lnSpc>
                <a:spcPts val="3639"/>
              </a:lnSpc>
            </a:pPr>
          </a:p>
        </p:txBody>
      </p:sp>
      <p:sp>
        <p:nvSpPr>
          <p:cNvPr name="TextBox 17" id="17"/>
          <p:cNvSpPr txBox="true"/>
          <p:nvPr/>
        </p:nvSpPr>
        <p:spPr>
          <a:xfrm rot="0">
            <a:off x="1485822" y="6237879"/>
            <a:ext cx="4612125" cy="1391508"/>
          </a:xfrm>
          <a:prstGeom prst="rect">
            <a:avLst/>
          </a:prstGeom>
        </p:spPr>
        <p:txBody>
          <a:bodyPr anchor="t" rtlCol="false" tIns="0" lIns="0" bIns="0" rIns="0">
            <a:spAutoFit/>
          </a:bodyPr>
          <a:lstStyle/>
          <a:p>
            <a:pPr algn="l">
              <a:lnSpc>
                <a:spcPts val="3639"/>
              </a:lnSpc>
            </a:pPr>
            <a:r>
              <a:rPr lang="en-US" sz="2599" spc="129">
                <a:solidFill>
                  <a:srgbClr val="343434"/>
                </a:solidFill>
                <a:latin typeface="Telegraf"/>
                <a:ea typeface="Telegraf"/>
                <a:cs typeface="Telegraf"/>
                <a:sym typeface="Telegraf"/>
              </a:rPr>
              <a:t>Input sạch sẽ cho các bước tiền xử lý, thuật toán máy học</a:t>
            </a:r>
          </a:p>
        </p:txBody>
      </p:sp>
      <p:sp>
        <p:nvSpPr>
          <p:cNvPr name="TextBox 18" id="18"/>
          <p:cNvSpPr txBox="true"/>
          <p:nvPr/>
        </p:nvSpPr>
        <p:spPr>
          <a:xfrm rot="0">
            <a:off x="1485822" y="8010387"/>
            <a:ext cx="4612125" cy="1391508"/>
          </a:xfrm>
          <a:prstGeom prst="rect">
            <a:avLst/>
          </a:prstGeom>
        </p:spPr>
        <p:txBody>
          <a:bodyPr anchor="t" rtlCol="false" tIns="0" lIns="0" bIns="0" rIns="0">
            <a:spAutoFit/>
          </a:bodyPr>
          <a:lstStyle/>
          <a:p>
            <a:pPr algn="l">
              <a:lnSpc>
                <a:spcPts val="3639"/>
              </a:lnSpc>
            </a:pPr>
            <a:r>
              <a:rPr lang="en-US" sz="2599" spc="129">
                <a:solidFill>
                  <a:srgbClr val="343434"/>
                </a:solidFill>
                <a:latin typeface="Telegraf"/>
                <a:ea typeface="Telegraf"/>
                <a:cs typeface="Telegraf"/>
                <a:sym typeface="Telegraf"/>
              </a:rPr>
              <a:t>Quyết định trực tiếp đến độ chính xác của model</a:t>
            </a:r>
          </a:p>
          <a:p>
            <a:pPr algn="l">
              <a:lnSpc>
                <a:spcPts val="3639"/>
              </a:lnSpc>
            </a:pPr>
          </a:p>
        </p:txBody>
      </p:sp>
      <p:sp>
        <p:nvSpPr>
          <p:cNvPr name="TextBox 19" id="19"/>
          <p:cNvSpPr txBox="true"/>
          <p:nvPr/>
        </p:nvSpPr>
        <p:spPr>
          <a:xfrm rot="0">
            <a:off x="6702814" y="3936855"/>
            <a:ext cx="3727611" cy="644526"/>
          </a:xfrm>
          <a:prstGeom prst="rect">
            <a:avLst/>
          </a:prstGeom>
        </p:spPr>
        <p:txBody>
          <a:bodyPr anchor="t" rtlCol="false" tIns="0" lIns="0" bIns="0" rIns="0">
            <a:spAutoFit/>
          </a:bodyPr>
          <a:lstStyle/>
          <a:p>
            <a:pPr algn="l">
              <a:lnSpc>
                <a:spcPts val="4899"/>
              </a:lnSpc>
            </a:pPr>
            <a:r>
              <a:rPr lang="en-US" b="true" sz="3499" spc="174">
                <a:solidFill>
                  <a:srgbClr val="343434"/>
                </a:solidFill>
                <a:latin typeface="Telegraf Bold"/>
                <a:ea typeface="Telegraf Bold"/>
                <a:cs typeface="Telegraf Bold"/>
                <a:sym typeface="Telegraf Bold"/>
              </a:rPr>
              <a:t>Cách tiếp cận:</a:t>
            </a:r>
          </a:p>
        </p:txBody>
      </p:sp>
      <p:sp>
        <p:nvSpPr>
          <p:cNvPr name="TextBox 20" id="20"/>
          <p:cNvSpPr txBox="true"/>
          <p:nvPr/>
        </p:nvSpPr>
        <p:spPr>
          <a:xfrm rot="0">
            <a:off x="6702814" y="4870024"/>
            <a:ext cx="4302357" cy="2595529"/>
          </a:xfrm>
          <a:prstGeom prst="rect">
            <a:avLst/>
          </a:prstGeom>
        </p:spPr>
        <p:txBody>
          <a:bodyPr anchor="t" rtlCol="false" tIns="0" lIns="0" bIns="0" rIns="0">
            <a:spAutoFit/>
          </a:bodyPr>
          <a:lstStyle/>
          <a:p>
            <a:pPr algn="l">
              <a:lnSpc>
                <a:spcPts val="3414"/>
              </a:lnSpc>
            </a:pPr>
            <a:r>
              <a:rPr lang="en-US" sz="2438" spc="121">
                <a:solidFill>
                  <a:srgbClr val="343434"/>
                </a:solidFill>
                <a:latin typeface="Telegraf"/>
                <a:ea typeface="Telegraf"/>
                <a:cs typeface="Telegraf"/>
                <a:sym typeface="Telegraf"/>
              </a:rPr>
              <a:t>Thu thập từ nguồn dữ liệu phù hợp như Yahoo Finance, Alpha Vantage</a:t>
            </a:r>
          </a:p>
          <a:p>
            <a:pPr algn="l">
              <a:lnSpc>
                <a:spcPts val="3414"/>
              </a:lnSpc>
            </a:pPr>
          </a:p>
          <a:p>
            <a:pPr algn="l">
              <a:lnSpc>
                <a:spcPts val="3414"/>
              </a:lnSpc>
            </a:pPr>
          </a:p>
          <a:p>
            <a:pPr algn="l">
              <a:lnSpc>
                <a:spcPts val="3414"/>
              </a:lnSpc>
            </a:pPr>
          </a:p>
        </p:txBody>
      </p:sp>
      <p:sp>
        <p:nvSpPr>
          <p:cNvPr name="TextBox 21" id="21"/>
          <p:cNvSpPr txBox="true"/>
          <p:nvPr/>
        </p:nvSpPr>
        <p:spPr>
          <a:xfrm rot="0">
            <a:off x="6702814" y="6656550"/>
            <a:ext cx="4302357" cy="1309654"/>
          </a:xfrm>
          <a:prstGeom prst="rect">
            <a:avLst/>
          </a:prstGeom>
        </p:spPr>
        <p:txBody>
          <a:bodyPr anchor="t" rtlCol="false" tIns="0" lIns="0" bIns="0" rIns="0">
            <a:spAutoFit/>
          </a:bodyPr>
          <a:lstStyle/>
          <a:p>
            <a:pPr algn="l">
              <a:lnSpc>
                <a:spcPts val="3414"/>
              </a:lnSpc>
            </a:pPr>
            <a:r>
              <a:rPr lang="en-US" sz="2438" spc="121">
                <a:solidFill>
                  <a:srgbClr val="343434"/>
                </a:solidFill>
                <a:latin typeface="Telegraf"/>
                <a:ea typeface="Telegraf"/>
                <a:cs typeface="Telegraf"/>
                <a:sym typeface="Telegraf"/>
              </a:rPr>
              <a:t>Tải xuống thông qua các nguồn database tin cậy</a:t>
            </a:r>
          </a:p>
          <a:p>
            <a:pPr algn="l">
              <a:lnSpc>
                <a:spcPts val="3414"/>
              </a:lnSpc>
            </a:pPr>
          </a:p>
        </p:txBody>
      </p:sp>
      <p:sp>
        <p:nvSpPr>
          <p:cNvPr name="TextBox 22" id="22"/>
          <p:cNvSpPr txBox="true"/>
          <p:nvPr/>
        </p:nvSpPr>
        <p:spPr>
          <a:xfrm rot="0">
            <a:off x="11614771" y="3936855"/>
            <a:ext cx="3856639" cy="1263651"/>
          </a:xfrm>
          <a:prstGeom prst="rect">
            <a:avLst/>
          </a:prstGeom>
        </p:spPr>
        <p:txBody>
          <a:bodyPr anchor="t" rtlCol="false" tIns="0" lIns="0" bIns="0" rIns="0">
            <a:spAutoFit/>
          </a:bodyPr>
          <a:lstStyle/>
          <a:p>
            <a:pPr algn="l">
              <a:lnSpc>
                <a:spcPts val="4899"/>
              </a:lnSpc>
            </a:pPr>
            <a:r>
              <a:rPr lang="en-US" b="true" sz="3499" spc="174">
                <a:solidFill>
                  <a:srgbClr val="343434"/>
                </a:solidFill>
                <a:latin typeface="Telegraf Bold"/>
                <a:ea typeface="Telegraf Bold"/>
                <a:cs typeface="Telegraf Bold"/>
                <a:sym typeface="Telegraf Bold"/>
              </a:rPr>
              <a:t>Các loại dữ liệu tài chính</a:t>
            </a:r>
          </a:p>
        </p:txBody>
      </p:sp>
      <p:sp>
        <p:nvSpPr>
          <p:cNvPr name="TextBox 23" id="23"/>
          <p:cNvSpPr txBox="true"/>
          <p:nvPr/>
        </p:nvSpPr>
        <p:spPr>
          <a:xfrm rot="0">
            <a:off x="11600862" y="5221919"/>
            <a:ext cx="4302357" cy="2166904"/>
          </a:xfrm>
          <a:prstGeom prst="rect">
            <a:avLst/>
          </a:prstGeom>
        </p:spPr>
        <p:txBody>
          <a:bodyPr anchor="t" rtlCol="false" tIns="0" lIns="0" bIns="0" rIns="0">
            <a:spAutoFit/>
          </a:bodyPr>
          <a:lstStyle/>
          <a:p>
            <a:pPr algn="l">
              <a:lnSpc>
                <a:spcPts val="3414"/>
              </a:lnSpc>
            </a:pPr>
            <a:r>
              <a:rPr lang="en-US" sz="2438" spc="121">
                <a:solidFill>
                  <a:srgbClr val="343434"/>
                </a:solidFill>
                <a:latin typeface="Telegraf"/>
                <a:ea typeface="Telegraf"/>
                <a:cs typeface="Telegraf"/>
                <a:sym typeface="Telegraf"/>
              </a:rPr>
              <a:t>Giá cổ phiếu</a:t>
            </a:r>
          </a:p>
          <a:p>
            <a:pPr algn="l">
              <a:lnSpc>
                <a:spcPts val="3414"/>
              </a:lnSpc>
            </a:pPr>
            <a:r>
              <a:rPr lang="en-US" sz="2438" spc="121">
                <a:solidFill>
                  <a:srgbClr val="343434"/>
                </a:solidFill>
                <a:latin typeface="Telegraf"/>
                <a:ea typeface="Telegraf"/>
                <a:cs typeface="Telegraf"/>
                <a:sym typeface="Telegraf"/>
              </a:rPr>
              <a:t>Dữ liệu cơ bản</a:t>
            </a:r>
          </a:p>
          <a:p>
            <a:pPr algn="l">
              <a:lnSpc>
                <a:spcPts val="3414"/>
              </a:lnSpc>
            </a:pPr>
            <a:r>
              <a:rPr lang="en-US" sz="2438" spc="121">
                <a:solidFill>
                  <a:srgbClr val="343434"/>
                </a:solidFill>
                <a:latin typeface="Telegraf"/>
                <a:ea typeface="Telegraf"/>
                <a:cs typeface="Telegraf"/>
                <a:sym typeface="Telegraf"/>
              </a:rPr>
              <a:t>Dữ liệu kinh tế vĩ mô</a:t>
            </a:r>
          </a:p>
          <a:p>
            <a:pPr algn="l">
              <a:lnSpc>
                <a:spcPts val="3414"/>
              </a:lnSpc>
            </a:pPr>
          </a:p>
          <a:p>
            <a:pPr algn="l">
              <a:lnSpc>
                <a:spcPts val="3414"/>
              </a:lnSpc>
            </a:pPr>
          </a:p>
        </p:txBody>
      </p:sp>
      <p:sp>
        <p:nvSpPr>
          <p:cNvPr name="TextBox 24" id="24"/>
          <p:cNvSpPr txBox="true"/>
          <p:nvPr/>
        </p:nvSpPr>
        <p:spPr>
          <a:xfrm rot="0">
            <a:off x="11614771" y="6931698"/>
            <a:ext cx="4302357" cy="2595529"/>
          </a:xfrm>
          <a:prstGeom prst="rect">
            <a:avLst/>
          </a:prstGeom>
        </p:spPr>
        <p:txBody>
          <a:bodyPr anchor="t" rtlCol="false" tIns="0" lIns="0" bIns="0" rIns="0">
            <a:spAutoFit/>
          </a:bodyPr>
          <a:lstStyle/>
          <a:p>
            <a:pPr algn="l">
              <a:lnSpc>
                <a:spcPts val="3414"/>
              </a:lnSpc>
            </a:pPr>
            <a:r>
              <a:rPr lang="en-US" sz="2438" spc="121">
                <a:solidFill>
                  <a:srgbClr val="343434"/>
                </a:solidFill>
                <a:latin typeface="Telegraf"/>
                <a:ea typeface="Telegraf"/>
                <a:cs typeface="Telegraf"/>
                <a:sym typeface="Telegraf"/>
              </a:rPr>
              <a:t>Dữ liệu phi truyền thống</a:t>
            </a:r>
          </a:p>
          <a:p>
            <a:pPr algn="l">
              <a:lnSpc>
                <a:spcPts val="3414"/>
              </a:lnSpc>
            </a:pPr>
            <a:r>
              <a:rPr lang="en-US" sz="2438" spc="121">
                <a:solidFill>
                  <a:srgbClr val="343434"/>
                </a:solidFill>
                <a:latin typeface="Telegraf"/>
                <a:ea typeface="Telegraf"/>
                <a:cs typeface="Telegraf"/>
                <a:sym typeface="Telegraf"/>
              </a:rPr>
              <a:t>như:</a:t>
            </a:r>
          </a:p>
          <a:p>
            <a:pPr algn="l">
              <a:lnSpc>
                <a:spcPts val="3414"/>
              </a:lnSpc>
            </a:pPr>
            <a:r>
              <a:rPr lang="en-US" sz="2438" spc="121">
                <a:solidFill>
                  <a:srgbClr val="343434"/>
                </a:solidFill>
                <a:latin typeface="Telegraf"/>
                <a:ea typeface="Telegraf"/>
                <a:cs typeface="Telegraf"/>
                <a:sym typeface="Telegraf"/>
              </a:rPr>
              <a:t>Ảnh vệ tinh</a:t>
            </a:r>
          </a:p>
          <a:p>
            <a:pPr algn="l">
              <a:lnSpc>
                <a:spcPts val="3414"/>
              </a:lnSpc>
            </a:pPr>
            <a:r>
              <a:rPr lang="en-US" sz="2438" spc="121">
                <a:solidFill>
                  <a:srgbClr val="343434"/>
                </a:solidFill>
                <a:latin typeface="Telegraf"/>
                <a:ea typeface="Telegraf"/>
                <a:cs typeface="Telegraf"/>
                <a:sym typeface="Telegraf"/>
              </a:rPr>
              <a:t>Dữ liệu cảm biến</a:t>
            </a:r>
          </a:p>
          <a:p>
            <a:pPr algn="l">
              <a:lnSpc>
                <a:spcPts val="3414"/>
              </a:lnSpc>
            </a:pPr>
            <a:r>
              <a:rPr lang="en-US" sz="2438" spc="121">
                <a:solidFill>
                  <a:srgbClr val="343434"/>
                </a:solidFill>
                <a:latin typeface="Telegraf"/>
                <a:ea typeface="Telegraf"/>
                <a:cs typeface="Telegraf"/>
                <a:sym typeface="Telegraf"/>
              </a:rPr>
              <a:t>Feedback từ khách hàng</a:t>
            </a:r>
          </a:p>
          <a:p>
            <a:pPr algn="l">
              <a:lnSpc>
                <a:spcPts val="3414"/>
              </a:lnSpc>
            </a:pPr>
          </a:p>
        </p:txBody>
      </p:sp>
    </p:spTree>
  </p:cSld>
  <p:clrMapOvr>
    <a:masterClrMapping/>
  </p:clrMapOvr>
</p:sld>
</file>

<file path=ppt/slides/slide6.xml><?xml version="1.0" encoding="utf-8"?>
<p:sld xmlns:p="http://schemas.openxmlformats.org/presentationml/2006/main" xmlns:a="http://schemas.openxmlformats.org/drawingml/2006/main" xmlns:r="http://schemas.openxmlformats.org/officeDocument/2006/relationships">
  <p:cSld>
    <p:bg>
      <p:bgPr>
        <a:solidFill>
          <a:srgbClr val="F2F7FA"/>
        </a:solidFill>
      </p:bgPr>
    </p:bg>
    <p:spTree>
      <p:nvGrpSpPr>
        <p:cNvPr id="1" name=""/>
        <p:cNvGrpSpPr/>
        <p:nvPr/>
      </p:nvGrpSpPr>
      <p:grpSpPr>
        <a:xfrm>
          <a:off x="0" y="0"/>
          <a:ext cx="0" cy="0"/>
          <a:chOff x="0" y="0"/>
          <a:chExt cx="0" cy="0"/>
        </a:xfrm>
      </p:grpSpPr>
      <p:sp>
        <p:nvSpPr>
          <p:cNvPr name="Freeform 2" id="2"/>
          <p:cNvSpPr/>
          <p:nvPr/>
        </p:nvSpPr>
        <p:spPr>
          <a:xfrm flipH="false" flipV="false" rot="225008">
            <a:off x="-467361" y="-2757747"/>
            <a:ext cx="12701350" cy="5382197"/>
          </a:xfrm>
          <a:custGeom>
            <a:avLst/>
            <a:gdLst/>
            <a:ahLst/>
            <a:cxnLst/>
            <a:rect r="r" b="b" t="t" l="l"/>
            <a:pathLst>
              <a:path h="5382197" w="12701350">
                <a:moveTo>
                  <a:pt x="0" y="0"/>
                </a:moveTo>
                <a:lnTo>
                  <a:pt x="12701349" y="0"/>
                </a:lnTo>
                <a:lnTo>
                  <a:pt x="12701349" y="5382197"/>
                </a:lnTo>
                <a:lnTo>
                  <a:pt x="0" y="5382197"/>
                </a:lnTo>
                <a:lnTo>
                  <a:pt x="0" y="0"/>
                </a:lnTo>
                <a:close/>
              </a:path>
            </a:pathLst>
          </a:custGeom>
          <a:blipFill>
            <a:blip r:embed="rId2"/>
            <a:stretch>
              <a:fillRect l="0" t="0" r="0" b="0"/>
            </a:stretch>
          </a:blipFill>
        </p:spPr>
      </p:sp>
      <p:sp>
        <p:nvSpPr>
          <p:cNvPr name="Freeform 3" id="3"/>
          <p:cNvSpPr/>
          <p:nvPr/>
        </p:nvSpPr>
        <p:spPr>
          <a:xfrm flipH="false" flipV="false" rot="0">
            <a:off x="12220973" y="7306236"/>
            <a:ext cx="11514218" cy="8506128"/>
          </a:xfrm>
          <a:custGeom>
            <a:avLst/>
            <a:gdLst/>
            <a:ahLst/>
            <a:cxnLst/>
            <a:rect r="r" b="b" t="t" l="l"/>
            <a:pathLst>
              <a:path h="8506128" w="11514218">
                <a:moveTo>
                  <a:pt x="0" y="0"/>
                </a:moveTo>
                <a:lnTo>
                  <a:pt x="11514218" y="0"/>
                </a:lnTo>
                <a:lnTo>
                  <a:pt x="11514218" y="8506129"/>
                </a:lnTo>
                <a:lnTo>
                  <a:pt x="0" y="8506129"/>
                </a:lnTo>
                <a:lnTo>
                  <a:pt x="0" y="0"/>
                </a:lnTo>
                <a:close/>
              </a:path>
            </a:pathLst>
          </a:custGeom>
          <a:blipFill>
            <a:blip r:embed="rId3"/>
            <a:stretch>
              <a:fillRect l="0" t="0" r="0" b="0"/>
            </a:stretch>
          </a:blipFill>
        </p:spPr>
      </p:sp>
      <p:grpSp>
        <p:nvGrpSpPr>
          <p:cNvPr name="Group 4" id="4"/>
          <p:cNvGrpSpPr/>
          <p:nvPr/>
        </p:nvGrpSpPr>
        <p:grpSpPr>
          <a:xfrm rot="0">
            <a:off x="17259300" y="-392510"/>
            <a:ext cx="1437565" cy="11072020"/>
            <a:chOff x="0" y="0"/>
            <a:chExt cx="378618" cy="2916088"/>
          </a:xfrm>
        </p:grpSpPr>
        <p:sp>
          <p:nvSpPr>
            <p:cNvPr name="Freeform 5" id="5"/>
            <p:cNvSpPr/>
            <p:nvPr/>
          </p:nvSpPr>
          <p:spPr>
            <a:xfrm flipH="false" flipV="false" rot="0">
              <a:off x="0" y="0"/>
              <a:ext cx="378618" cy="2916088"/>
            </a:xfrm>
            <a:custGeom>
              <a:avLst/>
              <a:gdLst/>
              <a:ahLst/>
              <a:cxnLst/>
              <a:rect r="r" b="b" t="t" l="l"/>
              <a:pathLst>
                <a:path h="2916088" w="378618">
                  <a:moveTo>
                    <a:pt x="0" y="0"/>
                  </a:moveTo>
                  <a:lnTo>
                    <a:pt x="378618" y="0"/>
                  </a:lnTo>
                  <a:lnTo>
                    <a:pt x="378618" y="2916088"/>
                  </a:lnTo>
                  <a:lnTo>
                    <a:pt x="0" y="2916088"/>
                  </a:lnTo>
                  <a:close/>
                </a:path>
              </a:pathLst>
            </a:custGeom>
            <a:gradFill rotWithShape="true">
              <a:gsLst>
                <a:gs pos="0">
                  <a:srgbClr val="E4B795">
                    <a:alpha val="100000"/>
                  </a:srgbClr>
                </a:gs>
                <a:gs pos="50000">
                  <a:srgbClr val="699ACD">
                    <a:alpha val="100000"/>
                  </a:srgbClr>
                </a:gs>
                <a:gs pos="100000">
                  <a:srgbClr val="2F679F">
                    <a:alpha val="100000"/>
                  </a:srgbClr>
                </a:gs>
              </a:gsLst>
              <a:path path="circle">
                <a:fillToRect l="0" r="100000" t="0" b="100000"/>
              </a:path>
              <a:tileRect r="0" l="-100000" b="0" t="-100000"/>
            </a:gradFill>
          </p:spPr>
        </p:sp>
        <p:sp>
          <p:nvSpPr>
            <p:cNvPr name="TextBox 6" id="6"/>
            <p:cNvSpPr txBox="true"/>
            <p:nvPr/>
          </p:nvSpPr>
          <p:spPr>
            <a:xfrm>
              <a:off x="0" y="-57150"/>
              <a:ext cx="378618" cy="2973238"/>
            </a:xfrm>
            <a:prstGeom prst="rect">
              <a:avLst/>
            </a:prstGeom>
          </p:spPr>
          <p:txBody>
            <a:bodyPr anchor="ctr" rtlCol="false" tIns="50800" lIns="50800" bIns="50800" rIns="50800"/>
            <a:lstStyle/>
            <a:p>
              <a:pPr algn="ctr">
                <a:lnSpc>
                  <a:spcPts val="3639"/>
                </a:lnSpc>
              </a:pPr>
            </a:p>
          </p:txBody>
        </p:sp>
      </p:grpSp>
      <p:sp>
        <p:nvSpPr>
          <p:cNvPr name="TextBox 7" id="7"/>
          <p:cNvSpPr txBox="true"/>
          <p:nvPr/>
        </p:nvSpPr>
        <p:spPr>
          <a:xfrm rot="0">
            <a:off x="8021110" y="782737"/>
            <a:ext cx="2492949" cy="351790"/>
          </a:xfrm>
          <a:prstGeom prst="rect">
            <a:avLst/>
          </a:prstGeom>
        </p:spPr>
        <p:txBody>
          <a:bodyPr anchor="t" rtlCol="false" tIns="0" lIns="0" bIns="0" rIns="0">
            <a:spAutoFit/>
          </a:bodyPr>
          <a:lstStyle/>
          <a:p>
            <a:pPr algn="l">
              <a:lnSpc>
                <a:spcPts val="2660"/>
              </a:lnSpc>
              <a:spcBef>
                <a:spcPct val="0"/>
              </a:spcBef>
            </a:pPr>
            <a:r>
              <a:rPr lang="en-US" sz="1900" spc="95">
                <a:solidFill>
                  <a:srgbClr val="164B82"/>
                </a:solidFill>
                <a:latin typeface="Telegraf Extra-Light"/>
                <a:ea typeface="Telegraf Extra-Light"/>
                <a:cs typeface="Telegraf Extra-Light"/>
                <a:sym typeface="Telegraf Extra-Light"/>
              </a:rPr>
              <a:t>Studio Shodwe</a:t>
            </a:r>
          </a:p>
        </p:txBody>
      </p:sp>
      <p:sp>
        <p:nvSpPr>
          <p:cNvPr name="TextBox 8" id="8"/>
          <p:cNvSpPr txBox="true"/>
          <p:nvPr/>
        </p:nvSpPr>
        <p:spPr>
          <a:xfrm rot="0">
            <a:off x="13305333" y="782737"/>
            <a:ext cx="1819999" cy="351790"/>
          </a:xfrm>
          <a:prstGeom prst="rect">
            <a:avLst/>
          </a:prstGeom>
        </p:spPr>
        <p:txBody>
          <a:bodyPr anchor="t" rtlCol="false" tIns="0" lIns="0" bIns="0" rIns="0">
            <a:spAutoFit/>
          </a:bodyPr>
          <a:lstStyle/>
          <a:p>
            <a:pPr algn="r">
              <a:lnSpc>
                <a:spcPts val="2660"/>
              </a:lnSpc>
              <a:spcBef>
                <a:spcPct val="0"/>
              </a:spcBef>
            </a:pPr>
            <a:r>
              <a:rPr lang="en-US" sz="1900" spc="95">
                <a:solidFill>
                  <a:srgbClr val="164B82"/>
                </a:solidFill>
                <a:latin typeface="Telegraf Extra-Light"/>
                <a:ea typeface="Telegraf Extra-Light"/>
                <a:cs typeface="Telegraf Extra-Light"/>
                <a:sym typeface="Telegraf Extra-Light"/>
              </a:rPr>
              <a:t>2024</a:t>
            </a:r>
          </a:p>
        </p:txBody>
      </p:sp>
      <p:sp>
        <p:nvSpPr>
          <p:cNvPr name="TextBox 9" id="9"/>
          <p:cNvSpPr txBox="true"/>
          <p:nvPr/>
        </p:nvSpPr>
        <p:spPr>
          <a:xfrm rot="0">
            <a:off x="11045641" y="782737"/>
            <a:ext cx="1819999" cy="351790"/>
          </a:xfrm>
          <a:prstGeom prst="rect">
            <a:avLst/>
          </a:prstGeom>
        </p:spPr>
        <p:txBody>
          <a:bodyPr anchor="t" rtlCol="false" tIns="0" lIns="0" bIns="0" rIns="0">
            <a:spAutoFit/>
          </a:bodyPr>
          <a:lstStyle/>
          <a:p>
            <a:pPr algn="ctr">
              <a:lnSpc>
                <a:spcPts val="2660"/>
              </a:lnSpc>
              <a:spcBef>
                <a:spcPct val="0"/>
              </a:spcBef>
            </a:pPr>
            <a:r>
              <a:rPr lang="en-US" sz="1900" spc="95">
                <a:solidFill>
                  <a:srgbClr val="164B82"/>
                </a:solidFill>
                <a:latin typeface="Telegraf Extra-Light"/>
                <a:ea typeface="Telegraf Extra-Light"/>
                <a:cs typeface="Telegraf Extra-Light"/>
                <a:sym typeface="Telegraf Extra-Light"/>
              </a:rPr>
              <a:t>Project.</a:t>
            </a:r>
          </a:p>
        </p:txBody>
      </p:sp>
      <p:grpSp>
        <p:nvGrpSpPr>
          <p:cNvPr name="Group 10" id="10"/>
          <p:cNvGrpSpPr/>
          <p:nvPr/>
        </p:nvGrpSpPr>
        <p:grpSpPr>
          <a:xfrm rot="5400000">
            <a:off x="11279340" y="-3711595"/>
            <a:ext cx="643045" cy="9407130"/>
            <a:chOff x="0" y="0"/>
            <a:chExt cx="169362" cy="2477598"/>
          </a:xfrm>
        </p:grpSpPr>
        <p:sp>
          <p:nvSpPr>
            <p:cNvPr name="Freeform 11" id="11"/>
            <p:cNvSpPr/>
            <p:nvPr/>
          </p:nvSpPr>
          <p:spPr>
            <a:xfrm flipH="false" flipV="false" rot="0">
              <a:off x="0" y="0"/>
              <a:ext cx="169362" cy="2477598"/>
            </a:xfrm>
            <a:custGeom>
              <a:avLst/>
              <a:gdLst/>
              <a:ahLst/>
              <a:cxnLst/>
              <a:rect r="r" b="b" t="t" l="l"/>
              <a:pathLst>
                <a:path h="2477598" w="169362">
                  <a:moveTo>
                    <a:pt x="84681" y="0"/>
                  </a:moveTo>
                  <a:lnTo>
                    <a:pt x="84681" y="0"/>
                  </a:lnTo>
                  <a:cubicBezTo>
                    <a:pt x="107140" y="0"/>
                    <a:pt x="128678" y="8922"/>
                    <a:pt x="144559" y="24802"/>
                  </a:cubicBezTo>
                  <a:cubicBezTo>
                    <a:pt x="160440" y="40683"/>
                    <a:pt x="169362" y="62222"/>
                    <a:pt x="169362" y="84681"/>
                  </a:cubicBezTo>
                  <a:lnTo>
                    <a:pt x="169362" y="2392917"/>
                  </a:lnTo>
                  <a:cubicBezTo>
                    <a:pt x="169362" y="2439685"/>
                    <a:pt x="131449" y="2477598"/>
                    <a:pt x="84681" y="2477598"/>
                  </a:cubicBezTo>
                  <a:lnTo>
                    <a:pt x="84681" y="2477598"/>
                  </a:lnTo>
                  <a:cubicBezTo>
                    <a:pt x="37913" y="2477598"/>
                    <a:pt x="0" y="2439685"/>
                    <a:pt x="0" y="2392917"/>
                  </a:cubicBezTo>
                  <a:lnTo>
                    <a:pt x="0" y="84681"/>
                  </a:lnTo>
                  <a:cubicBezTo>
                    <a:pt x="0" y="37913"/>
                    <a:pt x="37913" y="0"/>
                    <a:pt x="84681" y="0"/>
                  </a:cubicBezTo>
                  <a:close/>
                </a:path>
              </a:pathLst>
            </a:custGeom>
            <a:ln w="19050" cap="rnd">
              <a:solidFill>
                <a:srgbClr val="164B82"/>
              </a:solidFill>
              <a:prstDash val="solid"/>
              <a:round/>
            </a:ln>
          </p:spPr>
        </p:sp>
        <p:sp>
          <p:nvSpPr>
            <p:cNvPr name="TextBox 12" id="12"/>
            <p:cNvSpPr txBox="true"/>
            <p:nvPr/>
          </p:nvSpPr>
          <p:spPr>
            <a:xfrm>
              <a:off x="0" y="-57150"/>
              <a:ext cx="169362" cy="2534748"/>
            </a:xfrm>
            <a:prstGeom prst="rect">
              <a:avLst/>
            </a:prstGeom>
          </p:spPr>
          <p:txBody>
            <a:bodyPr anchor="ctr" rtlCol="false" tIns="50800" lIns="50800" bIns="50800" rIns="50800"/>
            <a:lstStyle/>
            <a:p>
              <a:pPr algn="ctr">
                <a:lnSpc>
                  <a:spcPts val="3639"/>
                </a:lnSpc>
              </a:pPr>
            </a:p>
          </p:txBody>
        </p:sp>
      </p:grpSp>
      <p:sp>
        <p:nvSpPr>
          <p:cNvPr name="Freeform 13" id="13"/>
          <p:cNvSpPr/>
          <p:nvPr/>
        </p:nvSpPr>
        <p:spPr>
          <a:xfrm flipH="false" flipV="false" rot="0">
            <a:off x="1223184" y="3869481"/>
            <a:ext cx="513870" cy="532222"/>
          </a:xfrm>
          <a:custGeom>
            <a:avLst/>
            <a:gdLst/>
            <a:ahLst/>
            <a:cxnLst/>
            <a:rect r="r" b="b" t="t" l="l"/>
            <a:pathLst>
              <a:path h="532222" w="513870">
                <a:moveTo>
                  <a:pt x="0" y="0"/>
                </a:moveTo>
                <a:lnTo>
                  <a:pt x="513870" y="0"/>
                </a:lnTo>
                <a:lnTo>
                  <a:pt x="513870" y="532222"/>
                </a:lnTo>
                <a:lnTo>
                  <a:pt x="0" y="532222"/>
                </a:lnTo>
                <a:lnTo>
                  <a:pt x="0" y="0"/>
                </a:lnTo>
                <a:close/>
              </a:path>
            </a:pathLst>
          </a:custGeom>
          <a:blipFill>
            <a:blip r:embed="rId4"/>
            <a:stretch>
              <a:fillRect l="0" t="0" r="0" b="0"/>
            </a:stretch>
          </a:blipFill>
        </p:spPr>
      </p:sp>
      <p:sp>
        <p:nvSpPr>
          <p:cNvPr name="TextBox 14" id="14"/>
          <p:cNvSpPr txBox="true"/>
          <p:nvPr/>
        </p:nvSpPr>
        <p:spPr>
          <a:xfrm rot="0">
            <a:off x="992940" y="2516550"/>
            <a:ext cx="17703925" cy="710373"/>
          </a:xfrm>
          <a:prstGeom prst="rect">
            <a:avLst/>
          </a:prstGeom>
        </p:spPr>
        <p:txBody>
          <a:bodyPr anchor="t" rtlCol="false" tIns="0" lIns="0" bIns="0" rIns="0">
            <a:spAutoFit/>
          </a:bodyPr>
          <a:lstStyle/>
          <a:p>
            <a:pPr algn="l">
              <a:lnSpc>
                <a:spcPts val="4927"/>
              </a:lnSpc>
            </a:pPr>
            <a:r>
              <a:rPr lang="en-US" sz="5080" b="true">
                <a:solidFill>
                  <a:srgbClr val="343434"/>
                </a:solidFill>
                <a:latin typeface="Telegraf Bold"/>
                <a:ea typeface="Telegraf Bold"/>
                <a:cs typeface="Telegraf Bold"/>
                <a:sym typeface="Telegraf Bold"/>
              </a:rPr>
              <a:t>CÁC NGUỒN CUNG CẤP DỮ LIỆU PHỔ BIẾN</a:t>
            </a:r>
          </a:p>
        </p:txBody>
      </p:sp>
      <p:sp>
        <p:nvSpPr>
          <p:cNvPr name="TextBox 15" id="15"/>
          <p:cNvSpPr txBox="true"/>
          <p:nvPr/>
        </p:nvSpPr>
        <p:spPr>
          <a:xfrm rot="0">
            <a:off x="2014604" y="3765027"/>
            <a:ext cx="13741732" cy="1182370"/>
          </a:xfrm>
          <a:prstGeom prst="rect">
            <a:avLst/>
          </a:prstGeom>
        </p:spPr>
        <p:txBody>
          <a:bodyPr anchor="t" rtlCol="false" tIns="0" lIns="0" bIns="0" rIns="0">
            <a:spAutoFit/>
          </a:bodyPr>
          <a:lstStyle/>
          <a:p>
            <a:pPr algn="l">
              <a:lnSpc>
                <a:spcPts val="3079"/>
              </a:lnSpc>
            </a:pPr>
            <a:r>
              <a:rPr lang="en-US" b="true" sz="2199" spc="109">
                <a:solidFill>
                  <a:srgbClr val="343434"/>
                </a:solidFill>
                <a:latin typeface="Telegraf Bold"/>
                <a:ea typeface="Telegraf Bold"/>
                <a:cs typeface="Telegraf Bold"/>
                <a:sym typeface="Telegraf Bold"/>
              </a:rPr>
              <a:t>Yahoo Finance (yfinance)</a:t>
            </a:r>
            <a:r>
              <a:rPr lang="en-US" sz="2199" spc="109">
                <a:solidFill>
                  <a:srgbClr val="343434"/>
                </a:solidFill>
                <a:latin typeface="Telegraf"/>
                <a:ea typeface="Telegraf"/>
                <a:cs typeface="Telegraf"/>
                <a:sym typeface="Telegraf"/>
              </a:rPr>
              <a:t>: Nguồn phổ biến và miễn phí. Cung cấp dữ liệu lịch sử OHLC (đã tự động điều chỉnh cho các đợt tách cổ phiếu), các yếu tố cơ bản và hệ số Beta.</a:t>
            </a:r>
          </a:p>
          <a:p>
            <a:pPr algn="l">
              <a:lnSpc>
                <a:spcPts val="3079"/>
              </a:lnSpc>
            </a:pPr>
          </a:p>
        </p:txBody>
      </p:sp>
      <p:sp>
        <p:nvSpPr>
          <p:cNvPr name="TextBox 16" id="16"/>
          <p:cNvSpPr txBox="true"/>
          <p:nvPr/>
        </p:nvSpPr>
        <p:spPr>
          <a:xfrm rot="0">
            <a:off x="2014604" y="5016385"/>
            <a:ext cx="13186632" cy="817880"/>
          </a:xfrm>
          <a:prstGeom prst="rect">
            <a:avLst/>
          </a:prstGeom>
        </p:spPr>
        <p:txBody>
          <a:bodyPr anchor="t" rtlCol="false" tIns="0" lIns="0" bIns="0" rIns="0">
            <a:spAutoFit/>
          </a:bodyPr>
          <a:lstStyle/>
          <a:p>
            <a:pPr algn="l">
              <a:lnSpc>
                <a:spcPts val="3219"/>
              </a:lnSpc>
            </a:pPr>
            <a:r>
              <a:rPr lang="en-US" b="true" sz="2299" spc="114">
                <a:solidFill>
                  <a:srgbClr val="343434"/>
                </a:solidFill>
                <a:latin typeface="Telegraf Bold"/>
                <a:ea typeface="Telegraf Bold"/>
                <a:cs typeface="Telegraf Bold"/>
                <a:sym typeface="Telegraf Bold"/>
              </a:rPr>
              <a:t>Nasdaq Data Link (Quandl</a:t>
            </a:r>
            <a:r>
              <a:rPr lang="en-US" b="true" sz="2299" spc="114">
                <a:solidFill>
                  <a:srgbClr val="343434"/>
                </a:solidFill>
                <a:latin typeface="Telegraf Medium"/>
                <a:ea typeface="Telegraf Medium"/>
                <a:cs typeface="Telegraf Medium"/>
                <a:sym typeface="Telegraf Medium"/>
              </a:rPr>
              <a:t>):</a:t>
            </a:r>
            <a:r>
              <a:rPr lang="en-US" sz="2299" spc="114">
                <a:solidFill>
                  <a:srgbClr val="343434"/>
                </a:solidFill>
                <a:latin typeface="Telegraf"/>
                <a:ea typeface="Telegraf"/>
                <a:cs typeface="Telegraf"/>
                <a:sym typeface="Telegraf"/>
              </a:rPr>
              <a:t> Nguồn cung cấp tin cậy cho quỹ đầu tư và ngân hàng. Tốt để khai thác "informational edge" tạo ra Alpha.</a:t>
            </a:r>
          </a:p>
        </p:txBody>
      </p:sp>
      <p:sp>
        <p:nvSpPr>
          <p:cNvPr name="TextBox 17" id="17"/>
          <p:cNvSpPr txBox="true"/>
          <p:nvPr/>
        </p:nvSpPr>
        <p:spPr>
          <a:xfrm rot="0">
            <a:off x="2014604" y="6234950"/>
            <a:ext cx="13186632" cy="817880"/>
          </a:xfrm>
          <a:prstGeom prst="rect">
            <a:avLst/>
          </a:prstGeom>
        </p:spPr>
        <p:txBody>
          <a:bodyPr anchor="t" rtlCol="false" tIns="0" lIns="0" bIns="0" rIns="0">
            <a:spAutoFit/>
          </a:bodyPr>
          <a:lstStyle/>
          <a:p>
            <a:pPr algn="l">
              <a:lnSpc>
                <a:spcPts val="3219"/>
              </a:lnSpc>
            </a:pPr>
            <a:r>
              <a:rPr lang="en-US" b="true" sz="2299" spc="114">
                <a:solidFill>
                  <a:srgbClr val="343434"/>
                </a:solidFill>
                <a:latin typeface="Telegraf Bold"/>
                <a:ea typeface="Telegraf Bold"/>
                <a:cs typeface="Telegraf Bold"/>
                <a:sym typeface="Telegraf Bold"/>
              </a:rPr>
              <a:t>Intrinio: </a:t>
            </a:r>
            <a:r>
              <a:rPr lang="en-US" sz="2299" spc="114">
                <a:solidFill>
                  <a:srgbClr val="343434"/>
                </a:solidFill>
                <a:latin typeface="Telegraf"/>
                <a:ea typeface="Telegraf"/>
                <a:cs typeface="Telegraf"/>
                <a:sym typeface="Telegraf"/>
              </a:rPr>
              <a:t>Nổi bật với dữ</a:t>
            </a:r>
            <a:r>
              <a:rPr lang="en-US" sz="2299" spc="114">
                <a:solidFill>
                  <a:srgbClr val="343434"/>
                </a:solidFill>
                <a:latin typeface="Telegraf"/>
                <a:ea typeface="Telegraf"/>
                <a:cs typeface="Telegraf"/>
                <a:sym typeface="Telegraf"/>
              </a:rPr>
              <a:t> liệu lịch sử trong ngày (intraday), giá cổ phiếu thời gian thực, thông tin công ty và lịch trình IPOs.</a:t>
            </a:r>
          </a:p>
        </p:txBody>
      </p:sp>
      <p:sp>
        <p:nvSpPr>
          <p:cNvPr name="TextBox 18" id="18"/>
          <p:cNvSpPr txBox="true"/>
          <p:nvPr/>
        </p:nvSpPr>
        <p:spPr>
          <a:xfrm rot="0">
            <a:off x="2014604" y="7453515"/>
            <a:ext cx="13186632" cy="817880"/>
          </a:xfrm>
          <a:prstGeom prst="rect">
            <a:avLst/>
          </a:prstGeom>
        </p:spPr>
        <p:txBody>
          <a:bodyPr anchor="t" rtlCol="false" tIns="0" lIns="0" bIns="0" rIns="0">
            <a:spAutoFit/>
          </a:bodyPr>
          <a:lstStyle/>
          <a:p>
            <a:pPr algn="l">
              <a:lnSpc>
                <a:spcPts val="3219"/>
              </a:lnSpc>
            </a:pPr>
            <a:r>
              <a:rPr lang="en-US" b="true" sz="2299" spc="114">
                <a:solidFill>
                  <a:srgbClr val="343434"/>
                </a:solidFill>
                <a:latin typeface="Telegraf Bold"/>
                <a:ea typeface="Telegraf Bold"/>
                <a:cs typeface="Telegraf Bold"/>
                <a:sym typeface="Telegraf Bold"/>
              </a:rPr>
              <a:t>Alpha Vantage &amp; CoinGecko: </a:t>
            </a:r>
            <a:r>
              <a:rPr lang="en-US" sz="2299" spc="114">
                <a:solidFill>
                  <a:srgbClr val="343434"/>
                </a:solidFill>
                <a:latin typeface="Telegraf"/>
                <a:ea typeface="Telegraf"/>
                <a:cs typeface="Telegraf"/>
                <a:sym typeface="Telegraf"/>
              </a:rPr>
              <a:t>Chuyên cung cấp API</a:t>
            </a:r>
            <a:r>
              <a:rPr lang="en-US" sz="2299" spc="114">
                <a:solidFill>
                  <a:srgbClr val="343434"/>
                </a:solidFill>
                <a:latin typeface="Telegraf"/>
                <a:ea typeface="Telegraf"/>
                <a:cs typeface="Telegraf"/>
                <a:sym typeface="Telegraf"/>
              </a:rPr>
              <a:t> chất lượng cho Forex, tỷ giá Cryptocurrency, chỉ báo kỹ thuật (50+) và chỉ số kinh tế vĩ mô.</a:t>
            </a:r>
          </a:p>
        </p:txBody>
      </p:sp>
      <p:sp>
        <p:nvSpPr>
          <p:cNvPr name="Freeform 19" id="19"/>
          <p:cNvSpPr/>
          <p:nvPr/>
        </p:nvSpPr>
        <p:spPr>
          <a:xfrm flipH="false" flipV="false" rot="0">
            <a:off x="1223184" y="6401318"/>
            <a:ext cx="513870" cy="532222"/>
          </a:xfrm>
          <a:custGeom>
            <a:avLst/>
            <a:gdLst/>
            <a:ahLst/>
            <a:cxnLst/>
            <a:rect r="r" b="b" t="t" l="l"/>
            <a:pathLst>
              <a:path h="532222" w="513870">
                <a:moveTo>
                  <a:pt x="0" y="0"/>
                </a:moveTo>
                <a:lnTo>
                  <a:pt x="513870" y="0"/>
                </a:lnTo>
                <a:lnTo>
                  <a:pt x="513870" y="532223"/>
                </a:lnTo>
                <a:lnTo>
                  <a:pt x="0" y="532223"/>
                </a:lnTo>
                <a:lnTo>
                  <a:pt x="0" y="0"/>
                </a:lnTo>
                <a:close/>
              </a:path>
            </a:pathLst>
          </a:custGeom>
          <a:blipFill>
            <a:blip r:embed="rId5"/>
            <a:stretch>
              <a:fillRect l="0" t="-6000" r="0" b="-6000"/>
            </a:stretch>
          </a:blipFill>
        </p:spPr>
      </p:sp>
      <p:sp>
        <p:nvSpPr>
          <p:cNvPr name="Freeform 20" id="20"/>
          <p:cNvSpPr/>
          <p:nvPr/>
        </p:nvSpPr>
        <p:spPr>
          <a:xfrm flipH="false" flipV="false" rot="0">
            <a:off x="1223184" y="5182753"/>
            <a:ext cx="513870" cy="532222"/>
          </a:xfrm>
          <a:custGeom>
            <a:avLst/>
            <a:gdLst/>
            <a:ahLst/>
            <a:cxnLst/>
            <a:rect r="r" b="b" t="t" l="l"/>
            <a:pathLst>
              <a:path h="532222" w="513870">
                <a:moveTo>
                  <a:pt x="0" y="0"/>
                </a:moveTo>
                <a:lnTo>
                  <a:pt x="513870" y="0"/>
                </a:lnTo>
                <a:lnTo>
                  <a:pt x="513870" y="532223"/>
                </a:lnTo>
                <a:lnTo>
                  <a:pt x="0" y="532223"/>
                </a:lnTo>
                <a:lnTo>
                  <a:pt x="0" y="0"/>
                </a:lnTo>
                <a:close/>
              </a:path>
            </a:pathLst>
          </a:custGeom>
          <a:blipFill>
            <a:blip r:embed="rId6"/>
            <a:stretch>
              <a:fillRect l="0" t="-6000" r="0" b="-6000"/>
            </a:stretch>
          </a:blipFill>
        </p:spPr>
      </p:sp>
      <p:sp>
        <p:nvSpPr>
          <p:cNvPr name="Freeform 21" id="21"/>
          <p:cNvSpPr/>
          <p:nvPr/>
        </p:nvSpPr>
        <p:spPr>
          <a:xfrm flipH="false" flipV="false" rot="0">
            <a:off x="1108008" y="7619883"/>
            <a:ext cx="629046" cy="651512"/>
          </a:xfrm>
          <a:custGeom>
            <a:avLst/>
            <a:gdLst/>
            <a:ahLst/>
            <a:cxnLst/>
            <a:rect r="r" b="b" t="t" l="l"/>
            <a:pathLst>
              <a:path h="651512" w="629046">
                <a:moveTo>
                  <a:pt x="0" y="0"/>
                </a:moveTo>
                <a:lnTo>
                  <a:pt x="629046" y="0"/>
                </a:lnTo>
                <a:lnTo>
                  <a:pt x="629046" y="651512"/>
                </a:lnTo>
                <a:lnTo>
                  <a:pt x="0" y="651512"/>
                </a:lnTo>
                <a:lnTo>
                  <a:pt x="0" y="0"/>
                </a:lnTo>
                <a:close/>
              </a:path>
            </a:pathLst>
          </a:custGeom>
          <a:blipFill>
            <a:blip r:embed="rId7"/>
            <a:stretch>
              <a:fillRect l="0" t="0" r="0" b="0"/>
            </a:stretch>
          </a:blipFill>
        </p:spPr>
      </p:sp>
    </p:spTree>
  </p:cSld>
  <p:clrMapOvr>
    <a:masterClrMapping/>
  </p:clrMapOvr>
</p:sld>
</file>

<file path=ppt/slides/slide7.xml><?xml version="1.0" encoding="utf-8"?>
<p:sld xmlns:p="http://schemas.openxmlformats.org/presentationml/2006/main" xmlns:a="http://schemas.openxmlformats.org/drawingml/2006/main" xmlns:r="http://schemas.openxmlformats.org/officeDocument/2006/relationships">
  <p:cSld>
    <p:bg>
      <p:bgPr>
        <a:solidFill>
          <a:srgbClr val="F2F7FA"/>
        </a:solidFill>
      </p:bgPr>
    </p:bg>
    <p:spTree>
      <p:nvGrpSpPr>
        <p:cNvPr id="1" name=""/>
        <p:cNvGrpSpPr/>
        <p:nvPr/>
      </p:nvGrpSpPr>
      <p:grpSpPr>
        <a:xfrm>
          <a:off x="0" y="0"/>
          <a:ext cx="0" cy="0"/>
          <a:chOff x="0" y="0"/>
          <a:chExt cx="0" cy="0"/>
        </a:xfrm>
      </p:grpSpPr>
      <p:sp>
        <p:nvSpPr>
          <p:cNvPr name="Freeform 2" id="2"/>
          <p:cNvSpPr/>
          <p:nvPr/>
        </p:nvSpPr>
        <p:spPr>
          <a:xfrm flipH="false" flipV="false" rot="225008">
            <a:off x="1875" y="-2691098"/>
            <a:ext cx="12701350" cy="5382197"/>
          </a:xfrm>
          <a:custGeom>
            <a:avLst/>
            <a:gdLst/>
            <a:ahLst/>
            <a:cxnLst/>
            <a:rect r="r" b="b" t="t" l="l"/>
            <a:pathLst>
              <a:path h="5382197" w="12701350">
                <a:moveTo>
                  <a:pt x="0" y="0"/>
                </a:moveTo>
                <a:lnTo>
                  <a:pt x="12701349" y="0"/>
                </a:lnTo>
                <a:lnTo>
                  <a:pt x="12701349" y="5382196"/>
                </a:lnTo>
                <a:lnTo>
                  <a:pt x="0" y="5382196"/>
                </a:lnTo>
                <a:lnTo>
                  <a:pt x="0" y="0"/>
                </a:lnTo>
                <a:close/>
              </a:path>
            </a:pathLst>
          </a:custGeom>
          <a:blipFill>
            <a:blip r:embed="rId3"/>
            <a:stretch>
              <a:fillRect l="0" t="0" r="0" b="0"/>
            </a:stretch>
          </a:blipFill>
        </p:spPr>
      </p:sp>
      <p:sp>
        <p:nvSpPr>
          <p:cNvPr name="Freeform 3" id="3"/>
          <p:cNvSpPr/>
          <p:nvPr/>
        </p:nvSpPr>
        <p:spPr>
          <a:xfrm flipH="false" flipV="false" rot="0">
            <a:off x="12220973" y="7306236"/>
            <a:ext cx="11514218" cy="8506128"/>
          </a:xfrm>
          <a:custGeom>
            <a:avLst/>
            <a:gdLst/>
            <a:ahLst/>
            <a:cxnLst/>
            <a:rect r="r" b="b" t="t" l="l"/>
            <a:pathLst>
              <a:path h="8506128" w="11514218">
                <a:moveTo>
                  <a:pt x="0" y="0"/>
                </a:moveTo>
                <a:lnTo>
                  <a:pt x="11514218" y="0"/>
                </a:lnTo>
                <a:lnTo>
                  <a:pt x="11514218" y="8506129"/>
                </a:lnTo>
                <a:lnTo>
                  <a:pt x="0" y="8506129"/>
                </a:lnTo>
                <a:lnTo>
                  <a:pt x="0" y="0"/>
                </a:lnTo>
                <a:close/>
              </a:path>
            </a:pathLst>
          </a:custGeom>
          <a:blipFill>
            <a:blip r:embed="rId4"/>
            <a:stretch>
              <a:fillRect l="0" t="0" r="0" b="0"/>
            </a:stretch>
          </a:blipFill>
        </p:spPr>
      </p:sp>
      <p:grpSp>
        <p:nvGrpSpPr>
          <p:cNvPr name="Group 4" id="4"/>
          <p:cNvGrpSpPr/>
          <p:nvPr/>
        </p:nvGrpSpPr>
        <p:grpSpPr>
          <a:xfrm rot="0">
            <a:off x="17569218" y="-392510"/>
            <a:ext cx="1437565" cy="11072020"/>
            <a:chOff x="0" y="0"/>
            <a:chExt cx="378618" cy="2916088"/>
          </a:xfrm>
        </p:grpSpPr>
        <p:sp>
          <p:nvSpPr>
            <p:cNvPr name="Freeform 5" id="5"/>
            <p:cNvSpPr/>
            <p:nvPr/>
          </p:nvSpPr>
          <p:spPr>
            <a:xfrm flipH="false" flipV="false" rot="0">
              <a:off x="0" y="0"/>
              <a:ext cx="378618" cy="2916088"/>
            </a:xfrm>
            <a:custGeom>
              <a:avLst/>
              <a:gdLst/>
              <a:ahLst/>
              <a:cxnLst/>
              <a:rect r="r" b="b" t="t" l="l"/>
              <a:pathLst>
                <a:path h="2916088" w="378618">
                  <a:moveTo>
                    <a:pt x="0" y="0"/>
                  </a:moveTo>
                  <a:lnTo>
                    <a:pt x="378618" y="0"/>
                  </a:lnTo>
                  <a:lnTo>
                    <a:pt x="378618" y="2916088"/>
                  </a:lnTo>
                  <a:lnTo>
                    <a:pt x="0" y="2916088"/>
                  </a:lnTo>
                  <a:close/>
                </a:path>
              </a:pathLst>
            </a:custGeom>
            <a:gradFill rotWithShape="true">
              <a:gsLst>
                <a:gs pos="0">
                  <a:srgbClr val="E4B795">
                    <a:alpha val="100000"/>
                  </a:srgbClr>
                </a:gs>
                <a:gs pos="50000">
                  <a:srgbClr val="699ACD">
                    <a:alpha val="100000"/>
                  </a:srgbClr>
                </a:gs>
                <a:gs pos="100000">
                  <a:srgbClr val="2F679F">
                    <a:alpha val="100000"/>
                  </a:srgbClr>
                </a:gs>
              </a:gsLst>
              <a:path path="circle">
                <a:fillToRect l="0" r="100000" t="0" b="100000"/>
              </a:path>
              <a:tileRect r="0" l="-100000" b="0" t="-100000"/>
            </a:gradFill>
          </p:spPr>
        </p:sp>
        <p:sp>
          <p:nvSpPr>
            <p:cNvPr name="TextBox 6" id="6"/>
            <p:cNvSpPr txBox="true"/>
            <p:nvPr/>
          </p:nvSpPr>
          <p:spPr>
            <a:xfrm>
              <a:off x="0" y="-57150"/>
              <a:ext cx="378618" cy="2973238"/>
            </a:xfrm>
            <a:prstGeom prst="rect">
              <a:avLst/>
            </a:prstGeom>
          </p:spPr>
          <p:txBody>
            <a:bodyPr anchor="ctr" rtlCol="false" tIns="50800" lIns="50800" bIns="50800" rIns="50800"/>
            <a:lstStyle/>
            <a:p>
              <a:pPr algn="ctr">
                <a:lnSpc>
                  <a:spcPts val="3639"/>
                </a:lnSpc>
              </a:pPr>
            </a:p>
          </p:txBody>
        </p:sp>
      </p:grpSp>
      <p:sp>
        <p:nvSpPr>
          <p:cNvPr name="Freeform 7" id="7"/>
          <p:cNvSpPr/>
          <p:nvPr/>
        </p:nvSpPr>
        <p:spPr>
          <a:xfrm flipH="false" flipV="false" rot="0">
            <a:off x="2054203" y="3039248"/>
            <a:ext cx="5544282" cy="3063619"/>
          </a:xfrm>
          <a:custGeom>
            <a:avLst/>
            <a:gdLst/>
            <a:ahLst/>
            <a:cxnLst/>
            <a:rect r="r" b="b" t="t" l="l"/>
            <a:pathLst>
              <a:path h="3063619" w="5544282">
                <a:moveTo>
                  <a:pt x="0" y="0"/>
                </a:moveTo>
                <a:lnTo>
                  <a:pt x="5544282" y="0"/>
                </a:lnTo>
                <a:lnTo>
                  <a:pt x="5544282" y="3063618"/>
                </a:lnTo>
                <a:lnTo>
                  <a:pt x="0" y="3063618"/>
                </a:lnTo>
                <a:lnTo>
                  <a:pt x="0" y="0"/>
                </a:lnTo>
                <a:close/>
              </a:path>
            </a:pathLst>
          </a:custGeom>
          <a:blipFill>
            <a:blip r:embed="rId5"/>
            <a:stretch>
              <a:fillRect l="0" t="0" r="0" b="0"/>
            </a:stretch>
          </a:blipFill>
        </p:spPr>
      </p:sp>
      <p:sp>
        <p:nvSpPr>
          <p:cNvPr name="Freeform 8" id="8"/>
          <p:cNvSpPr/>
          <p:nvPr/>
        </p:nvSpPr>
        <p:spPr>
          <a:xfrm flipH="false" flipV="false" rot="0">
            <a:off x="1449150" y="6888399"/>
            <a:ext cx="8448778" cy="3101628"/>
          </a:xfrm>
          <a:custGeom>
            <a:avLst/>
            <a:gdLst/>
            <a:ahLst/>
            <a:cxnLst/>
            <a:rect r="r" b="b" t="t" l="l"/>
            <a:pathLst>
              <a:path h="3101628" w="8448778">
                <a:moveTo>
                  <a:pt x="0" y="0"/>
                </a:moveTo>
                <a:lnTo>
                  <a:pt x="8448778" y="0"/>
                </a:lnTo>
                <a:lnTo>
                  <a:pt x="8448778" y="3101628"/>
                </a:lnTo>
                <a:lnTo>
                  <a:pt x="0" y="3101628"/>
                </a:lnTo>
                <a:lnTo>
                  <a:pt x="0" y="0"/>
                </a:lnTo>
                <a:close/>
              </a:path>
            </a:pathLst>
          </a:custGeom>
          <a:blipFill>
            <a:blip r:embed="rId6"/>
            <a:stretch>
              <a:fillRect l="0" t="0" r="0" b="0"/>
            </a:stretch>
          </a:blipFill>
        </p:spPr>
      </p:sp>
      <p:sp>
        <p:nvSpPr>
          <p:cNvPr name="TextBox 9" id="9"/>
          <p:cNvSpPr txBox="true"/>
          <p:nvPr/>
        </p:nvSpPr>
        <p:spPr>
          <a:xfrm rot="0">
            <a:off x="601955" y="1168938"/>
            <a:ext cx="17703925" cy="1329498"/>
          </a:xfrm>
          <a:prstGeom prst="rect">
            <a:avLst/>
          </a:prstGeom>
        </p:spPr>
        <p:txBody>
          <a:bodyPr anchor="t" rtlCol="false" tIns="0" lIns="0" bIns="0" rIns="0">
            <a:spAutoFit/>
          </a:bodyPr>
          <a:lstStyle/>
          <a:p>
            <a:pPr algn="l">
              <a:lnSpc>
                <a:spcPts val="4927"/>
              </a:lnSpc>
            </a:pPr>
            <a:r>
              <a:rPr lang="en-US" sz="5080" b="true">
                <a:solidFill>
                  <a:srgbClr val="343434"/>
                </a:solidFill>
                <a:latin typeface="Telegraf Bold"/>
                <a:ea typeface="Telegraf Bold"/>
                <a:cs typeface="Telegraf Bold"/>
                <a:sym typeface="Telegraf Bold"/>
              </a:rPr>
              <a:t>THU THẬP DỮ LIỆU CRYPTO - BTC BẰNG YAHOO FINANCE</a:t>
            </a:r>
          </a:p>
        </p:txBody>
      </p:sp>
      <p:sp>
        <p:nvSpPr>
          <p:cNvPr name="TextBox 10" id="10"/>
          <p:cNvSpPr txBox="true"/>
          <p:nvPr/>
        </p:nvSpPr>
        <p:spPr>
          <a:xfrm rot="0">
            <a:off x="1028700" y="6064766"/>
            <a:ext cx="6233294" cy="575983"/>
          </a:xfrm>
          <a:prstGeom prst="rect">
            <a:avLst/>
          </a:prstGeom>
        </p:spPr>
        <p:txBody>
          <a:bodyPr anchor="t" rtlCol="false" tIns="0" lIns="0" bIns="0" rIns="0">
            <a:spAutoFit/>
          </a:bodyPr>
          <a:lstStyle/>
          <a:p>
            <a:pPr algn="l" marL="0" indent="0" lvl="1">
              <a:lnSpc>
                <a:spcPts val="4479"/>
              </a:lnSpc>
              <a:spcBef>
                <a:spcPct val="0"/>
              </a:spcBef>
            </a:pPr>
            <a:r>
              <a:rPr lang="en-US" b="true" sz="3199" spc="159">
                <a:solidFill>
                  <a:srgbClr val="343434"/>
                </a:solidFill>
                <a:latin typeface="Telegraf Bold"/>
                <a:ea typeface="Telegraf Bold"/>
                <a:cs typeface="Telegraf Bold"/>
                <a:sym typeface="Telegraf Bold"/>
              </a:rPr>
              <a:t>Preview head của bộ dữ liệu</a:t>
            </a:r>
          </a:p>
        </p:txBody>
      </p:sp>
      <p:sp>
        <p:nvSpPr>
          <p:cNvPr name="TextBox 11" id="11"/>
          <p:cNvSpPr txBox="true"/>
          <p:nvPr/>
        </p:nvSpPr>
        <p:spPr>
          <a:xfrm rot="0">
            <a:off x="8201526" y="3205793"/>
            <a:ext cx="8764652" cy="2305685"/>
          </a:xfrm>
          <a:prstGeom prst="rect">
            <a:avLst/>
          </a:prstGeom>
        </p:spPr>
        <p:txBody>
          <a:bodyPr anchor="t" rtlCol="false" tIns="0" lIns="0" bIns="0" rIns="0">
            <a:spAutoFit/>
          </a:bodyPr>
          <a:lstStyle/>
          <a:p>
            <a:pPr algn="l">
              <a:lnSpc>
                <a:spcPts val="3639"/>
              </a:lnSpc>
            </a:pPr>
            <a:r>
              <a:rPr lang="en-US" sz="2599" spc="129" b="true">
                <a:solidFill>
                  <a:srgbClr val="343434"/>
                </a:solidFill>
                <a:latin typeface="Telegraf Bold"/>
                <a:ea typeface="Telegraf Bold"/>
                <a:cs typeface="Telegraf Bold"/>
                <a:sym typeface="Telegraf Bold"/>
              </a:rPr>
              <a:t>Cách thực hiện:</a:t>
            </a:r>
          </a:p>
          <a:p>
            <a:pPr algn="l">
              <a:lnSpc>
                <a:spcPts val="3639"/>
              </a:lnSpc>
            </a:pPr>
            <a:r>
              <a:rPr lang="en-US" sz="2599" spc="129">
                <a:solidFill>
                  <a:srgbClr val="343434"/>
                </a:solidFill>
                <a:latin typeface="Telegraf"/>
                <a:ea typeface="Telegraf"/>
                <a:cs typeface="Telegraf"/>
                <a:sym typeface="Telegraf"/>
              </a:rPr>
              <a:t>Import thư viện yfinance, sử dụng hàm download </a:t>
            </a:r>
          </a:p>
          <a:p>
            <a:pPr algn="l">
              <a:lnSpc>
                <a:spcPts val="3639"/>
              </a:lnSpc>
            </a:pPr>
            <a:r>
              <a:rPr lang="en-US" sz="2599" spc="129">
                <a:solidFill>
                  <a:srgbClr val="343434"/>
                </a:solidFill>
                <a:latin typeface="Telegraf"/>
                <a:ea typeface="Telegraf"/>
                <a:cs typeface="Telegraf"/>
                <a:sym typeface="Telegraf"/>
              </a:rPr>
              <a:t>Chọn khoảng thời gian cần thu thập (start - end)</a:t>
            </a:r>
          </a:p>
          <a:p>
            <a:pPr algn="l">
              <a:lnSpc>
                <a:spcPts val="3639"/>
              </a:lnSpc>
            </a:pPr>
            <a:r>
              <a:rPr lang="en-US" sz="2599" spc="129">
                <a:solidFill>
                  <a:srgbClr val="343434"/>
                </a:solidFill>
                <a:latin typeface="Telegraf"/>
                <a:ea typeface="Telegraf"/>
                <a:cs typeface="Telegraf"/>
                <a:sym typeface="Telegraf"/>
              </a:rPr>
              <a:t>Chọn tần suất dữ liệu (daily)</a:t>
            </a:r>
          </a:p>
          <a:p>
            <a:pPr algn="l" marL="0" indent="0" lvl="1">
              <a:lnSpc>
                <a:spcPts val="3639"/>
              </a:lnSpc>
              <a:spcBef>
                <a:spcPct val="0"/>
              </a:spcBef>
            </a:pPr>
            <a:r>
              <a:rPr lang="en-US" sz="2599" spc="129">
                <a:solidFill>
                  <a:srgbClr val="343434"/>
                </a:solidFill>
                <a:latin typeface="Telegraf"/>
                <a:ea typeface="Telegraf"/>
                <a:cs typeface="Telegraf"/>
                <a:sym typeface="Telegraf"/>
              </a:rPr>
              <a:t>Sử dụng Symbol để làm mã chứng khoán</a:t>
            </a:r>
          </a:p>
        </p:txBody>
      </p:sp>
      <p:sp>
        <p:nvSpPr>
          <p:cNvPr name="TextBox 12" id="12"/>
          <p:cNvSpPr txBox="true"/>
          <p:nvPr/>
        </p:nvSpPr>
        <p:spPr>
          <a:xfrm rot="0">
            <a:off x="10282120" y="6802674"/>
            <a:ext cx="6684057" cy="2651125"/>
          </a:xfrm>
          <a:prstGeom prst="rect">
            <a:avLst/>
          </a:prstGeom>
        </p:spPr>
        <p:txBody>
          <a:bodyPr anchor="t" rtlCol="false" tIns="0" lIns="0" bIns="0" rIns="0">
            <a:spAutoFit/>
          </a:bodyPr>
          <a:lstStyle/>
          <a:p>
            <a:pPr algn="l">
              <a:lnSpc>
                <a:spcPts val="3499"/>
              </a:lnSpc>
            </a:pPr>
            <a:r>
              <a:rPr lang="en-US" sz="2499" spc="124" b="true">
                <a:solidFill>
                  <a:srgbClr val="343434"/>
                </a:solidFill>
                <a:latin typeface="Telegraf Bold"/>
                <a:ea typeface="Telegraf Bold"/>
                <a:cs typeface="Telegraf Bold"/>
                <a:sym typeface="Telegraf Bold"/>
              </a:rPr>
              <a:t>Dữ liệu thu được:</a:t>
            </a:r>
          </a:p>
          <a:p>
            <a:pPr algn="l">
              <a:lnSpc>
                <a:spcPts val="3499"/>
              </a:lnSpc>
            </a:pPr>
            <a:r>
              <a:rPr lang="en-US" sz="2499" spc="124">
                <a:solidFill>
                  <a:srgbClr val="343434"/>
                </a:solidFill>
                <a:latin typeface="Telegraf"/>
                <a:ea typeface="Telegraf"/>
                <a:cs typeface="Telegraf"/>
                <a:sym typeface="Telegraf"/>
              </a:rPr>
              <a:t>Một pandas DataFrame chứa các cột giá tiêu chuẩn: Open (Mở), High (Cao), Low (Thấp), Close (Đóng) và Khối lượng (Volume)</a:t>
            </a:r>
          </a:p>
          <a:p>
            <a:pPr algn="l" marL="0" indent="0" lvl="1">
              <a:lnSpc>
                <a:spcPts val="3499"/>
              </a:lnSpc>
              <a:spcBef>
                <a:spcPct val="0"/>
              </a:spcBef>
            </a:pPr>
            <a:r>
              <a:rPr lang="en-US" sz="2499" spc="124">
                <a:solidFill>
                  <a:srgbClr val="343434"/>
                </a:solidFill>
                <a:latin typeface="Telegraf"/>
                <a:ea typeface="Telegraf"/>
                <a:cs typeface="Telegraf"/>
                <a:sym typeface="Telegraf"/>
              </a:rPr>
              <a:t>Giá trị từng cột ứng với từng ngày</a:t>
            </a:r>
          </a:p>
        </p:txBody>
      </p:sp>
      <p:sp>
        <p:nvSpPr>
          <p:cNvPr name="TextBox 13" id="13"/>
          <p:cNvSpPr txBox="true"/>
          <p:nvPr/>
        </p:nvSpPr>
        <p:spPr>
          <a:xfrm rot="0">
            <a:off x="1028700" y="2463302"/>
            <a:ext cx="5707748" cy="575946"/>
          </a:xfrm>
          <a:prstGeom prst="rect">
            <a:avLst/>
          </a:prstGeom>
        </p:spPr>
        <p:txBody>
          <a:bodyPr anchor="t" rtlCol="false" tIns="0" lIns="0" bIns="0" rIns="0">
            <a:spAutoFit/>
          </a:bodyPr>
          <a:lstStyle/>
          <a:p>
            <a:pPr algn="l" marL="0" indent="0" lvl="1">
              <a:lnSpc>
                <a:spcPts val="4479"/>
              </a:lnSpc>
              <a:spcBef>
                <a:spcPct val="0"/>
              </a:spcBef>
            </a:pPr>
            <a:r>
              <a:rPr lang="en-US" b="true" sz="3199" spc="159">
                <a:solidFill>
                  <a:srgbClr val="343434"/>
                </a:solidFill>
                <a:latin typeface="Telegraf Bold"/>
                <a:ea typeface="Telegraf Bold"/>
                <a:cs typeface="Telegraf Bold"/>
                <a:sym typeface="Telegraf Bold"/>
              </a:rPr>
              <a:t>Triển khai mã lệnh Python</a:t>
            </a:r>
          </a:p>
        </p:txBody>
      </p:sp>
    </p:spTree>
  </p:cSld>
  <p:clrMapOvr>
    <a:masterClrMapping/>
  </p:clrMapOvr>
</p:sld>
</file>

<file path=ppt/slides/slide8.xml><?xml version="1.0" encoding="utf-8"?>
<p:sld xmlns:p="http://schemas.openxmlformats.org/presentationml/2006/main" xmlns:a="http://schemas.openxmlformats.org/drawingml/2006/main" xmlns:r="http://schemas.openxmlformats.org/officeDocument/2006/relationships">
  <p:cSld>
    <p:bg>
      <p:bgPr>
        <a:solidFill>
          <a:srgbClr val="F2F7FA"/>
        </a:solidFill>
      </p:bgPr>
    </p:bg>
    <p:spTree>
      <p:nvGrpSpPr>
        <p:cNvPr id="1" name=""/>
        <p:cNvGrpSpPr/>
        <p:nvPr/>
      </p:nvGrpSpPr>
      <p:grpSpPr>
        <a:xfrm>
          <a:off x="0" y="0"/>
          <a:ext cx="0" cy="0"/>
          <a:chOff x="0" y="0"/>
          <a:chExt cx="0" cy="0"/>
        </a:xfrm>
      </p:grpSpPr>
      <p:sp>
        <p:nvSpPr>
          <p:cNvPr name="Freeform 2" id="2"/>
          <p:cNvSpPr/>
          <p:nvPr/>
        </p:nvSpPr>
        <p:spPr>
          <a:xfrm flipH="false" flipV="false" rot="225008">
            <a:off x="-769515" y="-3516074"/>
            <a:ext cx="12701350" cy="5382197"/>
          </a:xfrm>
          <a:custGeom>
            <a:avLst/>
            <a:gdLst/>
            <a:ahLst/>
            <a:cxnLst/>
            <a:rect r="r" b="b" t="t" l="l"/>
            <a:pathLst>
              <a:path h="5382197" w="12701350">
                <a:moveTo>
                  <a:pt x="0" y="0"/>
                </a:moveTo>
                <a:lnTo>
                  <a:pt x="12701349" y="0"/>
                </a:lnTo>
                <a:lnTo>
                  <a:pt x="12701349" y="5382197"/>
                </a:lnTo>
                <a:lnTo>
                  <a:pt x="0" y="5382197"/>
                </a:lnTo>
                <a:lnTo>
                  <a:pt x="0" y="0"/>
                </a:lnTo>
                <a:close/>
              </a:path>
            </a:pathLst>
          </a:custGeom>
          <a:blipFill>
            <a:blip r:embed="rId3"/>
            <a:stretch>
              <a:fillRect l="0" t="0" r="0" b="0"/>
            </a:stretch>
          </a:blipFill>
        </p:spPr>
      </p:sp>
      <p:sp>
        <p:nvSpPr>
          <p:cNvPr name="Freeform 3" id="3"/>
          <p:cNvSpPr/>
          <p:nvPr/>
        </p:nvSpPr>
        <p:spPr>
          <a:xfrm flipH="false" flipV="false" rot="0">
            <a:off x="12220973" y="7306236"/>
            <a:ext cx="11514218" cy="8506128"/>
          </a:xfrm>
          <a:custGeom>
            <a:avLst/>
            <a:gdLst/>
            <a:ahLst/>
            <a:cxnLst/>
            <a:rect r="r" b="b" t="t" l="l"/>
            <a:pathLst>
              <a:path h="8506128" w="11514218">
                <a:moveTo>
                  <a:pt x="0" y="0"/>
                </a:moveTo>
                <a:lnTo>
                  <a:pt x="11514218" y="0"/>
                </a:lnTo>
                <a:lnTo>
                  <a:pt x="11514218" y="8506129"/>
                </a:lnTo>
                <a:lnTo>
                  <a:pt x="0" y="8506129"/>
                </a:lnTo>
                <a:lnTo>
                  <a:pt x="0" y="0"/>
                </a:lnTo>
                <a:close/>
              </a:path>
            </a:pathLst>
          </a:custGeom>
          <a:blipFill>
            <a:blip r:embed="rId4"/>
            <a:stretch>
              <a:fillRect l="0" t="0" r="0" b="0"/>
            </a:stretch>
          </a:blipFill>
        </p:spPr>
      </p:sp>
      <p:grpSp>
        <p:nvGrpSpPr>
          <p:cNvPr name="Group 4" id="4"/>
          <p:cNvGrpSpPr/>
          <p:nvPr/>
        </p:nvGrpSpPr>
        <p:grpSpPr>
          <a:xfrm rot="0">
            <a:off x="17569218" y="-392510"/>
            <a:ext cx="1437565" cy="11072020"/>
            <a:chOff x="0" y="0"/>
            <a:chExt cx="378618" cy="2916088"/>
          </a:xfrm>
        </p:grpSpPr>
        <p:sp>
          <p:nvSpPr>
            <p:cNvPr name="Freeform 5" id="5"/>
            <p:cNvSpPr/>
            <p:nvPr/>
          </p:nvSpPr>
          <p:spPr>
            <a:xfrm flipH="false" flipV="false" rot="0">
              <a:off x="0" y="0"/>
              <a:ext cx="378618" cy="2916088"/>
            </a:xfrm>
            <a:custGeom>
              <a:avLst/>
              <a:gdLst/>
              <a:ahLst/>
              <a:cxnLst/>
              <a:rect r="r" b="b" t="t" l="l"/>
              <a:pathLst>
                <a:path h="2916088" w="378618">
                  <a:moveTo>
                    <a:pt x="0" y="0"/>
                  </a:moveTo>
                  <a:lnTo>
                    <a:pt x="378618" y="0"/>
                  </a:lnTo>
                  <a:lnTo>
                    <a:pt x="378618" y="2916088"/>
                  </a:lnTo>
                  <a:lnTo>
                    <a:pt x="0" y="2916088"/>
                  </a:lnTo>
                  <a:close/>
                </a:path>
              </a:pathLst>
            </a:custGeom>
            <a:gradFill rotWithShape="true">
              <a:gsLst>
                <a:gs pos="0">
                  <a:srgbClr val="E4B795">
                    <a:alpha val="100000"/>
                  </a:srgbClr>
                </a:gs>
                <a:gs pos="50000">
                  <a:srgbClr val="699ACD">
                    <a:alpha val="100000"/>
                  </a:srgbClr>
                </a:gs>
                <a:gs pos="100000">
                  <a:srgbClr val="2F679F">
                    <a:alpha val="100000"/>
                  </a:srgbClr>
                </a:gs>
              </a:gsLst>
              <a:path path="circle">
                <a:fillToRect l="0" r="100000" t="0" b="100000"/>
              </a:path>
              <a:tileRect r="0" l="-100000" b="0" t="-100000"/>
            </a:gradFill>
          </p:spPr>
        </p:sp>
        <p:sp>
          <p:nvSpPr>
            <p:cNvPr name="TextBox 6" id="6"/>
            <p:cNvSpPr txBox="true"/>
            <p:nvPr/>
          </p:nvSpPr>
          <p:spPr>
            <a:xfrm>
              <a:off x="0" y="-57150"/>
              <a:ext cx="378618" cy="2973238"/>
            </a:xfrm>
            <a:prstGeom prst="rect">
              <a:avLst/>
            </a:prstGeom>
          </p:spPr>
          <p:txBody>
            <a:bodyPr anchor="ctr" rtlCol="false" tIns="50800" lIns="50800" bIns="50800" rIns="50800"/>
            <a:lstStyle/>
            <a:p>
              <a:pPr algn="ctr">
                <a:lnSpc>
                  <a:spcPts val="3639"/>
                </a:lnSpc>
              </a:pPr>
            </a:p>
          </p:txBody>
        </p:sp>
      </p:grpSp>
      <p:sp>
        <p:nvSpPr>
          <p:cNvPr name="Freeform 7" id="7"/>
          <p:cNvSpPr/>
          <p:nvPr/>
        </p:nvSpPr>
        <p:spPr>
          <a:xfrm flipH="false" flipV="false" rot="0">
            <a:off x="1028700" y="2884133"/>
            <a:ext cx="8200032" cy="2973638"/>
          </a:xfrm>
          <a:custGeom>
            <a:avLst/>
            <a:gdLst/>
            <a:ahLst/>
            <a:cxnLst/>
            <a:rect r="r" b="b" t="t" l="l"/>
            <a:pathLst>
              <a:path h="2973638" w="8200032">
                <a:moveTo>
                  <a:pt x="0" y="0"/>
                </a:moveTo>
                <a:lnTo>
                  <a:pt x="8200032" y="0"/>
                </a:lnTo>
                <a:lnTo>
                  <a:pt x="8200032" y="2973638"/>
                </a:lnTo>
                <a:lnTo>
                  <a:pt x="0" y="2973638"/>
                </a:lnTo>
                <a:lnTo>
                  <a:pt x="0" y="0"/>
                </a:lnTo>
                <a:close/>
              </a:path>
            </a:pathLst>
          </a:custGeom>
          <a:blipFill>
            <a:blip r:embed="rId5"/>
            <a:stretch>
              <a:fillRect l="0" t="0" r="0" b="0"/>
            </a:stretch>
          </a:blipFill>
        </p:spPr>
      </p:sp>
      <p:sp>
        <p:nvSpPr>
          <p:cNvPr name="Freeform 8" id="8"/>
          <p:cNvSpPr/>
          <p:nvPr/>
        </p:nvSpPr>
        <p:spPr>
          <a:xfrm flipH="false" flipV="false" rot="0">
            <a:off x="1704372" y="6828378"/>
            <a:ext cx="14879255" cy="2859540"/>
          </a:xfrm>
          <a:custGeom>
            <a:avLst/>
            <a:gdLst/>
            <a:ahLst/>
            <a:cxnLst/>
            <a:rect r="r" b="b" t="t" l="l"/>
            <a:pathLst>
              <a:path h="2859540" w="14879255">
                <a:moveTo>
                  <a:pt x="0" y="0"/>
                </a:moveTo>
                <a:lnTo>
                  <a:pt x="14879256" y="0"/>
                </a:lnTo>
                <a:lnTo>
                  <a:pt x="14879256" y="2859539"/>
                </a:lnTo>
                <a:lnTo>
                  <a:pt x="0" y="2859539"/>
                </a:lnTo>
                <a:lnTo>
                  <a:pt x="0" y="0"/>
                </a:lnTo>
                <a:close/>
              </a:path>
            </a:pathLst>
          </a:custGeom>
          <a:blipFill>
            <a:blip r:embed="rId6"/>
            <a:stretch>
              <a:fillRect l="0" t="-186" r="0" b="-186"/>
            </a:stretch>
          </a:blipFill>
        </p:spPr>
      </p:sp>
      <p:sp>
        <p:nvSpPr>
          <p:cNvPr name="TextBox 9" id="9"/>
          <p:cNvSpPr txBox="true"/>
          <p:nvPr/>
        </p:nvSpPr>
        <p:spPr>
          <a:xfrm rot="0">
            <a:off x="629597" y="1260558"/>
            <a:ext cx="17703925" cy="710373"/>
          </a:xfrm>
          <a:prstGeom prst="rect">
            <a:avLst/>
          </a:prstGeom>
        </p:spPr>
        <p:txBody>
          <a:bodyPr anchor="t" rtlCol="false" tIns="0" lIns="0" bIns="0" rIns="0">
            <a:spAutoFit/>
          </a:bodyPr>
          <a:lstStyle/>
          <a:p>
            <a:pPr algn="l">
              <a:lnSpc>
                <a:spcPts val="4927"/>
              </a:lnSpc>
            </a:pPr>
            <a:r>
              <a:rPr lang="en-US" sz="5080" b="true">
                <a:solidFill>
                  <a:srgbClr val="343434"/>
                </a:solidFill>
                <a:latin typeface="Telegraf Bold"/>
                <a:ea typeface="Telegraf Bold"/>
                <a:cs typeface="Telegraf Bold"/>
                <a:sym typeface="Telegraf Bold"/>
              </a:rPr>
              <a:t>THU THẬP DỮ LIỆU TỪ NASDAQ DATA LINK</a:t>
            </a:r>
          </a:p>
        </p:txBody>
      </p:sp>
      <p:sp>
        <p:nvSpPr>
          <p:cNvPr name="TextBox 10" id="10"/>
          <p:cNvSpPr txBox="true"/>
          <p:nvPr/>
        </p:nvSpPr>
        <p:spPr>
          <a:xfrm rot="0">
            <a:off x="629597" y="6252395"/>
            <a:ext cx="6233294" cy="575983"/>
          </a:xfrm>
          <a:prstGeom prst="rect">
            <a:avLst/>
          </a:prstGeom>
        </p:spPr>
        <p:txBody>
          <a:bodyPr anchor="t" rtlCol="false" tIns="0" lIns="0" bIns="0" rIns="0">
            <a:spAutoFit/>
          </a:bodyPr>
          <a:lstStyle/>
          <a:p>
            <a:pPr algn="l" marL="0" indent="0" lvl="1">
              <a:lnSpc>
                <a:spcPts val="4479"/>
              </a:lnSpc>
              <a:spcBef>
                <a:spcPct val="0"/>
              </a:spcBef>
            </a:pPr>
            <a:r>
              <a:rPr lang="en-US" b="true" sz="3199" spc="159">
                <a:solidFill>
                  <a:srgbClr val="343434"/>
                </a:solidFill>
                <a:latin typeface="Telegraf Bold"/>
                <a:ea typeface="Telegraf Bold"/>
                <a:cs typeface="Telegraf Bold"/>
                <a:sym typeface="Telegraf Bold"/>
              </a:rPr>
              <a:t>Preview head của bộ dữ liệu</a:t>
            </a:r>
          </a:p>
        </p:txBody>
      </p:sp>
      <p:sp>
        <p:nvSpPr>
          <p:cNvPr name="TextBox 11" id="11"/>
          <p:cNvSpPr txBox="true"/>
          <p:nvPr/>
        </p:nvSpPr>
        <p:spPr>
          <a:xfrm rot="0">
            <a:off x="9612007" y="3004114"/>
            <a:ext cx="7647293" cy="2301875"/>
          </a:xfrm>
          <a:prstGeom prst="rect">
            <a:avLst/>
          </a:prstGeom>
        </p:spPr>
        <p:txBody>
          <a:bodyPr anchor="t" rtlCol="false" tIns="0" lIns="0" bIns="0" rIns="0">
            <a:spAutoFit/>
          </a:bodyPr>
          <a:lstStyle/>
          <a:p>
            <a:pPr algn="l">
              <a:lnSpc>
                <a:spcPts val="4199"/>
              </a:lnSpc>
            </a:pPr>
            <a:r>
              <a:rPr lang="en-US" sz="2999" spc="149" b="true">
                <a:solidFill>
                  <a:srgbClr val="343434"/>
                </a:solidFill>
                <a:latin typeface="Telegraf Bold"/>
                <a:ea typeface="Telegraf Bold"/>
                <a:cs typeface="Telegraf Bold"/>
                <a:sym typeface="Telegraf Bold"/>
              </a:rPr>
              <a:t>Cách thực hiện:</a:t>
            </a:r>
          </a:p>
          <a:p>
            <a:pPr algn="l" marL="0" indent="0" lvl="1">
              <a:lnSpc>
                <a:spcPts val="3499"/>
              </a:lnSpc>
              <a:spcBef>
                <a:spcPct val="0"/>
              </a:spcBef>
            </a:pPr>
            <a:r>
              <a:rPr lang="en-US" sz="2499" spc="124">
                <a:solidFill>
                  <a:srgbClr val="343434"/>
                </a:solidFill>
                <a:latin typeface="Telegraf"/>
                <a:ea typeface="Telegraf"/>
                <a:cs typeface="Telegraf"/>
                <a:sym typeface="Telegraf"/>
              </a:rPr>
              <a:t>Sử dụng thư viện nasdaqdatalink. Sau khi xác thực bằng API Key, bạn sử dụng hàm nasdaqdatalink.get() với cấu trúc đường dẫn DATASET/TICKER</a:t>
            </a:r>
          </a:p>
        </p:txBody>
      </p:sp>
      <p:sp>
        <p:nvSpPr>
          <p:cNvPr name="TextBox 12" id="12"/>
          <p:cNvSpPr txBox="true"/>
          <p:nvPr/>
        </p:nvSpPr>
        <p:spPr>
          <a:xfrm rot="0">
            <a:off x="864728" y="2042685"/>
            <a:ext cx="5707748" cy="575946"/>
          </a:xfrm>
          <a:prstGeom prst="rect">
            <a:avLst/>
          </a:prstGeom>
        </p:spPr>
        <p:txBody>
          <a:bodyPr anchor="t" rtlCol="false" tIns="0" lIns="0" bIns="0" rIns="0">
            <a:spAutoFit/>
          </a:bodyPr>
          <a:lstStyle/>
          <a:p>
            <a:pPr algn="l" marL="0" indent="0" lvl="1">
              <a:lnSpc>
                <a:spcPts val="4479"/>
              </a:lnSpc>
              <a:spcBef>
                <a:spcPct val="0"/>
              </a:spcBef>
            </a:pPr>
            <a:r>
              <a:rPr lang="en-US" b="true" sz="3199" spc="159">
                <a:solidFill>
                  <a:srgbClr val="343434"/>
                </a:solidFill>
                <a:latin typeface="Telegraf Bold"/>
                <a:ea typeface="Telegraf Bold"/>
                <a:cs typeface="Telegraf Bold"/>
                <a:sym typeface="Telegraf Bold"/>
              </a:rPr>
              <a:t>Triển khai mã lệnh Python</a:t>
            </a:r>
          </a:p>
        </p:txBody>
      </p:sp>
    </p:spTree>
  </p:cSld>
  <p:clrMapOvr>
    <a:masterClrMapping/>
  </p:clrMapOvr>
</p:sld>
</file>

<file path=ppt/slides/slide9.xml><?xml version="1.0" encoding="utf-8"?>
<p:sld xmlns:p="http://schemas.openxmlformats.org/presentationml/2006/main" xmlns:a="http://schemas.openxmlformats.org/drawingml/2006/main" xmlns:r="http://schemas.openxmlformats.org/officeDocument/2006/relationships">
  <p:cSld>
    <p:bg>
      <p:bgPr>
        <a:solidFill>
          <a:srgbClr val="F2F7FA"/>
        </a:solidFill>
      </p:bgPr>
    </p:bg>
    <p:spTree>
      <p:nvGrpSpPr>
        <p:cNvPr id="1" name=""/>
        <p:cNvGrpSpPr/>
        <p:nvPr/>
      </p:nvGrpSpPr>
      <p:grpSpPr>
        <a:xfrm>
          <a:off x="0" y="0"/>
          <a:ext cx="0" cy="0"/>
          <a:chOff x="0" y="0"/>
          <a:chExt cx="0" cy="0"/>
        </a:xfrm>
      </p:grpSpPr>
      <p:sp>
        <p:nvSpPr>
          <p:cNvPr name="Freeform 2" id="2"/>
          <p:cNvSpPr/>
          <p:nvPr/>
        </p:nvSpPr>
        <p:spPr>
          <a:xfrm flipH="false" flipV="false" rot="225008">
            <a:off x="-769515" y="-3516074"/>
            <a:ext cx="12701350" cy="5382197"/>
          </a:xfrm>
          <a:custGeom>
            <a:avLst/>
            <a:gdLst/>
            <a:ahLst/>
            <a:cxnLst/>
            <a:rect r="r" b="b" t="t" l="l"/>
            <a:pathLst>
              <a:path h="5382197" w="12701350">
                <a:moveTo>
                  <a:pt x="0" y="0"/>
                </a:moveTo>
                <a:lnTo>
                  <a:pt x="12701349" y="0"/>
                </a:lnTo>
                <a:lnTo>
                  <a:pt x="12701349" y="5382197"/>
                </a:lnTo>
                <a:lnTo>
                  <a:pt x="0" y="5382197"/>
                </a:lnTo>
                <a:lnTo>
                  <a:pt x="0" y="0"/>
                </a:lnTo>
                <a:close/>
              </a:path>
            </a:pathLst>
          </a:custGeom>
          <a:blipFill>
            <a:blip r:embed="rId3"/>
            <a:stretch>
              <a:fillRect l="0" t="0" r="0" b="0"/>
            </a:stretch>
          </a:blipFill>
        </p:spPr>
      </p:sp>
      <p:sp>
        <p:nvSpPr>
          <p:cNvPr name="Freeform 3" id="3"/>
          <p:cNvSpPr/>
          <p:nvPr/>
        </p:nvSpPr>
        <p:spPr>
          <a:xfrm flipH="false" flipV="false" rot="0">
            <a:off x="12220973" y="7306236"/>
            <a:ext cx="11514218" cy="8506128"/>
          </a:xfrm>
          <a:custGeom>
            <a:avLst/>
            <a:gdLst/>
            <a:ahLst/>
            <a:cxnLst/>
            <a:rect r="r" b="b" t="t" l="l"/>
            <a:pathLst>
              <a:path h="8506128" w="11514218">
                <a:moveTo>
                  <a:pt x="0" y="0"/>
                </a:moveTo>
                <a:lnTo>
                  <a:pt x="11514218" y="0"/>
                </a:lnTo>
                <a:lnTo>
                  <a:pt x="11514218" y="8506129"/>
                </a:lnTo>
                <a:lnTo>
                  <a:pt x="0" y="8506129"/>
                </a:lnTo>
                <a:lnTo>
                  <a:pt x="0" y="0"/>
                </a:lnTo>
                <a:close/>
              </a:path>
            </a:pathLst>
          </a:custGeom>
          <a:blipFill>
            <a:blip r:embed="rId4"/>
            <a:stretch>
              <a:fillRect l="0" t="0" r="0" b="0"/>
            </a:stretch>
          </a:blipFill>
        </p:spPr>
      </p:sp>
      <p:grpSp>
        <p:nvGrpSpPr>
          <p:cNvPr name="Group 4" id="4"/>
          <p:cNvGrpSpPr/>
          <p:nvPr/>
        </p:nvGrpSpPr>
        <p:grpSpPr>
          <a:xfrm rot="0">
            <a:off x="17569218" y="-392510"/>
            <a:ext cx="1437565" cy="11072020"/>
            <a:chOff x="0" y="0"/>
            <a:chExt cx="378618" cy="2916088"/>
          </a:xfrm>
        </p:grpSpPr>
        <p:sp>
          <p:nvSpPr>
            <p:cNvPr name="Freeform 5" id="5"/>
            <p:cNvSpPr/>
            <p:nvPr/>
          </p:nvSpPr>
          <p:spPr>
            <a:xfrm flipH="false" flipV="false" rot="0">
              <a:off x="0" y="0"/>
              <a:ext cx="378618" cy="2916088"/>
            </a:xfrm>
            <a:custGeom>
              <a:avLst/>
              <a:gdLst/>
              <a:ahLst/>
              <a:cxnLst/>
              <a:rect r="r" b="b" t="t" l="l"/>
              <a:pathLst>
                <a:path h="2916088" w="378618">
                  <a:moveTo>
                    <a:pt x="0" y="0"/>
                  </a:moveTo>
                  <a:lnTo>
                    <a:pt x="378618" y="0"/>
                  </a:lnTo>
                  <a:lnTo>
                    <a:pt x="378618" y="2916088"/>
                  </a:lnTo>
                  <a:lnTo>
                    <a:pt x="0" y="2916088"/>
                  </a:lnTo>
                  <a:close/>
                </a:path>
              </a:pathLst>
            </a:custGeom>
            <a:gradFill rotWithShape="true">
              <a:gsLst>
                <a:gs pos="0">
                  <a:srgbClr val="E4B795">
                    <a:alpha val="100000"/>
                  </a:srgbClr>
                </a:gs>
                <a:gs pos="50000">
                  <a:srgbClr val="699ACD">
                    <a:alpha val="100000"/>
                  </a:srgbClr>
                </a:gs>
                <a:gs pos="100000">
                  <a:srgbClr val="2F679F">
                    <a:alpha val="100000"/>
                  </a:srgbClr>
                </a:gs>
              </a:gsLst>
              <a:path path="circle">
                <a:fillToRect l="0" r="100000" t="0" b="100000"/>
              </a:path>
              <a:tileRect r="0" l="-100000" b="0" t="-100000"/>
            </a:gradFill>
          </p:spPr>
        </p:sp>
        <p:sp>
          <p:nvSpPr>
            <p:cNvPr name="TextBox 6" id="6"/>
            <p:cNvSpPr txBox="true"/>
            <p:nvPr/>
          </p:nvSpPr>
          <p:spPr>
            <a:xfrm>
              <a:off x="0" y="-57150"/>
              <a:ext cx="378618" cy="2973238"/>
            </a:xfrm>
            <a:prstGeom prst="rect">
              <a:avLst/>
            </a:prstGeom>
          </p:spPr>
          <p:txBody>
            <a:bodyPr anchor="ctr" rtlCol="false" tIns="50800" lIns="50800" bIns="50800" rIns="50800"/>
            <a:lstStyle/>
            <a:p>
              <a:pPr algn="ctr">
                <a:lnSpc>
                  <a:spcPts val="3639"/>
                </a:lnSpc>
              </a:pPr>
            </a:p>
          </p:txBody>
        </p:sp>
      </p:grpSp>
      <p:sp>
        <p:nvSpPr>
          <p:cNvPr name="Freeform 7" id="7"/>
          <p:cNvSpPr/>
          <p:nvPr/>
        </p:nvSpPr>
        <p:spPr>
          <a:xfrm flipH="false" flipV="false" rot="0">
            <a:off x="229353" y="2390031"/>
            <a:ext cx="9468617" cy="2456815"/>
          </a:xfrm>
          <a:custGeom>
            <a:avLst/>
            <a:gdLst/>
            <a:ahLst/>
            <a:cxnLst/>
            <a:rect r="r" b="b" t="t" l="l"/>
            <a:pathLst>
              <a:path h="2456815" w="9468617">
                <a:moveTo>
                  <a:pt x="0" y="0"/>
                </a:moveTo>
                <a:lnTo>
                  <a:pt x="9468617" y="0"/>
                </a:lnTo>
                <a:lnTo>
                  <a:pt x="9468617" y="2456816"/>
                </a:lnTo>
                <a:lnTo>
                  <a:pt x="0" y="2456816"/>
                </a:lnTo>
                <a:lnTo>
                  <a:pt x="0" y="0"/>
                </a:lnTo>
                <a:close/>
              </a:path>
            </a:pathLst>
          </a:custGeom>
          <a:blipFill>
            <a:blip r:embed="rId5"/>
            <a:stretch>
              <a:fillRect l="-4845" t="0" r="-4845" b="0"/>
            </a:stretch>
          </a:blipFill>
        </p:spPr>
      </p:sp>
      <p:sp>
        <p:nvSpPr>
          <p:cNvPr name="Freeform 8" id="8"/>
          <p:cNvSpPr/>
          <p:nvPr/>
        </p:nvSpPr>
        <p:spPr>
          <a:xfrm flipH="false" flipV="false" rot="0">
            <a:off x="229353" y="6503036"/>
            <a:ext cx="5664028" cy="3298189"/>
          </a:xfrm>
          <a:custGeom>
            <a:avLst/>
            <a:gdLst/>
            <a:ahLst/>
            <a:cxnLst/>
            <a:rect r="r" b="b" t="t" l="l"/>
            <a:pathLst>
              <a:path h="3298189" w="5664028">
                <a:moveTo>
                  <a:pt x="0" y="0"/>
                </a:moveTo>
                <a:lnTo>
                  <a:pt x="5664029" y="0"/>
                </a:lnTo>
                <a:lnTo>
                  <a:pt x="5664029" y="3298189"/>
                </a:lnTo>
                <a:lnTo>
                  <a:pt x="0" y="3298189"/>
                </a:lnTo>
                <a:lnTo>
                  <a:pt x="0" y="0"/>
                </a:lnTo>
                <a:close/>
              </a:path>
            </a:pathLst>
          </a:custGeom>
          <a:blipFill>
            <a:blip r:embed="rId6"/>
            <a:stretch>
              <a:fillRect l="0" t="0" r="0" b="0"/>
            </a:stretch>
          </a:blipFill>
        </p:spPr>
      </p:sp>
      <p:sp>
        <p:nvSpPr>
          <p:cNvPr name="Freeform 9" id="9"/>
          <p:cNvSpPr/>
          <p:nvPr/>
        </p:nvSpPr>
        <p:spPr>
          <a:xfrm flipH="false" flipV="false" rot="0">
            <a:off x="9301676" y="6355715"/>
            <a:ext cx="5180120" cy="2900479"/>
          </a:xfrm>
          <a:custGeom>
            <a:avLst/>
            <a:gdLst/>
            <a:ahLst/>
            <a:cxnLst/>
            <a:rect r="r" b="b" t="t" l="l"/>
            <a:pathLst>
              <a:path h="2900479" w="5180120">
                <a:moveTo>
                  <a:pt x="0" y="0"/>
                </a:moveTo>
                <a:lnTo>
                  <a:pt x="5180121" y="0"/>
                </a:lnTo>
                <a:lnTo>
                  <a:pt x="5180121" y="2900479"/>
                </a:lnTo>
                <a:lnTo>
                  <a:pt x="0" y="2900479"/>
                </a:lnTo>
                <a:lnTo>
                  <a:pt x="0" y="0"/>
                </a:lnTo>
                <a:close/>
              </a:path>
            </a:pathLst>
          </a:custGeom>
          <a:blipFill>
            <a:blip r:embed="rId7"/>
            <a:stretch>
              <a:fillRect l="0" t="0" r="0" b="0"/>
            </a:stretch>
          </a:blipFill>
        </p:spPr>
      </p:sp>
      <p:sp>
        <p:nvSpPr>
          <p:cNvPr name="TextBox 10" id="10"/>
          <p:cNvSpPr txBox="true"/>
          <p:nvPr/>
        </p:nvSpPr>
        <p:spPr>
          <a:xfrm rot="0">
            <a:off x="584075" y="970363"/>
            <a:ext cx="17703925" cy="710373"/>
          </a:xfrm>
          <a:prstGeom prst="rect">
            <a:avLst/>
          </a:prstGeom>
        </p:spPr>
        <p:txBody>
          <a:bodyPr anchor="t" rtlCol="false" tIns="0" lIns="0" bIns="0" rIns="0">
            <a:spAutoFit/>
          </a:bodyPr>
          <a:lstStyle/>
          <a:p>
            <a:pPr algn="l">
              <a:lnSpc>
                <a:spcPts val="4927"/>
              </a:lnSpc>
            </a:pPr>
            <a:r>
              <a:rPr lang="en-US" sz="5080" b="true">
                <a:solidFill>
                  <a:srgbClr val="343434"/>
                </a:solidFill>
                <a:latin typeface="Telegraf Bold"/>
                <a:ea typeface="Telegraf Bold"/>
                <a:cs typeface="Telegraf Bold"/>
                <a:sym typeface="Telegraf Bold"/>
              </a:rPr>
              <a:t>THU THẬP DỮ LIỆU TỪ NASDAQ DATA LINK</a:t>
            </a:r>
          </a:p>
        </p:txBody>
      </p:sp>
      <p:sp>
        <p:nvSpPr>
          <p:cNvPr name="TextBox 11" id="11"/>
          <p:cNvSpPr txBox="true"/>
          <p:nvPr/>
        </p:nvSpPr>
        <p:spPr>
          <a:xfrm rot="0">
            <a:off x="864728" y="1699785"/>
            <a:ext cx="16215014" cy="575946"/>
          </a:xfrm>
          <a:prstGeom prst="rect">
            <a:avLst/>
          </a:prstGeom>
        </p:spPr>
        <p:txBody>
          <a:bodyPr anchor="t" rtlCol="false" tIns="0" lIns="0" bIns="0" rIns="0">
            <a:spAutoFit/>
          </a:bodyPr>
          <a:lstStyle/>
          <a:p>
            <a:pPr algn="l" marL="0" indent="0" lvl="1">
              <a:lnSpc>
                <a:spcPts val="4479"/>
              </a:lnSpc>
              <a:spcBef>
                <a:spcPct val="0"/>
              </a:spcBef>
            </a:pPr>
            <a:r>
              <a:rPr lang="en-US" b="true" sz="3199" spc="159">
                <a:solidFill>
                  <a:srgbClr val="343434"/>
                </a:solidFill>
                <a:latin typeface="Telegraf Bold"/>
                <a:ea typeface="Telegraf Bold"/>
                <a:cs typeface="Telegraf Bold"/>
                <a:sym typeface="Telegraf Bold"/>
              </a:rPr>
              <a:t>Sử dụng phương thức get_table() để lấy nhiều mã chứng khoán cùng lúc </a:t>
            </a:r>
          </a:p>
        </p:txBody>
      </p:sp>
      <p:sp>
        <p:nvSpPr>
          <p:cNvPr name="TextBox 12" id="12"/>
          <p:cNvSpPr txBox="true"/>
          <p:nvPr/>
        </p:nvSpPr>
        <p:spPr>
          <a:xfrm rot="0">
            <a:off x="9921925" y="2294781"/>
            <a:ext cx="7647293" cy="2552065"/>
          </a:xfrm>
          <a:prstGeom prst="rect">
            <a:avLst/>
          </a:prstGeom>
        </p:spPr>
        <p:txBody>
          <a:bodyPr anchor="t" rtlCol="false" tIns="0" lIns="0" bIns="0" rIns="0">
            <a:spAutoFit/>
          </a:bodyPr>
          <a:lstStyle/>
          <a:p>
            <a:pPr algn="l">
              <a:lnSpc>
                <a:spcPts val="4199"/>
              </a:lnSpc>
            </a:pPr>
            <a:r>
              <a:rPr lang="en-US" sz="2999" spc="149" b="true">
                <a:solidFill>
                  <a:srgbClr val="343434"/>
                </a:solidFill>
                <a:latin typeface="Telegraf Bold"/>
                <a:ea typeface="Telegraf Bold"/>
                <a:cs typeface="Telegraf Bold"/>
                <a:sym typeface="Telegraf Bold"/>
              </a:rPr>
              <a:t>Cách thực hiện:</a:t>
            </a:r>
          </a:p>
          <a:p>
            <a:pPr algn="l" marL="0" indent="0" lvl="1">
              <a:lnSpc>
                <a:spcPts val="3219"/>
              </a:lnSpc>
              <a:spcBef>
                <a:spcPct val="0"/>
              </a:spcBef>
            </a:pPr>
            <a:r>
              <a:rPr lang="en-US" sz="2299" spc="114">
                <a:solidFill>
                  <a:srgbClr val="343434"/>
                </a:solidFill>
                <a:latin typeface="Telegraf"/>
                <a:ea typeface="Telegraf"/>
                <a:cs typeface="Telegraf"/>
                <a:sym typeface="Telegraf"/>
              </a:rPr>
              <a:t>Sử dụng hàm get_table() để lấy nhiều mã chứng khoán. Cung cấp một danh sách mã chứng khoán cho tham số “ticker=”. Sử dụng tham số “date” để xác định thời gian lấy dữ liệu. Tham số “paginate=True” để xử dụng tính năng phân trang.</a:t>
            </a:r>
          </a:p>
        </p:txBody>
      </p:sp>
      <p:sp>
        <p:nvSpPr>
          <p:cNvPr name="TextBox 13" id="13"/>
          <p:cNvSpPr txBox="true"/>
          <p:nvPr/>
        </p:nvSpPr>
        <p:spPr>
          <a:xfrm rot="0">
            <a:off x="864728" y="4865897"/>
            <a:ext cx="3883602" cy="575946"/>
          </a:xfrm>
          <a:prstGeom prst="rect">
            <a:avLst/>
          </a:prstGeom>
        </p:spPr>
        <p:txBody>
          <a:bodyPr anchor="t" rtlCol="false" tIns="0" lIns="0" bIns="0" rIns="0">
            <a:spAutoFit/>
          </a:bodyPr>
          <a:lstStyle/>
          <a:p>
            <a:pPr algn="l" marL="0" indent="0" lvl="1">
              <a:lnSpc>
                <a:spcPts val="4479"/>
              </a:lnSpc>
              <a:spcBef>
                <a:spcPct val="0"/>
              </a:spcBef>
            </a:pPr>
            <a:r>
              <a:rPr lang="en-US" b="true" sz="3199" spc="159">
                <a:solidFill>
                  <a:srgbClr val="343434"/>
                </a:solidFill>
                <a:latin typeface="Telegraf Bold"/>
                <a:ea typeface="Telegraf Bold"/>
                <a:cs typeface="Telegraf Bold"/>
                <a:sym typeface="Telegraf Bold"/>
              </a:rPr>
              <a:t>Kết quả thu được</a:t>
            </a:r>
          </a:p>
        </p:txBody>
      </p:sp>
      <p:sp>
        <p:nvSpPr>
          <p:cNvPr name="TextBox 14" id="14"/>
          <p:cNvSpPr txBox="true"/>
          <p:nvPr/>
        </p:nvSpPr>
        <p:spPr>
          <a:xfrm rot="0">
            <a:off x="6214255" y="6279515"/>
            <a:ext cx="2929745" cy="4018280"/>
          </a:xfrm>
          <a:prstGeom prst="rect">
            <a:avLst/>
          </a:prstGeom>
        </p:spPr>
        <p:txBody>
          <a:bodyPr anchor="t" rtlCol="false" tIns="0" lIns="0" bIns="0" rIns="0">
            <a:spAutoFit/>
          </a:bodyPr>
          <a:lstStyle/>
          <a:p>
            <a:pPr algn="l" marL="0" indent="0" lvl="1">
              <a:lnSpc>
                <a:spcPts val="3219"/>
              </a:lnSpc>
              <a:spcBef>
                <a:spcPct val="0"/>
              </a:spcBef>
            </a:pPr>
            <a:r>
              <a:rPr lang="en-US" sz="2299" spc="114" strike="noStrike" u="none">
                <a:solidFill>
                  <a:srgbClr val="343434"/>
                </a:solidFill>
                <a:latin typeface="Telegraf"/>
                <a:ea typeface="Telegraf"/>
                <a:cs typeface="Telegraf"/>
                <a:sym typeface="Telegraf"/>
              </a:rPr>
              <a:t>Dữ liệu ban đầu được trả về ở dạng "dài", nghĩa là các quan sát của các mã chứng khoán khác nhau được xếp chồng lên nhau trong cùng một cột, phân biệt bởi cột ticker</a:t>
            </a:r>
          </a:p>
        </p:txBody>
      </p:sp>
      <p:sp>
        <p:nvSpPr>
          <p:cNvPr name="TextBox 15" id="15"/>
          <p:cNvSpPr txBox="true"/>
          <p:nvPr/>
        </p:nvSpPr>
        <p:spPr>
          <a:xfrm rot="0">
            <a:off x="14639473" y="6426836"/>
            <a:ext cx="2929745" cy="2018030"/>
          </a:xfrm>
          <a:prstGeom prst="rect">
            <a:avLst/>
          </a:prstGeom>
        </p:spPr>
        <p:txBody>
          <a:bodyPr anchor="t" rtlCol="false" tIns="0" lIns="0" bIns="0" rIns="0">
            <a:spAutoFit/>
          </a:bodyPr>
          <a:lstStyle/>
          <a:p>
            <a:pPr algn="l" marL="0" indent="0" lvl="1">
              <a:lnSpc>
                <a:spcPts val="3219"/>
              </a:lnSpc>
              <a:spcBef>
                <a:spcPct val="0"/>
              </a:spcBef>
            </a:pPr>
            <a:r>
              <a:rPr lang="en-US" sz="2299" spc="114" strike="noStrike" u="none">
                <a:solidFill>
                  <a:srgbClr val="343434"/>
                </a:solidFill>
                <a:latin typeface="Telegraf"/>
                <a:ea typeface="Telegraf"/>
                <a:cs typeface="Telegraf"/>
                <a:sym typeface="Telegraf"/>
              </a:rPr>
              <a:t>sử dụng phương thức .pivot() của pandas để chuyển sang định dạng rộng (wide format)</a:t>
            </a:r>
          </a:p>
        </p:txBody>
      </p:sp>
      <p:sp>
        <p:nvSpPr>
          <p:cNvPr name="TextBox 16" id="16"/>
          <p:cNvSpPr txBox="true"/>
          <p:nvPr/>
        </p:nvSpPr>
        <p:spPr>
          <a:xfrm rot="0">
            <a:off x="1455765" y="5636841"/>
            <a:ext cx="2701528" cy="575946"/>
          </a:xfrm>
          <a:prstGeom prst="rect">
            <a:avLst/>
          </a:prstGeom>
        </p:spPr>
        <p:txBody>
          <a:bodyPr anchor="t" rtlCol="false" tIns="0" lIns="0" bIns="0" rIns="0">
            <a:spAutoFit/>
          </a:bodyPr>
          <a:lstStyle/>
          <a:p>
            <a:pPr algn="l" marL="0" indent="0" lvl="1">
              <a:lnSpc>
                <a:spcPts val="4479"/>
              </a:lnSpc>
              <a:spcBef>
                <a:spcPct val="0"/>
              </a:spcBef>
            </a:pPr>
            <a:r>
              <a:rPr lang="en-US" b="true" sz="3199" spc="159">
                <a:solidFill>
                  <a:srgbClr val="343434"/>
                </a:solidFill>
                <a:latin typeface="Telegraf Bold"/>
                <a:ea typeface="Telegraf Bold"/>
                <a:cs typeface="Telegraf Bold"/>
                <a:sym typeface="Telegraf Bold"/>
              </a:rPr>
              <a:t>Long format</a:t>
            </a:r>
          </a:p>
        </p:txBody>
      </p:sp>
      <p:sp>
        <p:nvSpPr>
          <p:cNvPr name="TextBox 17" id="17"/>
          <p:cNvSpPr txBox="true"/>
          <p:nvPr/>
        </p:nvSpPr>
        <p:spPr>
          <a:xfrm rot="0">
            <a:off x="10540972" y="5636841"/>
            <a:ext cx="2761276" cy="575946"/>
          </a:xfrm>
          <a:prstGeom prst="rect">
            <a:avLst/>
          </a:prstGeom>
        </p:spPr>
        <p:txBody>
          <a:bodyPr anchor="t" rtlCol="false" tIns="0" lIns="0" bIns="0" rIns="0">
            <a:spAutoFit/>
          </a:bodyPr>
          <a:lstStyle/>
          <a:p>
            <a:pPr algn="l" marL="0" indent="0" lvl="1">
              <a:lnSpc>
                <a:spcPts val="4479"/>
              </a:lnSpc>
              <a:spcBef>
                <a:spcPct val="0"/>
              </a:spcBef>
            </a:pPr>
            <a:r>
              <a:rPr lang="en-US" b="true" sz="3199" spc="159">
                <a:solidFill>
                  <a:srgbClr val="343434"/>
                </a:solidFill>
                <a:latin typeface="Telegraf Bold"/>
                <a:ea typeface="Telegraf Bold"/>
                <a:cs typeface="Telegraf Bold"/>
                <a:sym typeface="Telegraf Bold"/>
              </a:rPr>
              <a:t>Wide format</a:t>
            </a:r>
          </a:p>
        </p:txBody>
      </p:sp>
    </p:spTree>
  </p:cSld>
  <p:clrMapOvr>
    <a:masterClrMapping/>
  </p:clrMapOvr>
</p:sld>
</file>

<file path=ppt/slides/slide10.xml><?xml version="1.0" encoding="utf-8"?>
<p:sld xmlns:p="http://schemas.openxmlformats.org/presentationml/2006/main" xmlns:a="http://schemas.openxmlformats.org/drawingml/2006/main" xmlns:r="http://schemas.openxmlformats.org/officeDocument/2006/relationships">
  <p:cSld>
    <p:bg>
      <p:bgPr>
        <a:solidFill>
          <a:srgbClr val="F2F7FA"/>
        </a:solidFill>
      </p:bgPr>
    </p:bg>
    <p:spTree>
      <p:nvGrpSpPr>
        <p:cNvPr id="1" name=""/>
        <p:cNvGrpSpPr/>
        <p:nvPr/>
      </p:nvGrpSpPr>
      <p:grpSpPr>
        <a:xfrm>
          <a:off x="0" y="0"/>
          <a:ext cx="0" cy="0"/>
          <a:chOff x="0" y="0"/>
          <a:chExt cx="0" cy="0"/>
        </a:xfrm>
      </p:grpSpPr>
      <p:sp>
        <p:nvSpPr>
          <p:cNvPr name="Freeform 2" id="2"/>
          <p:cNvSpPr/>
          <p:nvPr/>
        </p:nvSpPr>
        <p:spPr>
          <a:xfrm flipH="false" flipV="false" rot="225008">
            <a:off x="1875" y="-2691098"/>
            <a:ext cx="12701350" cy="5382197"/>
          </a:xfrm>
          <a:custGeom>
            <a:avLst/>
            <a:gdLst/>
            <a:ahLst/>
            <a:cxnLst/>
            <a:rect r="r" b="b" t="t" l="l"/>
            <a:pathLst>
              <a:path h="5382197" w="12701350">
                <a:moveTo>
                  <a:pt x="0" y="0"/>
                </a:moveTo>
                <a:lnTo>
                  <a:pt x="12701349" y="0"/>
                </a:lnTo>
                <a:lnTo>
                  <a:pt x="12701349" y="5382196"/>
                </a:lnTo>
                <a:lnTo>
                  <a:pt x="0" y="5382196"/>
                </a:lnTo>
                <a:lnTo>
                  <a:pt x="0" y="0"/>
                </a:lnTo>
                <a:close/>
              </a:path>
            </a:pathLst>
          </a:custGeom>
          <a:blipFill>
            <a:blip r:embed="rId3"/>
            <a:stretch>
              <a:fillRect l="0" t="0" r="0" b="0"/>
            </a:stretch>
          </a:blipFill>
        </p:spPr>
      </p:sp>
      <p:sp>
        <p:nvSpPr>
          <p:cNvPr name="Freeform 3" id="3"/>
          <p:cNvSpPr/>
          <p:nvPr/>
        </p:nvSpPr>
        <p:spPr>
          <a:xfrm flipH="false" flipV="false" rot="0">
            <a:off x="12220973" y="7306236"/>
            <a:ext cx="11514218" cy="8506128"/>
          </a:xfrm>
          <a:custGeom>
            <a:avLst/>
            <a:gdLst/>
            <a:ahLst/>
            <a:cxnLst/>
            <a:rect r="r" b="b" t="t" l="l"/>
            <a:pathLst>
              <a:path h="8506128" w="11514218">
                <a:moveTo>
                  <a:pt x="0" y="0"/>
                </a:moveTo>
                <a:lnTo>
                  <a:pt x="11514218" y="0"/>
                </a:lnTo>
                <a:lnTo>
                  <a:pt x="11514218" y="8506129"/>
                </a:lnTo>
                <a:lnTo>
                  <a:pt x="0" y="8506129"/>
                </a:lnTo>
                <a:lnTo>
                  <a:pt x="0" y="0"/>
                </a:lnTo>
                <a:close/>
              </a:path>
            </a:pathLst>
          </a:custGeom>
          <a:blipFill>
            <a:blip r:embed="rId4"/>
            <a:stretch>
              <a:fillRect l="0" t="0" r="0" b="0"/>
            </a:stretch>
          </a:blipFill>
        </p:spPr>
      </p:sp>
      <p:grpSp>
        <p:nvGrpSpPr>
          <p:cNvPr name="Group 4" id="4"/>
          <p:cNvGrpSpPr/>
          <p:nvPr/>
        </p:nvGrpSpPr>
        <p:grpSpPr>
          <a:xfrm rot="0">
            <a:off x="17569218" y="-392510"/>
            <a:ext cx="1437565" cy="11072020"/>
            <a:chOff x="0" y="0"/>
            <a:chExt cx="378618" cy="2916088"/>
          </a:xfrm>
        </p:grpSpPr>
        <p:sp>
          <p:nvSpPr>
            <p:cNvPr name="Freeform 5" id="5"/>
            <p:cNvSpPr/>
            <p:nvPr/>
          </p:nvSpPr>
          <p:spPr>
            <a:xfrm flipH="false" flipV="false" rot="0">
              <a:off x="0" y="0"/>
              <a:ext cx="378618" cy="2916088"/>
            </a:xfrm>
            <a:custGeom>
              <a:avLst/>
              <a:gdLst/>
              <a:ahLst/>
              <a:cxnLst/>
              <a:rect r="r" b="b" t="t" l="l"/>
              <a:pathLst>
                <a:path h="2916088" w="378618">
                  <a:moveTo>
                    <a:pt x="0" y="0"/>
                  </a:moveTo>
                  <a:lnTo>
                    <a:pt x="378618" y="0"/>
                  </a:lnTo>
                  <a:lnTo>
                    <a:pt x="378618" y="2916088"/>
                  </a:lnTo>
                  <a:lnTo>
                    <a:pt x="0" y="2916088"/>
                  </a:lnTo>
                  <a:close/>
                </a:path>
              </a:pathLst>
            </a:custGeom>
            <a:gradFill rotWithShape="true">
              <a:gsLst>
                <a:gs pos="0">
                  <a:srgbClr val="E4B795">
                    <a:alpha val="100000"/>
                  </a:srgbClr>
                </a:gs>
                <a:gs pos="50000">
                  <a:srgbClr val="699ACD">
                    <a:alpha val="100000"/>
                  </a:srgbClr>
                </a:gs>
                <a:gs pos="100000">
                  <a:srgbClr val="2F679F">
                    <a:alpha val="100000"/>
                  </a:srgbClr>
                </a:gs>
              </a:gsLst>
              <a:path path="circle">
                <a:fillToRect l="0" r="100000" t="0" b="100000"/>
              </a:path>
              <a:tileRect r="0" l="-100000" b="0" t="-100000"/>
            </a:gradFill>
          </p:spPr>
        </p:sp>
        <p:sp>
          <p:nvSpPr>
            <p:cNvPr name="TextBox 6" id="6"/>
            <p:cNvSpPr txBox="true"/>
            <p:nvPr/>
          </p:nvSpPr>
          <p:spPr>
            <a:xfrm>
              <a:off x="0" y="-57150"/>
              <a:ext cx="378618" cy="2973238"/>
            </a:xfrm>
            <a:prstGeom prst="rect">
              <a:avLst/>
            </a:prstGeom>
          </p:spPr>
          <p:txBody>
            <a:bodyPr anchor="ctr" rtlCol="false" tIns="50800" lIns="50800" bIns="50800" rIns="50800"/>
            <a:lstStyle/>
            <a:p>
              <a:pPr algn="ctr">
                <a:lnSpc>
                  <a:spcPts val="3639"/>
                </a:lnSpc>
              </a:pPr>
            </a:p>
          </p:txBody>
        </p:sp>
      </p:grpSp>
      <p:sp>
        <p:nvSpPr>
          <p:cNvPr name="Freeform 7" id="7"/>
          <p:cNvSpPr/>
          <p:nvPr/>
        </p:nvSpPr>
        <p:spPr>
          <a:xfrm flipH="false" flipV="false" rot="0">
            <a:off x="601955" y="2437619"/>
            <a:ext cx="7707708" cy="4744985"/>
          </a:xfrm>
          <a:custGeom>
            <a:avLst/>
            <a:gdLst/>
            <a:ahLst/>
            <a:cxnLst/>
            <a:rect r="r" b="b" t="t" l="l"/>
            <a:pathLst>
              <a:path h="4744985" w="7707708">
                <a:moveTo>
                  <a:pt x="0" y="0"/>
                </a:moveTo>
                <a:lnTo>
                  <a:pt x="7707708" y="0"/>
                </a:lnTo>
                <a:lnTo>
                  <a:pt x="7707708" y="4744985"/>
                </a:lnTo>
                <a:lnTo>
                  <a:pt x="0" y="4744985"/>
                </a:lnTo>
                <a:lnTo>
                  <a:pt x="0" y="0"/>
                </a:lnTo>
                <a:close/>
              </a:path>
            </a:pathLst>
          </a:custGeom>
          <a:blipFill>
            <a:blip r:embed="rId5"/>
            <a:stretch>
              <a:fillRect l="0" t="0" r="0" b="0"/>
            </a:stretch>
          </a:blipFill>
        </p:spPr>
      </p:sp>
      <p:sp>
        <p:nvSpPr>
          <p:cNvPr name="Freeform 8" id="8"/>
          <p:cNvSpPr/>
          <p:nvPr/>
        </p:nvSpPr>
        <p:spPr>
          <a:xfrm flipH="false" flipV="false" rot="0">
            <a:off x="2500154" y="7890012"/>
            <a:ext cx="11619018" cy="2004281"/>
          </a:xfrm>
          <a:custGeom>
            <a:avLst/>
            <a:gdLst/>
            <a:ahLst/>
            <a:cxnLst/>
            <a:rect r="r" b="b" t="t" l="l"/>
            <a:pathLst>
              <a:path h="2004281" w="11619018">
                <a:moveTo>
                  <a:pt x="0" y="0"/>
                </a:moveTo>
                <a:lnTo>
                  <a:pt x="11619018" y="0"/>
                </a:lnTo>
                <a:lnTo>
                  <a:pt x="11619018" y="2004280"/>
                </a:lnTo>
                <a:lnTo>
                  <a:pt x="0" y="2004280"/>
                </a:lnTo>
                <a:lnTo>
                  <a:pt x="0" y="0"/>
                </a:lnTo>
                <a:close/>
              </a:path>
            </a:pathLst>
          </a:custGeom>
          <a:blipFill>
            <a:blip r:embed="rId6"/>
            <a:stretch>
              <a:fillRect l="0" t="0" r="0" b="0"/>
            </a:stretch>
          </a:blipFill>
        </p:spPr>
      </p:sp>
      <p:sp>
        <p:nvSpPr>
          <p:cNvPr name="TextBox 9" id="9"/>
          <p:cNvSpPr txBox="true"/>
          <p:nvPr/>
        </p:nvSpPr>
        <p:spPr>
          <a:xfrm rot="0">
            <a:off x="601955" y="1168938"/>
            <a:ext cx="17703925" cy="710373"/>
          </a:xfrm>
          <a:prstGeom prst="rect">
            <a:avLst/>
          </a:prstGeom>
        </p:spPr>
        <p:txBody>
          <a:bodyPr anchor="t" rtlCol="false" tIns="0" lIns="0" bIns="0" rIns="0">
            <a:spAutoFit/>
          </a:bodyPr>
          <a:lstStyle/>
          <a:p>
            <a:pPr algn="l">
              <a:lnSpc>
                <a:spcPts val="4927"/>
              </a:lnSpc>
            </a:pPr>
            <a:r>
              <a:rPr lang="en-US" sz="5080" b="true">
                <a:solidFill>
                  <a:srgbClr val="343434"/>
                </a:solidFill>
                <a:latin typeface="Telegraf Bold"/>
                <a:ea typeface="Telegraf Bold"/>
                <a:cs typeface="Telegraf Bold"/>
                <a:sym typeface="Telegraf Bold"/>
              </a:rPr>
              <a:t>THU THẬP DỮ LIỆU TỪ INTRINIO</a:t>
            </a:r>
          </a:p>
        </p:txBody>
      </p:sp>
      <p:sp>
        <p:nvSpPr>
          <p:cNvPr name="TextBox 10" id="10"/>
          <p:cNvSpPr txBox="true"/>
          <p:nvPr/>
        </p:nvSpPr>
        <p:spPr>
          <a:xfrm rot="0">
            <a:off x="1028700" y="1823573"/>
            <a:ext cx="5707748" cy="575946"/>
          </a:xfrm>
          <a:prstGeom prst="rect">
            <a:avLst/>
          </a:prstGeom>
        </p:spPr>
        <p:txBody>
          <a:bodyPr anchor="t" rtlCol="false" tIns="0" lIns="0" bIns="0" rIns="0">
            <a:spAutoFit/>
          </a:bodyPr>
          <a:lstStyle/>
          <a:p>
            <a:pPr algn="l" marL="0" indent="0" lvl="1">
              <a:lnSpc>
                <a:spcPts val="4479"/>
              </a:lnSpc>
              <a:spcBef>
                <a:spcPct val="0"/>
              </a:spcBef>
            </a:pPr>
            <a:r>
              <a:rPr lang="en-US" b="true" sz="3199" spc="159">
                <a:solidFill>
                  <a:srgbClr val="343434"/>
                </a:solidFill>
                <a:latin typeface="Telegraf Bold"/>
                <a:ea typeface="Telegraf Bold"/>
                <a:cs typeface="Telegraf Bold"/>
                <a:sym typeface="Telegraf Bold"/>
              </a:rPr>
              <a:t>Triển khai mã lệnh Python</a:t>
            </a:r>
          </a:p>
        </p:txBody>
      </p:sp>
      <p:sp>
        <p:nvSpPr>
          <p:cNvPr name="TextBox 11" id="11"/>
          <p:cNvSpPr txBox="true"/>
          <p:nvPr/>
        </p:nvSpPr>
        <p:spPr>
          <a:xfrm rot="0">
            <a:off x="1028700" y="7314029"/>
            <a:ext cx="6233294" cy="575983"/>
          </a:xfrm>
          <a:prstGeom prst="rect">
            <a:avLst/>
          </a:prstGeom>
        </p:spPr>
        <p:txBody>
          <a:bodyPr anchor="t" rtlCol="false" tIns="0" lIns="0" bIns="0" rIns="0">
            <a:spAutoFit/>
          </a:bodyPr>
          <a:lstStyle/>
          <a:p>
            <a:pPr algn="l" marL="0" indent="0" lvl="1">
              <a:lnSpc>
                <a:spcPts val="4479"/>
              </a:lnSpc>
              <a:spcBef>
                <a:spcPct val="0"/>
              </a:spcBef>
            </a:pPr>
            <a:r>
              <a:rPr lang="en-US" b="true" sz="3199" spc="159">
                <a:solidFill>
                  <a:srgbClr val="343434"/>
                </a:solidFill>
                <a:latin typeface="Telegraf Bold"/>
                <a:ea typeface="Telegraf Bold"/>
                <a:cs typeface="Telegraf Bold"/>
                <a:sym typeface="Telegraf Bold"/>
              </a:rPr>
              <a:t>Preview head của bộ dữ liệu</a:t>
            </a:r>
          </a:p>
        </p:txBody>
      </p:sp>
      <p:sp>
        <p:nvSpPr>
          <p:cNvPr name="TextBox 12" id="12"/>
          <p:cNvSpPr txBox="true"/>
          <p:nvPr/>
        </p:nvSpPr>
        <p:spPr>
          <a:xfrm rot="0">
            <a:off x="8835157" y="2753336"/>
            <a:ext cx="8734061" cy="3178175"/>
          </a:xfrm>
          <a:prstGeom prst="rect">
            <a:avLst/>
          </a:prstGeom>
        </p:spPr>
        <p:txBody>
          <a:bodyPr anchor="t" rtlCol="false" tIns="0" lIns="0" bIns="0" rIns="0">
            <a:spAutoFit/>
          </a:bodyPr>
          <a:lstStyle/>
          <a:p>
            <a:pPr algn="l">
              <a:lnSpc>
                <a:spcPts val="4199"/>
              </a:lnSpc>
            </a:pPr>
            <a:r>
              <a:rPr lang="en-US" sz="2999" spc="149" b="true">
                <a:solidFill>
                  <a:srgbClr val="343434"/>
                </a:solidFill>
                <a:latin typeface="Telegraf Bold"/>
                <a:ea typeface="Telegraf Bold"/>
                <a:cs typeface="Telegraf Bold"/>
                <a:sym typeface="Telegraf Bold"/>
              </a:rPr>
              <a:t>Cách thực hiện:</a:t>
            </a:r>
          </a:p>
          <a:p>
            <a:pPr algn="l">
              <a:lnSpc>
                <a:spcPts val="3499"/>
              </a:lnSpc>
            </a:pPr>
            <a:r>
              <a:rPr lang="en-US" sz="2499" spc="124">
                <a:solidFill>
                  <a:srgbClr val="343434"/>
                </a:solidFill>
                <a:latin typeface="Telegraf"/>
                <a:ea typeface="Telegraf"/>
                <a:cs typeface="Telegraf"/>
                <a:sym typeface="Telegraf"/>
              </a:rPr>
              <a:t>Sử dụng intrinio_sdk. Khởi tại ApiClient với API Key, sau đó sử dụng các lớp chuyên biệt như SecurityApi để gọi hàm get_security_stock_prices().</a:t>
            </a:r>
          </a:p>
          <a:p>
            <a:pPr algn="l" marL="0" indent="0" lvl="1">
              <a:lnSpc>
                <a:spcPts val="3499"/>
              </a:lnSpc>
              <a:spcBef>
                <a:spcPct val="0"/>
              </a:spcBef>
            </a:pPr>
            <a:r>
              <a:rPr lang="en-US" sz="2499" spc="124">
                <a:solidFill>
                  <a:srgbClr val="343434"/>
                </a:solidFill>
                <a:latin typeface="Telegraf"/>
                <a:ea typeface="Telegraf"/>
                <a:cs typeface="Telegraf"/>
                <a:sym typeface="Telegraf"/>
              </a:rPr>
              <a:t>Dữ liệu trả về ban đầu ở dạng đối tượng giống JSON (dictionary), sau đó được chuyển đổi thủ công sang DataFrame </a:t>
            </a:r>
          </a:p>
        </p:txBody>
      </p:sp>
    </p:spTree>
  </p:cSld>
  <p:clrMapOvr>
    <a:masterClrMapping/>
  </p:clrMapOvr>
</p:sld>
</file>

<file path=ppt/slides/slide11.xml><?xml version="1.0" encoding="utf-8"?>
<p:sld xmlns:p="http://schemas.openxmlformats.org/presentationml/2006/main" xmlns:a="http://schemas.openxmlformats.org/drawingml/2006/main" xmlns:r="http://schemas.openxmlformats.org/officeDocument/2006/relationships">
  <p:cSld>
    <p:bg>
      <p:bgPr>
        <a:solidFill>
          <a:srgbClr val="F2F7FA"/>
        </a:solidFill>
      </p:bgPr>
    </p:bg>
    <p:spTree>
      <p:nvGrpSpPr>
        <p:cNvPr id="1" name=""/>
        <p:cNvGrpSpPr/>
        <p:nvPr/>
      </p:nvGrpSpPr>
      <p:grpSpPr>
        <a:xfrm>
          <a:off x="0" y="0"/>
          <a:ext cx="0" cy="0"/>
          <a:chOff x="0" y="0"/>
          <a:chExt cx="0" cy="0"/>
        </a:xfrm>
      </p:grpSpPr>
      <p:sp>
        <p:nvSpPr>
          <p:cNvPr name="Freeform 2" id="2"/>
          <p:cNvSpPr/>
          <p:nvPr/>
        </p:nvSpPr>
        <p:spPr>
          <a:xfrm flipH="false" flipV="false" rot="225008">
            <a:off x="10871427" y="-2691098"/>
            <a:ext cx="12701350" cy="5382197"/>
          </a:xfrm>
          <a:custGeom>
            <a:avLst/>
            <a:gdLst/>
            <a:ahLst/>
            <a:cxnLst/>
            <a:rect r="r" b="b" t="t" l="l"/>
            <a:pathLst>
              <a:path h="5382197" w="12701350">
                <a:moveTo>
                  <a:pt x="0" y="0"/>
                </a:moveTo>
                <a:lnTo>
                  <a:pt x="12701349" y="0"/>
                </a:lnTo>
                <a:lnTo>
                  <a:pt x="12701349" y="5382196"/>
                </a:lnTo>
                <a:lnTo>
                  <a:pt x="0" y="5382196"/>
                </a:lnTo>
                <a:lnTo>
                  <a:pt x="0" y="0"/>
                </a:lnTo>
                <a:close/>
              </a:path>
            </a:pathLst>
          </a:custGeom>
          <a:blipFill>
            <a:blip r:embed="rId3"/>
            <a:stretch>
              <a:fillRect l="0" t="0" r="0" b="0"/>
            </a:stretch>
          </a:blipFill>
        </p:spPr>
      </p:sp>
      <p:sp>
        <p:nvSpPr>
          <p:cNvPr name="Freeform 3" id="3"/>
          <p:cNvSpPr/>
          <p:nvPr/>
        </p:nvSpPr>
        <p:spPr>
          <a:xfrm flipH="false" flipV="false" rot="0">
            <a:off x="-2370218" y="7461289"/>
            <a:ext cx="11514218" cy="8506128"/>
          </a:xfrm>
          <a:custGeom>
            <a:avLst/>
            <a:gdLst/>
            <a:ahLst/>
            <a:cxnLst/>
            <a:rect r="r" b="b" t="t" l="l"/>
            <a:pathLst>
              <a:path h="8506128" w="11514218">
                <a:moveTo>
                  <a:pt x="0" y="0"/>
                </a:moveTo>
                <a:lnTo>
                  <a:pt x="11514218" y="0"/>
                </a:lnTo>
                <a:lnTo>
                  <a:pt x="11514218" y="8506129"/>
                </a:lnTo>
                <a:lnTo>
                  <a:pt x="0" y="8506129"/>
                </a:lnTo>
                <a:lnTo>
                  <a:pt x="0" y="0"/>
                </a:lnTo>
                <a:close/>
              </a:path>
            </a:pathLst>
          </a:custGeom>
          <a:blipFill>
            <a:blip r:embed="rId4"/>
            <a:stretch>
              <a:fillRect l="0" t="0" r="0" b="0"/>
            </a:stretch>
          </a:blipFill>
        </p:spPr>
      </p:sp>
      <p:grpSp>
        <p:nvGrpSpPr>
          <p:cNvPr name="Group 4" id="4"/>
          <p:cNvGrpSpPr/>
          <p:nvPr/>
        </p:nvGrpSpPr>
        <p:grpSpPr>
          <a:xfrm rot="0">
            <a:off x="17569218" y="-392510"/>
            <a:ext cx="1437565" cy="11072020"/>
            <a:chOff x="0" y="0"/>
            <a:chExt cx="378618" cy="2916088"/>
          </a:xfrm>
        </p:grpSpPr>
        <p:sp>
          <p:nvSpPr>
            <p:cNvPr name="Freeform 5" id="5"/>
            <p:cNvSpPr/>
            <p:nvPr/>
          </p:nvSpPr>
          <p:spPr>
            <a:xfrm flipH="false" flipV="false" rot="0">
              <a:off x="0" y="0"/>
              <a:ext cx="378618" cy="2916088"/>
            </a:xfrm>
            <a:custGeom>
              <a:avLst/>
              <a:gdLst/>
              <a:ahLst/>
              <a:cxnLst/>
              <a:rect r="r" b="b" t="t" l="l"/>
              <a:pathLst>
                <a:path h="2916088" w="378618">
                  <a:moveTo>
                    <a:pt x="0" y="0"/>
                  </a:moveTo>
                  <a:lnTo>
                    <a:pt x="378618" y="0"/>
                  </a:lnTo>
                  <a:lnTo>
                    <a:pt x="378618" y="2916088"/>
                  </a:lnTo>
                  <a:lnTo>
                    <a:pt x="0" y="2916088"/>
                  </a:lnTo>
                  <a:close/>
                </a:path>
              </a:pathLst>
            </a:custGeom>
            <a:gradFill rotWithShape="true">
              <a:gsLst>
                <a:gs pos="0">
                  <a:srgbClr val="E4B795">
                    <a:alpha val="100000"/>
                  </a:srgbClr>
                </a:gs>
                <a:gs pos="50000">
                  <a:srgbClr val="699ACD">
                    <a:alpha val="100000"/>
                  </a:srgbClr>
                </a:gs>
                <a:gs pos="100000">
                  <a:srgbClr val="2F679F">
                    <a:alpha val="100000"/>
                  </a:srgbClr>
                </a:gs>
              </a:gsLst>
              <a:path path="circle">
                <a:fillToRect l="0" r="100000" t="0" b="100000"/>
              </a:path>
              <a:tileRect r="0" l="-100000" b="0" t="-100000"/>
            </a:gradFill>
          </p:spPr>
        </p:sp>
        <p:sp>
          <p:nvSpPr>
            <p:cNvPr name="TextBox 6" id="6"/>
            <p:cNvSpPr txBox="true"/>
            <p:nvPr/>
          </p:nvSpPr>
          <p:spPr>
            <a:xfrm>
              <a:off x="0" y="-57150"/>
              <a:ext cx="378618" cy="2973238"/>
            </a:xfrm>
            <a:prstGeom prst="rect">
              <a:avLst/>
            </a:prstGeom>
          </p:spPr>
          <p:txBody>
            <a:bodyPr anchor="ctr" rtlCol="false" tIns="50800" lIns="50800" bIns="50800" rIns="50800"/>
            <a:lstStyle/>
            <a:p>
              <a:pPr algn="ctr">
                <a:lnSpc>
                  <a:spcPts val="3639"/>
                </a:lnSpc>
              </a:pPr>
            </a:p>
          </p:txBody>
        </p:sp>
      </p:grpSp>
      <p:sp>
        <p:nvSpPr>
          <p:cNvPr name="Freeform 7" id="7"/>
          <p:cNvSpPr/>
          <p:nvPr/>
        </p:nvSpPr>
        <p:spPr>
          <a:xfrm flipH="false" flipV="false" rot="0">
            <a:off x="270408" y="2394694"/>
            <a:ext cx="8564749" cy="2489204"/>
          </a:xfrm>
          <a:custGeom>
            <a:avLst/>
            <a:gdLst/>
            <a:ahLst/>
            <a:cxnLst/>
            <a:rect r="r" b="b" t="t" l="l"/>
            <a:pathLst>
              <a:path h="2489204" w="8564749">
                <a:moveTo>
                  <a:pt x="0" y="0"/>
                </a:moveTo>
                <a:lnTo>
                  <a:pt x="8564749" y="0"/>
                </a:lnTo>
                <a:lnTo>
                  <a:pt x="8564749" y="2489204"/>
                </a:lnTo>
                <a:lnTo>
                  <a:pt x="0" y="2489204"/>
                </a:lnTo>
                <a:lnTo>
                  <a:pt x="0" y="0"/>
                </a:lnTo>
                <a:close/>
              </a:path>
            </a:pathLst>
          </a:custGeom>
          <a:blipFill>
            <a:blip r:embed="rId5"/>
            <a:stretch>
              <a:fillRect l="0" t="0" r="0" b="0"/>
            </a:stretch>
          </a:blipFill>
        </p:spPr>
      </p:sp>
      <p:sp>
        <p:nvSpPr>
          <p:cNvPr name="Freeform 8" id="8"/>
          <p:cNvSpPr/>
          <p:nvPr/>
        </p:nvSpPr>
        <p:spPr>
          <a:xfrm flipH="false" flipV="false" rot="0">
            <a:off x="270408" y="6081470"/>
            <a:ext cx="10356272" cy="3905461"/>
          </a:xfrm>
          <a:custGeom>
            <a:avLst/>
            <a:gdLst/>
            <a:ahLst/>
            <a:cxnLst/>
            <a:rect r="r" b="b" t="t" l="l"/>
            <a:pathLst>
              <a:path h="3905461" w="10356272">
                <a:moveTo>
                  <a:pt x="0" y="0"/>
                </a:moveTo>
                <a:lnTo>
                  <a:pt x="10356272" y="0"/>
                </a:lnTo>
                <a:lnTo>
                  <a:pt x="10356272" y="3905462"/>
                </a:lnTo>
                <a:lnTo>
                  <a:pt x="0" y="3905462"/>
                </a:lnTo>
                <a:lnTo>
                  <a:pt x="0" y="0"/>
                </a:lnTo>
                <a:close/>
              </a:path>
            </a:pathLst>
          </a:custGeom>
          <a:blipFill>
            <a:blip r:embed="rId6"/>
            <a:stretch>
              <a:fillRect l="0" t="0" r="0" b="0"/>
            </a:stretch>
          </a:blipFill>
        </p:spPr>
      </p:sp>
      <p:sp>
        <p:nvSpPr>
          <p:cNvPr name="TextBox 9" id="9"/>
          <p:cNvSpPr txBox="true"/>
          <p:nvPr/>
        </p:nvSpPr>
        <p:spPr>
          <a:xfrm rot="0">
            <a:off x="584075" y="702089"/>
            <a:ext cx="17703925" cy="710373"/>
          </a:xfrm>
          <a:prstGeom prst="rect">
            <a:avLst/>
          </a:prstGeom>
        </p:spPr>
        <p:txBody>
          <a:bodyPr anchor="t" rtlCol="false" tIns="0" lIns="0" bIns="0" rIns="0">
            <a:spAutoFit/>
          </a:bodyPr>
          <a:lstStyle/>
          <a:p>
            <a:pPr algn="l">
              <a:lnSpc>
                <a:spcPts val="4927"/>
              </a:lnSpc>
            </a:pPr>
            <a:r>
              <a:rPr lang="en-US" sz="5080" b="true">
                <a:solidFill>
                  <a:srgbClr val="343434"/>
                </a:solidFill>
                <a:latin typeface="Telegraf Bold"/>
                <a:ea typeface="Telegraf Bold"/>
                <a:cs typeface="Telegraf Bold"/>
                <a:sym typeface="Telegraf Bold"/>
              </a:rPr>
              <a:t>CÁC TÍNH NĂNG MỞ RỘNG CỦA INTRINIO</a:t>
            </a:r>
          </a:p>
        </p:txBody>
      </p:sp>
      <p:sp>
        <p:nvSpPr>
          <p:cNvPr name="TextBox 10" id="10"/>
          <p:cNvSpPr txBox="true"/>
          <p:nvPr/>
        </p:nvSpPr>
        <p:spPr>
          <a:xfrm rot="0">
            <a:off x="843043" y="5505488"/>
            <a:ext cx="4098997" cy="575946"/>
          </a:xfrm>
          <a:prstGeom prst="rect">
            <a:avLst/>
          </a:prstGeom>
        </p:spPr>
        <p:txBody>
          <a:bodyPr anchor="t" rtlCol="false" tIns="0" lIns="0" bIns="0" rIns="0">
            <a:spAutoFit/>
          </a:bodyPr>
          <a:lstStyle/>
          <a:p>
            <a:pPr algn="l" marL="0" indent="0" lvl="1">
              <a:lnSpc>
                <a:spcPts val="4479"/>
              </a:lnSpc>
              <a:spcBef>
                <a:spcPct val="0"/>
              </a:spcBef>
            </a:pPr>
            <a:r>
              <a:rPr lang="en-US" b="true" sz="3199" spc="159">
                <a:solidFill>
                  <a:srgbClr val="343434"/>
                </a:solidFill>
                <a:latin typeface="Telegraf Bold"/>
                <a:ea typeface="Telegraf Bold"/>
                <a:cs typeface="Telegraf Bold"/>
                <a:sym typeface="Telegraf Bold"/>
              </a:rPr>
              <a:t>Preview bộ dữ liệu</a:t>
            </a:r>
          </a:p>
        </p:txBody>
      </p:sp>
      <p:sp>
        <p:nvSpPr>
          <p:cNvPr name="TextBox 11" id="11"/>
          <p:cNvSpPr txBox="true"/>
          <p:nvPr/>
        </p:nvSpPr>
        <p:spPr>
          <a:xfrm rot="0">
            <a:off x="9144000" y="2403475"/>
            <a:ext cx="8425218" cy="1863725"/>
          </a:xfrm>
          <a:prstGeom prst="rect">
            <a:avLst/>
          </a:prstGeom>
        </p:spPr>
        <p:txBody>
          <a:bodyPr anchor="t" rtlCol="false" tIns="0" lIns="0" bIns="0" rIns="0">
            <a:spAutoFit/>
          </a:bodyPr>
          <a:lstStyle/>
          <a:p>
            <a:pPr algn="l">
              <a:lnSpc>
                <a:spcPts val="4199"/>
              </a:lnSpc>
            </a:pPr>
            <a:r>
              <a:rPr lang="en-US" sz="2999" spc="149" b="true">
                <a:solidFill>
                  <a:srgbClr val="343434"/>
                </a:solidFill>
                <a:latin typeface="Telegraf Bold"/>
                <a:ea typeface="Telegraf Bold"/>
                <a:cs typeface="Telegraf Bold"/>
                <a:sym typeface="Telegraf Bold"/>
              </a:rPr>
              <a:t>Cách thực hiện:</a:t>
            </a:r>
          </a:p>
          <a:p>
            <a:pPr algn="l" marL="0" indent="0" lvl="1">
              <a:lnSpc>
                <a:spcPts val="3499"/>
              </a:lnSpc>
              <a:spcBef>
                <a:spcPct val="0"/>
              </a:spcBef>
            </a:pPr>
            <a:r>
              <a:rPr lang="en-US" sz="2499" spc="124">
                <a:solidFill>
                  <a:srgbClr val="343434"/>
                </a:solidFill>
                <a:latin typeface="Telegraf"/>
                <a:ea typeface="Telegraf"/>
                <a:cs typeface="Telegraf"/>
                <a:sym typeface="Telegraf"/>
              </a:rPr>
              <a:t>Sử dụng phương thức get_security_intraday_prices() để lấydữ liệu giá theo từng mốc thời gian ngắn trong ngày</a:t>
            </a:r>
          </a:p>
        </p:txBody>
      </p:sp>
      <p:sp>
        <p:nvSpPr>
          <p:cNvPr name="TextBox 12" id="12"/>
          <p:cNvSpPr txBox="true"/>
          <p:nvPr/>
        </p:nvSpPr>
        <p:spPr>
          <a:xfrm rot="0">
            <a:off x="843043" y="1511996"/>
            <a:ext cx="5713485" cy="575946"/>
          </a:xfrm>
          <a:prstGeom prst="rect">
            <a:avLst/>
          </a:prstGeom>
        </p:spPr>
        <p:txBody>
          <a:bodyPr anchor="t" rtlCol="false" tIns="0" lIns="0" bIns="0" rIns="0">
            <a:spAutoFit/>
          </a:bodyPr>
          <a:lstStyle/>
          <a:p>
            <a:pPr algn="l" marL="0" indent="0" lvl="1">
              <a:lnSpc>
                <a:spcPts val="4479"/>
              </a:lnSpc>
              <a:spcBef>
                <a:spcPct val="0"/>
              </a:spcBef>
            </a:pPr>
            <a:r>
              <a:rPr lang="en-US" b="true" sz="3199" spc="159">
                <a:solidFill>
                  <a:srgbClr val="343434"/>
                </a:solidFill>
                <a:latin typeface="Telegraf Bold"/>
                <a:ea typeface="Telegraf Bold"/>
                <a:cs typeface="Telegraf Bold"/>
                <a:sym typeface="Telegraf Bold"/>
              </a:rPr>
              <a:t>Dữ liệu lịch sử trong ngày</a:t>
            </a:r>
          </a:p>
        </p:txBody>
      </p:sp>
      <p:sp>
        <p:nvSpPr>
          <p:cNvPr name="TextBox 13" id="13"/>
          <p:cNvSpPr txBox="true"/>
          <p:nvPr/>
        </p:nvSpPr>
        <p:spPr>
          <a:xfrm rot="0">
            <a:off x="11127007" y="5986220"/>
            <a:ext cx="5627752" cy="3752215"/>
          </a:xfrm>
          <a:prstGeom prst="rect">
            <a:avLst/>
          </a:prstGeom>
        </p:spPr>
        <p:txBody>
          <a:bodyPr anchor="t" rtlCol="false" tIns="0" lIns="0" bIns="0" rIns="0">
            <a:spAutoFit/>
          </a:bodyPr>
          <a:lstStyle/>
          <a:p>
            <a:pPr algn="l">
              <a:lnSpc>
                <a:spcPts val="4199"/>
              </a:lnSpc>
            </a:pPr>
            <a:r>
              <a:rPr lang="en-US" sz="2999" spc="149" b="true">
                <a:solidFill>
                  <a:srgbClr val="343434"/>
                </a:solidFill>
                <a:latin typeface="Telegraf Bold"/>
                <a:ea typeface="Telegraf Bold"/>
                <a:cs typeface="Telegraf Bold"/>
                <a:sym typeface="Telegraf Bold"/>
              </a:rPr>
              <a:t>Công dụng của tính năng:</a:t>
            </a:r>
          </a:p>
          <a:p>
            <a:pPr algn="l" marL="0" indent="0" lvl="1">
              <a:lnSpc>
                <a:spcPts val="3219"/>
              </a:lnSpc>
              <a:spcBef>
                <a:spcPct val="0"/>
              </a:spcBef>
            </a:pPr>
            <a:r>
              <a:rPr lang="en-US" sz="2299" spc="114">
                <a:solidFill>
                  <a:srgbClr val="343434"/>
                </a:solidFill>
                <a:latin typeface="Telegraf"/>
                <a:ea typeface="Telegraf"/>
                <a:cs typeface="Telegraf"/>
                <a:sym typeface="Telegraf"/>
              </a:rPr>
              <a:t>Dữ liệu intraday của Intrinio cung cấp cái nhìn sâu sắc về cấu trúc vi mô thị trường thông qua thông tin chi tiết về độ sâu sổ lệnh (bid/ask size), đóng vai trò là 'nguyên liệu' then chốt để xây dựng các loại thanh giá hiện đại và tính toán biến động thực tế với độ chính xác cao nhất</a:t>
            </a:r>
          </a:p>
        </p:txBody>
      </p:sp>
    </p:spTree>
  </p:cSld>
  <p:clrMapOvr>
    <a:masterClrMapping/>
  </p:clrMapOvr>
</p:sld>
</file>

<file path=ppt/slides/slide12.xml><?xml version="1.0" encoding="utf-8"?>
<p:sld xmlns:p="http://schemas.openxmlformats.org/presentationml/2006/main" xmlns:a="http://schemas.openxmlformats.org/drawingml/2006/main" xmlns:r="http://schemas.openxmlformats.org/officeDocument/2006/relationships">
  <p:cSld>
    <p:bg>
      <p:bgPr>
        <a:solidFill>
          <a:srgbClr val="F2F7FA"/>
        </a:solidFill>
      </p:bgPr>
    </p:bg>
    <p:spTree>
      <p:nvGrpSpPr>
        <p:cNvPr id="1" name=""/>
        <p:cNvGrpSpPr/>
        <p:nvPr/>
      </p:nvGrpSpPr>
      <p:grpSpPr>
        <a:xfrm>
          <a:off x="0" y="0"/>
          <a:ext cx="0" cy="0"/>
          <a:chOff x="0" y="0"/>
          <a:chExt cx="0" cy="0"/>
        </a:xfrm>
      </p:grpSpPr>
      <p:sp>
        <p:nvSpPr>
          <p:cNvPr name="Freeform 2" id="2"/>
          <p:cNvSpPr/>
          <p:nvPr/>
        </p:nvSpPr>
        <p:spPr>
          <a:xfrm flipH="false" flipV="false" rot="225008">
            <a:off x="10871427" y="-2691098"/>
            <a:ext cx="12701350" cy="5382197"/>
          </a:xfrm>
          <a:custGeom>
            <a:avLst/>
            <a:gdLst/>
            <a:ahLst/>
            <a:cxnLst/>
            <a:rect r="r" b="b" t="t" l="l"/>
            <a:pathLst>
              <a:path h="5382197" w="12701350">
                <a:moveTo>
                  <a:pt x="0" y="0"/>
                </a:moveTo>
                <a:lnTo>
                  <a:pt x="12701349" y="0"/>
                </a:lnTo>
                <a:lnTo>
                  <a:pt x="12701349" y="5382196"/>
                </a:lnTo>
                <a:lnTo>
                  <a:pt x="0" y="5382196"/>
                </a:lnTo>
                <a:lnTo>
                  <a:pt x="0" y="0"/>
                </a:lnTo>
                <a:close/>
              </a:path>
            </a:pathLst>
          </a:custGeom>
          <a:blipFill>
            <a:blip r:embed="rId3"/>
            <a:stretch>
              <a:fillRect l="0" t="0" r="0" b="0"/>
            </a:stretch>
          </a:blipFill>
        </p:spPr>
      </p:sp>
      <p:sp>
        <p:nvSpPr>
          <p:cNvPr name="Freeform 3" id="3"/>
          <p:cNvSpPr/>
          <p:nvPr/>
        </p:nvSpPr>
        <p:spPr>
          <a:xfrm flipH="false" flipV="false" rot="0">
            <a:off x="-2370218" y="7461289"/>
            <a:ext cx="11514218" cy="8506128"/>
          </a:xfrm>
          <a:custGeom>
            <a:avLst/>
            <a:gdLst/>
            <a:ahLst/>
            <a:cxnLst/>
            <a:rect r="r" b="b" t="t" l="l"/>
            <a:pathLst>
              <a:path h="8506128" w="11514218">
                <a:moveTo>
                  <a:pt x="0" y="0"/>
                </a:moveTo>
                <a:lnTo>
                  <a:pt x="11514218" y="0"/>
                </a:lnTo>
                <a:lnTo>
                  <a:pt x="11514218" y="8506129"/>
                </a:lnTo>
                <a:lnTo>
                  <a:pt x="0" y="8506129"/>
                </a:lnTo>
                <a:lnTo>
                  <a:pt x="0" y="0"/>
                </a:lnTo>
                <a:close/>
              </a:path>
            </a:pathLst>
          </a:custGeom>
          <a:blipFill>
            <a:blip r:embed="rId4"/>
            <a:stretch>
              <a:fillRect l="0" t="0" r="0" b="0"/>
            </a:stretch>
          </a:blipFill>
        </p:spPr>
      </p:sp>
      <p:grpSp>
        <p:nvGrpSpPr>
          <p:cNvPr name="Group 4" id="4"/>
          <p:cNvGrpSpPr/>
          <p:nvPr/>
        </p:nvGrpSpPr>
        <p:grpSpPr>
          <a:xfrm rot="0">
            <a:off x="17569218" y="-392510"/>
            <a:ext cx="1437565" cy="11072020"/>
            <a:chOff x="0" y="0"/>
            <a:chExt cx="378618" cy="2916088"/>
          </a:xfrm>
        </p:grpSpPr>
        <p:sp>
          <p:nvSpPr>
            <p:cNvPr name="Freeform 5" id="5"/>
            <p:cNvSpPr/>
            <p:nvPr/>
          </p:nvSpPr>
          <p:spPr>
            <a:xfrm flipH="false" flipV="false" rot="0">
              <a:off x="0" y="0"/>
              <a:ext cx="378618" cy="2916088"/>
            </a:xfrm>
            <a:custGeom>
              <a:avLst/>
              <a:gdLst/>
              <a:ahLst/>
              <a:cxnLst/>
              <a:rect r="r" b="b" t="t" l="l"/>
              <a:pathLst>
                <a:path h="2916088" w="378618">
                  <a:moveTo>
                    <a:pt x="0" y="0"/>
                  </a:moveTo>
                  <a:lnTo>
                    <a:pt x="378618" y="0"/>
                  </a:lnTo>
                  <a:lnTo>
                    <a:pt x="378618" y="2916088"/>
                  </a:lnTo>
                  <a:lnTo>
                    <a:pt x="0" y="2916088"/>
                  </a:lnTo>
                  <a:close/>
                </a:path>
              </a:pathLst>
            </a:custGeom>
            <a:gradFill rotWithShape="true">
              <a:gsLst>
                <a:gs pos="0">
                  <a:srgbClr val="E4B795">
                    <a:alpha val="100000"/>
                  </a:srgbClr>
                </a:gs>
                <a:gs pos="50000">
                  <a:srgbClr val="699ACD">
                    <a:alpha val="100000"/>
                  </a:srgbClr>
                </a:gs>
                <a:gs pos="100000">
                  <a:srgbClr val="2F679F">
                    <a:alpha val="100000"/>
                  </a:srgbClr>
                </a:gs>
              </a:gsLst>
              <a:path path="circle">
                <a:fillToRect l="0" r="100000" t="0" b="100000"/>
              </a:path>
              <a:tileRect r="0" l="-100000" b="0" t="-100000"/>
            </a:gradFill>
          </p:spPr>
        </p:sp>
        <p:sp>
          <p:nvSpPr>
            <p:cNvPr name="TextBox 6" id="6"/>
            <p:cNvSpPr txBox="true"/>
            <p:nvPr/>
          </p:nvSpPr>
          <p:spPr>
            <a:xfrm>
              <a:off x="0" y="-57150"/>
              <a:ext cx="378618" cy="2973238"/>
            </a:xfrm>
            <a:prstGeom prst="rect">
              <a:avLst/>
            </a:prstGeom>
          </p:spPr>
          <p:txBody>
            <a:bodyPr anchor="ctr" rtlCol="false" tIns="50800" lIns="50800" bIns="50800" rIns="50800"/>
            <a:lstStyle/>
            <a:p>
              <a:pPr algn="ctr">
                <a:lnSpc>
                  <a:spcPts val="3639"/>
                </a:lnSpc>
              </a:pPr>
            </a:p>
          </p:txBody>
        </p:sp>
      </p:grpSp>
      <p:sp>
        <p:nvSpPr>
          <p:cNvPr name="Freeform 7" id="7"/>
          <p:cNvSpPr/>
          <p:nvPr/>
        </p:nvSpPr>
        <p:spPr>
          <a:xfrm flipH="false" flipV="false" rot="0">
            <a:off x="843043" y="2321304"/>
            <a:ext cx="7727852" cy="3173352"/>
          </a:xfrm>
          <a:custGeom>
            <a:avLst/>
            <a:gdLst/>
            <a:ahLst/>
            <a:cxnLst/>
            <a:rect r="r" b="b" t="t" l="l"/>
            <a:pathLst>
              <a:path h="3173352" w="7727852">
                <a:moveTo>
                  <a:pt x="0" y="0"/>
                </a:moveTo>
                <a:lnTo>
                  <a:pt x="7727853" y="0"/>
                </a:lnTo>
                <a:lnTo>
                  <a:pt x="7727853" y="3173352"/>
                </a:lnTo>
                <a:lnTo>
                  <a:pt x="0" y="3173352"/>
                </a:lnTo>
                <a:lnTo>
                  <a:pt x="0" y="0"/>
                </a:lnTo>
                <a:close/>
              </a:path>
            </a:pathLst>
          </a:custGeom>
          <a:blipFill>
            <a:blip r:embed="rId5"/>
            <a:stretch>
              <a:fillRect l="0" t="0" r="0" b="0"/>
            </a:stretch>
          </a:blipFill>
        </p:spPr>
      </p:sp>
      <p:sp>
        <p:nvSpPr>
          <p:cNvPr name="Freeform 8" id="8"/>
          <p:cNvSpPr/>
          <p:nvPr/>
        </p:nvSpPr>
        <p:spPr>
          <a:xfrm flipH="false" flipV="false" rot="0">
            <a:off x="0" y="6718339"/>
            <a:ext cx="11601771" cy="2107003"/>
          </a:xfrm>
          <a:custGeom>
            <a:avLst/>
            <a:gdLst/>
            <a:ahLst/>
            <a:cxnLst/>
            <a:rect r="r" b="b" t="t" l="l"/>
            <a:pathLst>
              <a:path h="2107003" w="11601771">
                <a:moveTo>
                  <a:pt x="0" y="0"/>
                </a:moveTo>
                <a:lnTo>
                  <a:pt x="11601771" y="0"/>
                </a:lnTo>
                <a:lnTo>
                  <a:pt x="11601771" y="2107003"/>
                </a:lnTo>
                <a:lnTo>
                  <a:pt x="0" y="2107003"/>
                </a:lnTo>
                <a:lnTo>
                  <a:pt x="0" y="0"/>
                </a:lnTo>
                <a:close/>
              </a:path>
            </a:pathLst>
          </a:custGeom>
          <a:blipFill>
            <a:blip r:embed="rId6"/>
            <a:stretch>
              <a:fillRect l="-1600" t="0" r="0" b="0"/>
            </a:stretch>
          </a:blipFill>
        </p:spPr>
      </p:sp>
      <p:sp>
        <p:nvSpPr>
          <p:cNvPr name="TextBox 9" id="9"/>
          <p:cNvSpPr txBox="true"/>
          <p:nvPr/>
        </p:nvSpPr>
        <p:spPr>
          <a:xfrm rot="0">
            <a:off x="584075" y="702089"/>
            <a:ext cx="17703925" cy="710373"/>
          </a:xfrm>
          <a:prstGeom prst="rect">
            <a:avLst/>
          </a:prstGeom>
        </p:spPr>
        <p:txBody>
          <a:bodyPr anchor="t" rtlCol="false" tIns="0" lIns="0" bIns="0" rIns="0">
            <a:spAutoFit/>
          </a:bodyPr>
          <a:lstStyle/>
          <a:p>
            <a:pPr algn="l">
              <a:lnSpc>
                <a:spcPts val="4927"/>
              </a:lnSpc>
            </a:pPr>
            <a:r>
              <a:rPr lang="en-US" sz="5080" b="true">
                <a:solidFill>
                  <a:srgbClr val="343434"/>
                </a:solidFill>
                <a:latin typeface="Telegraf Bold"/>
                <a:ea typeface="Telegraf Bold"/>
                <a:cs typeface="Telegraf Bold"/>
                <a:sym typeface="Telegraf Bold"/>
              </a:rPr>
              <a:t>CÁC TÍNH NĂNG MỞ RỘNG CỦA INTRINIO</a:t>
            </a:r>
          </a:p>
        </p:txBody>
      </p:sp>
      <p:sp>
        <p:nvSpPr>
          <p:cNvPr name="TextBox 10" id="10"/>
          <p:cNvSpPr txBox="true"/>
          <p:nvPr/>
        </p:nvSpPr>
        <p:spPr>
          <a:xfrm rot="0">
            <a:off x="843043" y="5770881"/>
            <a:ext cx="6233294" cy="575983"/>
          </a:xfrm>
          <a:prstGeom prst="rect">
            <a:avLst/>
          </a:prstGeom>
        </p:spPr>
        <p:txBody>
          <a:bodyPr anchor="t" rtlCol="false" tIns="0" lIns="0" bIns="0" rIns="0">
            <a:spAutoFit/>
          </a:bodyPr>
          <a:lstStyle/>
          <a:p>
            <a:pPr algn="l" marL="0" indent="0" lvl="1">
              <a:lnSpc>
                <a:spcPts val="4479"/>
              </a:lnSpc>
              <a:spcBef>
                <a:spcPct val="0"/>
              </a:spcBef>
            </a:pPr>
            <a:r>
              <a:rPr lang="en-US" b="true" sz="3199" spc="159">
                <a:solidFill>
                  <a:srgbClr val="343434"/>
                </a:solidFill>
                <a:latin typeface="Telegraf Bold"/>
                <a:ea typeface="Telegraf Bold"/>
                <a:cs typeface="Telegraf Bold"/>
                <a:sym typeface="Telegraf Bold"/>
              </a:rPr>
              <a:t>Preview head của bộ dữ liệu</a:t>
            </a:r>
          </a:p>
        </p:txBody>
      </p:sp>
      <p:sp>
        <p:nvSpPr>
          <p:cNvPr name="TextBox 11" id="11"/>
          <p:cNvSpPr txBox="true"/>
          <p:nvPr/>
        </p:nvSpPr>
        <p:spPr>
          <a:xfrm rot="0">
            <a:off x="8835157" y="2403475"/>
            <a:ext cx="8734061" cy="2740025"/>
          </a:xfrm>
          <a:prstGeom prst="rect">
            <a:avLst/>
          </a:prstGeom>
        </p:spPr>
        <p:txBody>
          <a:bodyPr anchor="t" rtlCol="false" tIns="0" lIns="0" bIns="0" rIns="0">
            <a:spAutoFit/>
          </a:bodyPr>
          <a:lstStyle/>
          <a:p>
            <a:pPr algn="l">
              <a:lnSpc>
                <a:spcPts val="4199"/>
              </a:lnSpc>
            </a:pPr>
            <a:r>
              <a:rPr lang="en-US" sz="2999" spc="149" b="true">
                <a:solidFill>
                  <a:srgbClr val="343434"/>
                </a:solidFill>
                <a:latin typeface="Telegraf Bold"/>
                <a:ea typeface="Telegraf Bold"/>
                <a:cs typeface="Telegraf Bold"/>
                <a:sym typeface="Telegraf Bold"/>
              </a:rPr>
              <a:t>Cách thực hiện:</a:t>
            </a:r>
          </a:p>
          <a:p>
            <a:pPr algn="l">
              <a:lnSpc>
                <a:spcPts val="3499"/>
              </a:lnSpc>
            </a:pPr>
            <a:r>
              <a:rPr lang="en-US" sz="2499" spc="124">
                <a:solidFill>
                  <a:srgbClr val="343434"/>
                </a:solidFill>
                <a:latin typeface="Telegraf"/>
                <a:ea typeface="Telegraf"/>
                <a:cs typeface="Telegraf"/>
                <a:sym typeface="Telegraf"/>
              </a:rPr>
              <a:t>Sử dụng phương thức get_company_news() để lấy các bài báo liên quan đến công ty</a:t>
            </a:r>
            <a:r>
              <a:rPr lang="en-US" sz="2499" spc="124">
                <a:solidFill>
                  <a:srgbClr val="343434"/>
                </a:solidFill>
                <a:latin typeface="Telegraf"/>
                <a:ea typeface="Telegraf"/>
                <a:cs typeface="Telegraf"/>
                <a:sym typeface="Telegraf"/>
              </a:rPr>
              <a:t>.</a:t>
            </a:r>
          </a:p>
          <a:p>
            <a:pPr algn="l" marL="0" indent="0" lvl="1">
              <a:lnSpc>
                <a:spcPts val="3499"/>
              </a:lnSpc>
              <a:spcBef>
                <a:spcPct val="0"/>
              </a:spcBef>
            </a:pPr>
            <a:r>
              <a:rPr lang="en-US" sz="2499" spc="124">
                <a:solidFill>
                  <a:srgbClr val="343434"/>
                </a:solidFill>
                <a:latin typeface="Telegraf"/>
                <a:ea typeface="Telegraf"/>
                <a:cs typeface="Telegraf"/>
                <a:sym typeface="Telegraf"/>
              </a:rPr>
              <a:t>Dữ liệu trả về ban đầu ở dạng đối tượng giống JSON (dictionary), sau đó được chuyển đổi thủ công sang DataFrame </a:t>
            </a:r>
          </a:p>
        </p:txBody>
      </p:sp>
      <p:sp>
        <p:nvSpPr>
          <p:cNvPr name="TextBox 12" id="12"/>
          <p:cNvSpPr txBox="true"/>
          <p:nvPr/>
        </p:nvSpPr>
        <p:spPr>
          <a:xfrm rot="0">
            <a:off x="843043" y="1511996"/>
            <a:ext cx="8720462" cy="575946"/>
          </a:xfrm>
          <a:prstGeom prst="rect">
            <a:avLst/>
          </a:prstGeom>
        </p:spPr>
        <p:txBody>
          <a:bodyPr anchor="t" rtlCol="false" tIns="0" lIns="0" bIns="0" rIns="0">
            <a:spAutoFit/>
          </a:bodyPr>
          <a:lstStyle/>
          <a:p>
            <a:pPr algn="l" marL="0" indent="0" lvl="1">
              <a:lnSpc>
                <a:spcPts val="4479"/>
              </a:lnSpc>
              <a:spcBef>
                <a:spcPct val="0"/>
              </a:spcBef>
            </a:pPr>
            <a:r>
              <a:rPr lang="en-US" b="true" sz="3199" spc="159">
                <a:solidFill>
                  <a:srgbClr val="343434"/>
                </a:solidFill>
                <a:latin typeface="Telegraf Bold"/>
                <a:ea typeface="Telegraf Bold"/>
                <a:cs typeface="Telegraf Bold"/>
                <a:sym typeface="Telegraf Bold"/>
              </a:rPr>
              <a:t>Khai thác dữ liệu tin tức trong tài chính</a:t>
            </a:r>
          </a:p>
        </p:txBody>
      </p:sp>
      <p:sp>
        <p:nvSpPr>
          <p:cNvPr name="TextBox 13" id="13"/>
          <p:cNvSpPr txBox="true"/>
          <p:nvPr/>
        </p:nvSpPr>
        <p:spPr>
          <a:xfrm rot="0">
            <a:off x="12023968" y="5986220"/>
            <a:ext cx="5235332" cy="3475990"/>
          </a:xfrm>
          <a:prstGeom prst="rect">
            <a:avLst/>
          </a:prstGeom>
        </p:spPr>
        <p:txBody>
          <a:bodyPr anchor="t" rtlCol="false" tIns="0" lIns="0" bIns="0" rIns="0">
            <a:spAutoFit/>
          </a:bodyPr>
          <a:lstStyle/>
          <a:p>
            <a:pPr algn="l">
              <a:lnSpc>
                <a:spcPts val="4199"/>
              </a:lnSpc>
            </a:pPr>
            <a:r>
              <a:rPr lang="en-US" sz="2999" spc="149" b="true">
                <a:solidFill>
                  <a:srgbClr val="343434"/>
                </a:solidFill>
                <a:latin typeface="Telegraf Bold"/>
                <a:ea typeface="Telegraf Bold"/>
                <a:cs typeface="Telegraf Bold"/>
                <a:sym typeface="Telegraf Bold"/>
              </a:rPr>
              <a:t>Công dụng của tính năng:</a:t>
            </a:r>
          </a:p>
          <a:p>
            <a:pPr algn="l" marL="0" indent="0" lvl="1">
              <a:lnSpc>
                <a:spcPts val="3219"/>
              </a:lnSpc>
              <a:spcBef>
                <a:spcPct val="0"/>
              </a:spcBef>
            </a:pPr>
            <a:r>
              <a:rPr lang="en-US" sz="2299" spc="114">
                <a:solidFill>
                  <a:srgbClr val="343434"/>
                </a:solidFill>
                <a:latin typeface="Telegraf"/>
                <a:ea typeface="Telegraf"/>
                <a:cs typeface="Telegraf"/>
                <a:sym typeface="Telegraf"/>
              </a:rPr>
              <a:t>Tính năng này giúp các nhà phân tích tài chính và mô hình học máy khai thác thông tin từ tin tức, từ đó hỗ trợ xây dựng chiến lược và dự đoán xu hướng của doanh nghiệp</a:t>
            </a:r>
          </a:p>
        </p:txBody>
      </p:sp>
    </p:spTree>
  </p:cSld>
  <p:clrMapOvr>
    <a:masterClrMapping/>
  </p:clrMapOvr>
</p:sld>
</file>

<file path=ppt/slides/slide13.xml><?xml version="1.0" encoding="utf-8"?>
<p:sld xmlns:p="http://schemas.openxmlformats.org/presentationml/2006/main" xmlns:a="http://schemas.openxmlformats.org/drawingml/2006/main" xmlns:r="http://schemas.openxmlformats.org/officeDocument/2006/relationships">
  <p:cSld>
    <p:bg>
      <p:bgPr>
        <a:solidFill>
          <a:srgbClr val="F2F7FA"/>
        </a:solidFill>
      </p:bgPr>
    </p:bg>
    <p:spTree>
      <p:nvGrpSpPr>
        <p:cNvPr id="1" name=""/>
        <p:cNvGrpSpPr/>
        <p:nvPr/>
      </p:nvGrpSpPr>
      <p:grpSpPr>
        <a:xfrm>
          <a:off x="0" y="0"/>
          <a:ext cx="0" cy="0"/>
          <a:chOff x="0" y="0"/>
          <a:chExt cx="0" cy="0"/>
        </a:xfrm>
      </p:grpSpPr>
      <p:sp>
        <p:nvSpPr>
          <p:cNvPr name="Freeform 2" id="2"/>
          <p:cNvSpPr/>
          <p:nvPr/>
        </p:nvSpPr>
        <p:spPr>
          <a:xfrm flipH="true" flipV="false" rot="-1565348">
            <a:off x="-1362223" y="-2212276"/>
            <a:ext cx="10441422" cy="4424552"/>
          </a:xfrm>
          <a:custGeom>
            <a:avLst/>
            <a:gdLst/>
            <a:ahLst/>
            <a:cxnLst/>
            <a:rect r="r" b="b" t="t" l="l"/>
            <a:pathLst>
              <a:path h="4424552" w="10441422">
                <a:moveTo>
                  <a:pt x="10441421" y="0"/>
                </a:moveTo>
                <a:lnTo>
                  <a:pt x="0" y="0"/>
                </a:lnTo>
                <a:lnTo>
                  <a:pt x="0" y="4424552"/>
                </a:lnTo>
                <a:lnTo>
                  <a:pt x="10441421" y="4424552"/>
                </a:lnTo>
                <a:lnTo>
                  <a:pt x="10441421" y="0"/>
                </a:lnTo>
                <a:close/>
              </a:path>
            </a:pathLst>
          </a:custGeom>
          <a:blipFill>
            <a:blip r:embed="rId2"/>
            <a:stretch>
              <a:fillRect l="0" t="0" r="0" b="0"/>
            </a:stretch>
          </a:blipFill>
        </p:spPr>
      </p:sp>
      <p:sp>
        <p:nvSpPr>
          <p:cNvPr name="Freeform 3" id="3"/>
          <p:cNvSpPr/>
          <p:nvPr/>
        </p:nvSpPr>
        <p:spPr>
          <a:xfrm flipH="false" flipV="false" rot="8250927">
            <a:off x="5486162" y="7645079"/>
            <a:ext cx="7735476" cy="4631616"/>
          </a:xfrm>
          <a:custGeom>
            <a:avLst/>
            <a:gdLst/>
            <a:ahLst/>
            <a:cxnLst/>
            <a:rect r="r" b="b" t="t" l="l"/>
            <a:pathLst>
              <a:path h="4631616" w="7735476">
                <a:moveTo>
                  <a:pt x="0" y="0"/>
                </a:moveTo>
                <a:lnTo>
                  <a:pt x="7735475" y="0"/>
                </a:lnTo>
                <a:lnTo>
                  <a:pt x="7735475" y="4631616"/>
                </a:lnTo>
                <a:lnTo>
                  <a:pt x="0" y="4631616"/>
                </a:lnTo>
                <a:lnTo>
                  <a:pt x="0" y="0"/>
                </a:lnTo>
                <a:close/>
              </a:path>
            </a:pathLst>
          </a:custGeom>
          <a:blipFill>
            <a:blip r:embed="rId3"/>
            <a:stretch>
              <a:fillRect l="0" t="0" r="0" b="0"/>
            </a:stretch>
          </a:blipFill>
        </p:spPr>
      </p:sp>
      <p:grpSp>
        <p:nvGrpSpPr>
          <p:cNvPr name="Group 4" id="4"/>
          <p:cNvGrpSpPr/>
          <p:nvPr/>
        </p:nvGrpSpPr>
        <p:grpSpPr>
          <a:xfrm rot="0">
            <a:off x="11231065" y="4620515"/>
            <a:ext cx="7482154" cy="5830031"/>
            <a:chOff x="0" y="0"/>
            <a:chExt cx="1970609" cy="1535481"/>
          </a:xfrm>
        </p:grpSpPr>
        <p:sp>
          <p:nvSpPr>
            <p:cNvPr name="Freeform 5" id="5"/>
            <p:cNvSpPr/>
            <p:nvPr/>
          </p:nvSpPr>
          <p:spPr>
            <a:xfrm flipH="false" flipV="false" rot="0">
              <a:off x="0" y="0"/>
              <a:ext cx="1970609" cy="1535481"/>
            </a:xfrm>
            <a:custGeom>
              <a:avLst/>
              <a:gdLst/>
              <a:ahLst/>
              <a:cxnLst/>
              <a:rect r="r" b="b" t="t" l="l"/>
              <a:pathLst>
                <a:path h="1535481" w="1970609">
                  <a:moveTo>
                    <a:pt x="0" y="0"/>
                  </a:moveTo>
                  <a:lnTo>
                    <a:pt x="1970609" y="0"/>
                  </a:lnTo>
                  <a:lnTo>
                    <a:pt x="1970609" y="1535481"/>
                  </a:lnTo>
                  <a:lnTo>
                    <a:pt x="0" y="1535481"/>
                  </a:lnTo>
                  <a:close/>
                </a:path>
              </a:pathLst>
            </a:custGeom>
            <a:gradFill rotWithShape="true">
              <a:gsLst>
                <a:gs pos="0">
                  <a:srgbClr val="E4B795">
                    <a:alpha val="100000"/>
                  </a:srgbClr>
                </a:gs>
                <a:gs pos="50000">
                  <a:srgbClr val="699ACD">
                    <a:alpha val="100000"/>
                  </a:srgbClr>
                </a:gs>
                <a:gs pos="100000">
                  <a:srgbClr val="2F679F">
                    <a:alpha val="100000"/>
                  </a:srgbClr>
                </a:gs>
              </a:gsLst>
              <a:path path="circle">
                <a:fillToRect l="0" r="100000" t="0" b="100000"/>
              </a:path>
              <a:tileRect r="0" l="-100000" b="0" t="-100000"/>
            </a:gradFill>
          </p:spPr>
        </p:sp>
        <p:sp>
          <p:nvSpPr>
            <p:cNvPr name="TextBox 6" id="6"/>
            <p:cNvSpPr txBox="true"/>
            <p:nvPr/>
          </p:nvSpPr>
          <p:spPr>
            <a:xfrm>
              <a:off x="0" y="-57150"/>
              <a:ext cx="1970609" cy="1592631"/>
            </a:xfrm>
            <a:prstGeom prst="rect">
              <a:avLst/>
            </a:prstGeom>
          </p:spPr>
          <p:txBody>
            <a:bodyPr anchor="ctr" rtlCol="false" tIns="50800" lIns="50800" bIns="50800" rIns="50800"/>
            <a:lstStyle/>
            <a:p>
              <a:pPr algn="ctr">
                <a:lnSpc>
                  <a:spcPts val="3639"/>
                </a:lnSpc>
              </a:pPr>
            </a:p>
          </p:txBody>
        </p:sp>
      </p:grpSp>
      <p:sp>
        <p:nvSpPr>
          <p:cNvPr name="TextBox 7" id="7"/>
          <p:cNvSpPr txBox="true"/>
          <p:nvPr/>
        </p:nvSpPr>
        <p:spPr>
          <a:xfrm rot="0">
            <a:off x="10821802" y="6535323"/>
            <a:ext cx="7273548" cy="4827496"/>
          </a:xfrm>
          <a:prstGeom prst="rect">
            <a:avLst/>
          </a:prstGeom>
        </p:spPr>
        <p:txBody>
          <a:bodyPr anchor="t" rtlCol="false" tIns="0" lIns="0" bIns="0" rIns="0">
            <a:spAutoFit/>
          </a:bodyPr>
          <a:lstStyle/>
          <a:p>
            <a:pPr algn="ctr">
              <a:lnSpc>
                <a:spcPts val="33472"/>
              </a:lnSpc>
            </a:pPr>
            <a:r>
              <a:rPr lang="en-US" b="true" sz="34507" spc="-2760">
                <a:solidFill>
                  <a:srgbClr val="F2F7FA"/>
                </a:solidFill>
                <a:latin typeface="Telegraf Bold"/>
                <a:ea typeface="Telegraf Bold"/>
                <a:cs typeface="Telegraf Bold"/>
                <a:sym typeface="Telegraf Bold"/>
              </a:rPr>
              <a:t>02</a:t>
            </a:r>
          </a:p>
        </p:txBody>
      </p:sp>
      <p:sp>
        <p:nvSpPr>
          <p:cNvPr name="TextBox 8" id="8"/>
          <p:cNvSpPr txBox="true"/>
          <p:nvPr/>
        </p:nvSpPr>
        <p:spPr>
          <a:xfrm rot="0">
            <a:off x="1028700" y="3102120"/>
            <a:ext cx="8683198" cy="2466087"/>
          </a:xfrm>
          <a:prstGeom prst="rect">
            <a:avLst/>
          </a:prstGeom>
        </p:spPr>
        <p:txBody>
          <a:bodyPr anchor="t" rtlCol="false" tIns="0" lIns="0" bIns="0" rIns="0">
            <a:spAutoFit/>
          </a:bodyPr>
          <a:lstStyle/>
          <a:p>
            <a:pPr algn="l">
              <a:lnSpc>
                <a:spcPts val="9059"/>
              </a:lnSpc>
            </a:pPr>
            <a:r>
              <a:rPr lang="en-US" sz="9339" b="true">
                <a:solidFill>
                  <a:srgbClr val="343434"/>
                </a:solidFill>
                <a:latin typeface="Telegraf Bold"/>
                <a:ea typeface="Telegraf Bold"/>
                <a:cs typeface="Telegraf Bold"/>
                <a:sym typeface="Telegraf Bold"/>
              </a:rPr>
              <a:t>TIỀN XỬ LÝ DỮ LIỆU</a:t>
            </a:r>
          </a:p>
        </p:txBody>
      </p:sp>
      <p:sp>
        <p:nvSpPr>
          <p:cNvPr name="TextBox 9" id="9"/>
          <p:cNvSpPr txBox="true"/>
          <p:nvPr/>
        </p:nvSpPr>
        <p:spPr>
          <a:xfrm rot="0">
            <a:off x="1028700" y="5969620"/>
            <a:ext cx="9657424" cy="2998470"/>
          </a:xfrm>
          <a:prstGeom prst="rect">
            <a:avLst/>
          </a:prstGeom>
        </p:spPr>
        <p:txBody>
          <a:bodyPr anchor="t" rtlCol="false" tIns="0" lIns="0" bIns="0" rIns="0">
            <a:spAutoFit/>
          </a:bodyPr>
          <a:lstStyle/>
          <a:p>
            <a:pPr algn="l">
              <a:lnSpc>
                <a:spcPts val="5880"/>
              </a:lnSpc>
            </a:pPr>
            <a:r>
              <a:rPr lang="en-US" sz="4200" spc="100">
                <a:solidFill>
                  <a:srgbClr val="343434"/>
                </a:solidFill>
                <a:latin typeface="Telegraf"/>
                <a:ea typeface="Telegraf"/>
                <a:cs typeface="Telegraf"/>
                <a:sym typeface="Telegraf"/>
              </a:rPr>
              <a:t>THAO TÁC VÀ XỬ LÝ CHUẨN HÓA ĐỂ ĐẢM BẢO TÍNH HỢP LỆ CỦA PHÂN TÍCH</a:t>
            </a:r>
          </a:p>
          <a:p>
            <a:pPr algn="l">
              <a:lnSpc>
                <a:spcPts val="5880"/>
              </a:lnSpc>
              <a:spcBef>
                <a:spcPct val="0"/>
              </a:spcBef>
            </a:pPr>
          </a:p>
        </p:txBody>
      </p:sp>
      <p:sp>
        <p:nvSpPr>
          <p:cNvPr name="TextBox 10" id="10"/>
          <p:cNvSpPr txBox="true"/>
          <p:nvPr/>
        </p:nvSpPr>
        <p:spPr>
          <a:xfrm rot="0">
            <a:off x="11693690" y="5248275"/>
            <a:ext cx="5529772" cy="1273214"/>
          </a:xfrm>
          <a:prstGeom prst="rect">
            <a:avLst/>
          </a:prstGeom>
        </p:spPr>
        <p:txBody>
          <a:bodyPr anchor="t" rtlCol="false" tIns="0" lIns="0" bIns="0" rIns="0">
            <a:spAutoFit/>
          </a:bodyPr>
          <a:lstStyle/>
          <a:p>
            <a:pPr algn="l">
              <a:lnSpc>
                <a:spcPts val="8833"/>
              </a:lnSpc>
            </a:pPr>
            <a:r>
              <a:rPr lang="en-US" b="true" sz="9106">
                <a:solidFill>
                  <a:srgbClr val="F2F7FA"/>
                </a:solidFill>
                <a:latin typeface="Telegraf Bold"/>
                <a:ea typeface="Telegraf Bold"/>
                <a:cs typeface="Telegraf Bold"/>
                <a:sym typeface="Telegraf Bold"/>
              </a:rPr>
              <a:t>CHƯƠNG</a:t>
            </a:r>
          </a:p>
        </p:txBody>
      </p:sp>
    </p:spTree>
  </p:cSld>
  <p:clrMapOvr>
    <a:masterClrMapping/>
  </p:clrMapOvr>
</p:sld>
</file>

<file path=ppt/slides/slide14.xml><?xml version="1.0" encoding="utf-8"?>
<p:sld xmlns:p="http://schemas.openxmlformats.org/presentationml/2006/main" xmlns:a="http://schemas.openxmlformats.org/drawingml/2006/main" xmlns:r="http://schemas.openxmlformats.org/officeDocument/2006/relationships">
  <p:cSld>
    <p:bg>
      <p:bgPr>
        <a:solidFill>
          <a:srgbClr val="F2F7FA"/>
        </a:solidFill>
      </p:bgPr>
    </p:bg>
    <p:spTree>
      <p:nvGrpSpPr>
        <p:cNvPr id="1" name=""/>
        <p:cNvGrpSpPr/>
        <p:nvPr/>
      </p:nvGrpSpPr>
      <p:grpSpPr>
        <a:xfrm>
          <a:off x="0" y="0"/>
          <a:ext cx="0" cy="0"/>
          <a:chOff x="0" y="0"/>
          <a:chExt cx="0" cy="0"/>
        </a:xfrm>
      </p:grpSpPr>
      <p:sp>
        <p:nvSpPr>
          <p:cNvPr name="Freeform 2" id="2"/>
          <p:cNvSpPr/>
          <p:nvPr/>
        </p:nvSpPr>
        <p:spPr>
          <a:xfrm flipH="false" flipV="false" rot="225008">
            <a:off x="-467361" y="-2757747"/>
            <a:ext cx="12701350" cy="5382197"/>
          </a:xfrm>
          <a:custGeom>
            <a:avLst/>
            <a:gdLst/>
            <a:ahLst/>
            <a:cxnLst/>
            <a:rect r="r" b="b" t="t" l="l"/>
            <a:pathLst>
              <a:path h="5382197" w="12701350">
                <a:moveTo>
                  <a:pt x="0" y="0"/>
                </a:moveTo>
                <a:lnTo>
                  <a:pt x="12701349" y="0"/>
                </a:lnTo>
                <a:lnTo>
                  <a:pt x="12701349" y="5382197"/>
                </a:lnTo>
                <a:lnTo>
                  <a:pt x="0" y="5382197"/>
                </a:lnTo>
                <a:lnTo>
                  <a:pt x="0" y="0"/>
                </a:lnTo>
                <a:close/>
              </a:path>
            </a:pathLst>
          </a:custGeom>
          <a:blipFill>
            <a:blip r:embed="rId2"/>
            <a:stretch>
              <a:fillRect l="0" t="0" r="0" b="0"/>
            </a:stretch>
          </a:blipFill>
        </p:spPr>
      </p:sp>
      <p:sp>
        <p:nvSpPr>
          <p:cNvPr name="Freeform 3" id="3"/>
          <p:cNvSpPr/>
          <p:nvPr/>
        </p:nvSpPr>
        <p:spPr>
          <a:xfrm flipH="false" flipV="false" rot="0">
            <a:off x="12220973" y="7306236"/>
            <a:ext cx="11514218" cy="8506128"/>
          </a:xfrm>
          <a:custGeom>
            <a:avLst/>
            <a:gdLst/>
            <a:ahLst/>
            <a:cxnLst/>
            <a:rect r="r" b="b" t="t" l="l"/>
            <a:pathLst>
              <a:path h="8506128" w="11514218">
                <a:moveTo>
                  <a:pt x="0" y="0"/>
                </a:moveTo>
                <a:lnTo>
                  <a:pt x="11514218" y="0"/>
                </a:lnTo>
                <a:lnTo>
                  <a:pt x="11514218" y="8506129"/>
                </a:lnTo>
                <a:lnTo>
                  <a:pt x="0" y="8506129"/>
                </a:lnTo>
                <a:lnTo>
                  <a:pt x="0" y="0"/>
                </a:lnTo>
                <a:close/>
              </a:path>
            </a:pathLst>
          </a:custGeom>
          <a:blipFill>
            <a:blip r:embed="rId3"/>
            <a:stretch>
              <a:fillRect l="0" t="0" r="0" b="0"/>
            </a:stretch>
          </a:blipFill>
        </p:spPr>
      </p:sp>
      <p:grpSp>
        <p:nvGrpSpPr>
          <p:cNvPr name="Group 4" id="4"/>
          <p:cNvGrpSpPr/>
          <p:nvPr/>
        </p:nvGrpSpPr>
        <p:grpSpPr>
          <a:xfrm rot="0">
            <a:off x="17259300" y="-392510"/>
            <a:ext cx="1437565" cy="11072020"/>
            <a:chOff x="0" y="0"/>
            <a:chExt cx="378618" cy="2916088"/>
          </a:xfrm>
        </p:grpSpPr>
        <p:sp>
          <p:nvSpPr>
            <p:cNvPr name="Freeform 5" id="5"/>
            <p:cNvSpPr/>
            <p:nvPr/>
          </p:nvSpPr>
          <p:spPr>
            <a:xfrm flipH="false" flipV="false" rot="0">
              <a:off x="0" y="0"/>
              <a:ext cx="378618" cy="2916088"/>
            </a:xfrm>
            <a:custGeom>
              <a:avLst/>
              <a:gdLst/>
              <a:ahLst/>
              <a:cxnLst/>
              <a:rect r="r" b="b" t="t" l="l"/>
              <a:pathLst>
                <a:path h="2916088" w="378618">
                  <a:moveTo>
                    <a:pt x="0" y="0"/>
                  </a:moveTo>
                  <a:lnTo>
                    <a:pt x="378618" y="0"/>
                  </a:lnTo>
                  <a:lnTo>
                    <a:pt x="378618" y="2916088"/>
                  </a:lnTo>
                  <a:lnTo>
                    <a:pt x="0" y="2916088"/>
                  </a:lnTo>
                  <a:close/>
                </a:path>
              </a:pathLst>
            </a:custGeom>
            <a:gradFill rotWithShape="true">
              <a:gsLst>
                <a:gs pos="0">
                  <a:srgbClr val="E4B795">
                    <a:alpha val="100000"/>
                  </a:srgbClr>
                </a:gs>
                <a:gs pos="50000">
                  <a:srgbClr val="699ACD">
                    <a:alpha val="100000"/>
                  </a:srgbClr>
                </a:gs>
                <a:gs pos="100000">
                  <a:srgbClr val="2F679F">
                    <a:alpha val="100000"/>
                  </a:srgbClr>
                </a:gs>
              </a:gsLst>
              <a:path path="circle">
                <a:fillToRect l="0" r="100000" t="0" b="100000"/>
              </a:path>
              <a:tileRect r="0" l="-100000" b="0" t="-100000"/>
            </a:gradFill>
          </p:spPr>
        </p:sp>
        <p:sp>
          <p:nvSpPr>
            <p:cNvPr name="TextBox 6" id="6"/>
            <p:cNvSpPr txBox="true"/>
            <p:nvPr/>
          </p:nvSpPr>
          <p:spPr>
            <a:xfrm>
              <a:off x="0" y="-57150"/>
              <a:ext cx="378618" cy="2973238"/>
            </a:xfrm>
            <a:prstGeom prst="rect">
              <a:avLst/>
            </a:prstGeom>
          </p:spPr>
          <p:txBody>
            <a:bodyPr anchor="ctr" rtlCol="false" tIns="50800" lIns="50800" bIns="50800" rIns="50800"/>
            <a:lstStyle/>
            <a:p>
              <a:pPr algn="ctr">
                <a:lnSpc>
                  <a:spcPts val="3639"/>
                </a:lnSpc>
              </a:pPr>
            </a:p>
          </p:txBody>
        </p:sp>
      </p:grpSp>
      <p:sp>
        <p:nvSpPr>
          <p:cNvPr name="TextBox 7" id="7"/>
          <p:cNvSpPr txBox="true"/>
          <p:nvPr/>
        </p:nvSpPr>
        <p:spPr>
          <a:xfrm rot="0">
            <a:off x="8021110" y="782737"/>
            <a:ext cx="2492949" cy="351790"/>
          </a:xfrm>
          <a:prstGeom prst="rect">
            <a:avLst/>
          </a:prstGeom>
        </p:spPr>
        <p:txBody>
          <a:bodyPr anchor="t" rtlCol="false" tIns="0" lIns="0" bIns="0" rIns="0">
            <a:spAutoFit/>
          </a:bodyPr>
          <a:lstStyle/>
          <a:p>
            <a:pPr algn="l">
              <a:lnSpc>
                <a:spcPts val="2660"/>
              </a:lnSpc>
              <a:spcBef>
                <a:spcPct val="0"/>
              </a:spcBef>
            </a:pPr>
            <a:r>
              <a:rPr lang="en-US" sz="1900" spc="95">
                <a:solidFill>
                  <a:srgbClr val="164B82"/>
                </a:solidFill>
                <a:latin typeface="Telegraf Extra-Light"/>
                <a:ea typeface="Telegraf Extra-Light"/>
                <a:cs typeface="Telegraf Extra-Light"/>
                <a:sym typeface="Telegraf Extra-Light"/>
              </a:rPr>
              <a:t>Studio Shodwe</a:t>
            </a:r>
          </a:p>
        </p:txBody>
      </p:sp>
      <p:sp>
        <p:nvSpPr>
          <p:cNvPr name="TextBox 8" id="8"/>
          <p:cNvSpPr txBox="true"/>
          <p:nvPr/>
        </p:nvSpPr>
        <p:spPr>
          <a:xfrm rot="0">
            <a:off x="13305333" y="782737"/>
            <a:ext cx="1819999" cy="351790"/>
          </a:xfrm>
          <a:prstGeom prst="rect">
            <a:avLst/>
          </a:prstGeom>
        </p:spPr>
        <p:txBody>
          <a:bodyPr anchor="t" rtlCol="false" tIns="0" lIns="0" bIns="0" rIns="0">
            <a:spAutoFit/>
          </a:bodyPr>
          <a:lstStyle/>
          <a:p>
            <a:pPr algn="r">
              <a:lnSpc>
                <a:spcPts val="2660"/>
              </a:lnSpc>
              <a:spcBef>
                <a:spcPct val="0"/>
              </a:spcBef>
            </a:pPr>
            <a:r>
              <a:rPr lang="en-US" sz="1900" spc="95">
                <a:solidFill>
                  <a:srgbClr val="164B82"/>
                </a:solidFill>
                <a:latin typeface="Telegraf Extra-Light"/>
                <a:ea typeface="Telegraf Extra-Light"/>
                <a:cs typeface="Telegraf Extra-Light"/>
                <a:sym typeface="Telegraf Extra-Light"/>
              </a:rPr>
              <a:t>2024</a:t>
            </a:r>
          </a:p>
        </p:txBody>
      </p:sp>
      <p:sp>
        <p:nvSpPr>
          <p:cNvPr name="TextBox 9" id="9"/>
          <p:cNvSpPr txBox="true"/>
          <p:nvPr/>
        </p:nvSpPr>
        <p:spPr>
          <a:xfrm rot="0">
            <a:off x="11045641" y="782737"/>
            <a:ext cx="1819999" cy="351790"/>
          </a:xfrm>
          <a:prstGeom prst="rect">
            <a:avLst/>
          </a:prstGeom>
        </p:spPr>
        <p:txBody>
          <a:bodyPr anchor="t" rtlCol="false" tIns="0" lIns="0" bIns="0" rIns="0">
            <a:spAutoFit/>
          </a:bodyPr>
          <a:lstStyle/>
          <a:p>
            <a:pPr algn="ctr">
              <a:lnSpc>
                <a:spcPts val="2660"/>
              </a:lnSpc>
              <a:spcBef>
                <a:spcPct val="0"/>
              </a:spcBef>
            </a:pPr>
            <a:r>
              <a:rPr lang="en-US" sz="1900" spc="95">
                <a:solidFill>
                  <a:srgbClr val="164B82"/>
                </a:solidFill>
                <a:latin typeface="Telegraf Extra-Light"/>
                <a:ea typeface="Telegraf Extra-Light"/>
                <a:cs typeface="Telegraf Extra-Light"/>
                <a:sym typeface="Telegraf Extra-Light"/>
              </a:rPr>
              <a:t>Project.</a:t>
            </a:r>
          </a:p>
        </p:txBody>
      </p:sp>
      <p:grpSp>
        <p:nvGrpSpPr>
          <p:cNvPr name="Group 10" id="10"/>
          <p:cNvGrpSpPr/>
          <p:nvPr/>
        </p:nvGrpSpPr>
        <p:grpSpPr>
          <a:xfrm rot="5400000">
            <a:off x="11279340" y="-3711595"/>
            <a:ext cx="643045" cy="9407130"/>
            <a:chOff x="0" y="0"/>
            <a:chExt cx="169362" cy="2477598"/>
          </a:xfrm>
        </p:grpSpPr>
        <p:sp>
          <p:nvSpPr>
            <p:cNvPr name="Freeform 11" id="11"/>
            <p:cNvSpPr/>
            <p:nvPr/>
          </p:nvSpPr>
          <p:spPr>
            <a:xfrm flipH="false" flipV="false" rot="0">
              <a:off x="0" y="0"/>
              <a:ext cx="169362" cy="2477598"/>
            </a:xfrm>
            <a:custGeom>
              <a:avLst/>
              <a:gdLst/>
              <a:ahLst/>
              <a:cxnLst/>
              <a:rect r="r" b="b" t="t" l="l"/>
              <a:pathLst>
                <a:path h="2477598" w="169362">
                  <a:moveTo>
                    <a:pt x="84681" y="0"/>
                  </a:moveTo>
                  <a:lnTo>
                    <a:pt x="84681" y="0"/>
                  </a:lnTo>
                  <a:cubicBezTo>
                    <a:pt x="107140" y="0"/>
                    <a:pt x="128678" y="8922"/>
                    <a:pt x="144559" y="24802"/>
                  </a:cubicBezTo>
                  <a:cubicBezTo>
                    <a:pt x="160440" y="40683"/>
                    <a:pt x="169362" y="62222"/>
                    <a:pt x="169362" y="84681"/>
                  </a:cubicBezTo>
                  <a:lnTo>
                    <a:pt x="169362" y="2392917"/>
                  </a:lnTo>
                  <a:cubicBezTo>
                    <a:pt x="169362" y="2439685"/>
                    <a:pt x="131449" y="2477598"/>
                    <a:pt x="84681" y="2477598"/>
                  </a:cubicBezTo>
                  <a:lnTo>
                    <a:pt x="84681" y="2477598"/>
                  </a:lnTo>
                  <a:cubicBezTo>
                    <a:pt x="37913" y="2477598"/>
                    <a:pt x="0" y="2439685"/>
                    <a:pt x="0" y="2392917"/>
                  </a:cubicBezTo>
                  <a:lnTo>
                    <a:pt x="0" y="84681"/>
                  </a:lnTo>
                  <a:cubicBezTo>
                    <a:pt x="0" y="37913"/>
                    <a:pt x="37913" y="0"/>
                    <a:pt x="84681" y="0"/>
                  </a:cubicBezTo>
                  <a:close/>
                </a:path>
              </a:pathLst>
            </a:custGeom>
            <a:ln w="19050" cap="rnd">
              <a:solidFill>
                <a:srgbClr val="164B82"/>
              </a:solidFill>
              <a:prstDash val="solid"/>
              <a:round/>
            </a:ln>
          </p:spPr>
        </p:sp>
        <p:sp>
          <p:nvSpPr>
            <p:cNvPr name="TextBox 12" id="12"/>
            <p:cNvSpPr txBox="true"/>
            <p:nvPr/>
          </p:nvSpPr>
          <p:spPr>
            <a:xfrm>
              <a:off x="0" y="-57150"/>
              <a:ext cx="169362" cy="2534748"/>
            </a:xfrm>
            <a:prstGeom prst="rect">
              <a:avLst/>
            </a:prstGeom>
          </p:spPr>
          <p:txBody>
            <a:bodyPr anchor="ctr" rtlCol="false" tIns="50800" lIns="50800" bIns="50800" rIns="50800"/>
            <a:lstStyle/>
            <a:p>
              <a:pPr algn="ctr">
                <a:lnSpc>
                  <a:spcPts val="3639"/>
                </a:lnSpc>
              </a:pPr>
            </a:p>
          </p:txBody>
        </p:sp>
      </p:grpSp>
      <p:sp>
        <p:nvSpPr>
          <p:cNvPr name="TextBox 13" id="13"/>
          <p:cNvSpPr txBox="true"/>
          <p:nvPr/>
        </p:nvSpPr>
        <p:spPr>
          <a:xfrm rot="0">
            <a:off x="992940" y="2516550"/>
            <a:ext cx="17703925" cy="744790"/>
          </a:xfrm>
          <a:prstGeom prst="rect">
            <a:avLst/>
          </a:prstGeom>
        </p:spPr>
        <p:txBody>
          <a:bodyPr anchor="t" rtlCol="false" tIns="0" lIns="0" bIns="0" rIns="0">
            <a:spAutoFit/>
          </a:bodyPr>
          <a:lstStyle/>
          <a:p>
            <a:pPr algn="l">
              <a:lnSpc>
                <a:spcPts val="5121"/>
              </a:lnSpc>
            </a:pPr>
            <a:r>
              <a:rPr lang="en-US" sz="5280" b="true">
                <a:solidFill>
                  <a:srgbClr val="343434"/>
                </a:solidFill>
                <a:latin typeface="Telegraf Bold"/>
                <a:ea typeface="Telegraf Bold"/>
                <a:cs typeface="Telegraf Bold"/>
                <a:sym typeface="Telegraf Bold"/>
              </a:rPr>
              <a:t>TẦM QUAN TRỌNG CỦA TIỀN XỬ LÝ</a:t>
            </a:r>
          </a:p>
        </p:txBody>
      </p:sp>
      <p:sp>
        <p:nvSpPr>
          <p:cNvPr name="TextBox 14" id="14"/>
          <p:cNvSpPr txBox="true"/>
          <p:nvPr/>
        </p:nvSpPr>
        <p:spPr>
          <a:xfrm rot="0">
            <a:off x="1028700" y="3615069"/>
            <a:ext cx="5868597" cy="542926"/>
          </a:xfrm>
          <a:prstGeom prst="rect">
            <a:avLst/>
          </a:prstGeom>
        </p:spPr>
        <p:txBody>
          <a:bodyPr anchor="t" rtlCol="false" tIns="0" lIns="0" bIns="0" rIns="0">
            <a:spAutoFit/>
          </a:bodyPr>
          <a:lstStyle/>
          <a:p>
            <a:pPr algn="l">
              <a:lnSpc>
                <a:spcPts val="4199"/>
              </a:lnSpc>
            </a:pPr>
            <a:r>
              <a:rPr lang="en-US" b="true" sz="2999" spc="149">
                <a:solidFill>
                  <a:srgbClr val="343434"/>
                </a:solidFill>
                <a:latin typeface="Telegraf Bold"/>
                <a:ea typeface="Telegraf Bold"/>
                <a:cs typeface="Telegraf Bold"/>
                <a:sym typeface="Telegraf Bold"/>
              </a:rPr>
              <a:t>Thực trạng ngành</a:t>
            </a:r>
          </a:p>
        </p:txBody>
      </p:sp>
      <p:sp>
        <p:nvSpPr>
          <p:cNvPr name="TextBox 15" id="15"/>
          <p:cNvSpPr txBox="true"/>
          <p:nvPr/>
        </p:nvSpPr>
        <p:spPr>
          <a:xfrm rot="0">
            <a:off x="992940" y="4496435"/>
            <a:ext cx="13186632" cy="1217930"/>
          </a:xfrm>
          <a:prstGeom prst="rect">
            <a:avLst/>
          </a:prstGeom>
        </p:spPr>
        <p:txBody>
          <a:bodyPr anchor="t" rtlCol="false" tIns="0" lIns="0" bIns="0" rIns="0">
            <a:spAutoFit/>
          </a:bodyPr>
          <a:lstStyle/>
          <a:p>
            <a:pPr algn="l" marL="496569" indent="-248284" lvl="1">
              <a:lnSpc>
                <a:spcPts val="3219"/>
              </a:lnSpc>
              <a:buFont typeface="Arial"/>
              <a:buChar char="•"/>
            </a:pPr>
            <a:r>
              <a:rPr lang="en-US" sz="2299" spc="114">
                <a:solidFill>
                  <a:srgbClr val="343434"/>
                </a:solidFill>
                <a:latin typeface="Telegraf"/>
                <a:ea typeface="Telegraf"/>
                <a:cs typeface="Telegraf"/>
                <a:sym typeface="Telegraf"/>
              </a:rPr>
              <a:t>Các nhà</a:t>
            </a:r>
            <a:r>
              <a:rPr lang="en-US" sz="2299" spc="114">
                <a:solidFill>
                  <a:srgbClr val="343434"/>
                </a:solidFill>
                <a:latin typeface="Telegraf"/>
                <a:ea typeface="Telegraf"/>
                <a:cs typeface="Telegraf"/>
                <a:sym typeface="Telegraf"/>
              </a:rPr>
              <a:t> khoa học dữ liệu thường dành hơn 80% thời gian cho việc thu thập, xử lý và làm sạch dữ liệu. Chỉ 20% thời gian thực tế được dành cho việc xây dựng mô hình, dù đây là bước được coi là quan trọng nhất</a:t>
            </a:r>
          </a:p>
        </p:txBody>
      </p:sp>
      <p:sp>
        <p:nvSpPr>
          <p:cNvPr name="TextBox 16" id="16"/>
          <p:cNvSpPr txBox="true"/>
          <p:nvPr/>
        </p:nvSpPr>
        <p:spPr>
          <a:xfrm rot="0">
            <a:off x="1028700" y="5867468"/>
            <a:ext cx="13186632" cy="542926"/>
          </a:xfrm>
          <a:prstGeom prst="rect">
            <a:avLst/>
          </a:prstGeom>
        </p:spPr>
        <p:txBody>
          <a:bodyPr anchor="t" rtlCol="false" tIns="0" lIns="0" bIns="0" rIns="0">
            <a:spAutoFit/>
          </a:bodyPr>
          <a:lstStyle/>
          <a:p>
            <a:pPr algn="l">
              <a:lnSpc>
                <a:spcPts val="4199"/>
              </a:lnSpc>
            </a:pPr>
            <a:r>
              <a:rPr lang="en-US" b="true" sz="2999" spc="149">
                <a:solidFill>
                  <a:srgbClr val="343434"/>
                </a:solidFill>
                <a:latin typeface="Telegraf Bold"/>
                <a:ea typeface="Telegraf Bold"/>
                <a:cs typeface="Telegraf Bold"/>
                <a:sym typeface="Telegraf Bold"/>
              </a:rPr>
              <a:t>Mục</a:t>
            </a:r>
            <a:r>
              <a:rPr lang="en-US" b="true" sz="2999" spc="149">
                <a:solidFill>
                  <a:srgbClr val="343434"/>
                </a:solidFill>
                <a:latin typeface="Telegraf Bold"/>
                <a:ea typeface="Telegraf Bold"/>
                <a:cs typeface="Telegraf Bold"/>
                <a:sym typeface="Telegraf Bold"/>
              </a:rPr>
              <a:t> tiêu</a:t>
            </a:r>
          </a:p>
        </p:txBody>
      </p:sp>
      <p:sp>
        <p:nvSpPr>
          <p:cNvPr name="TextBox 17" id="17"/>
          <p:cNvSpPr txBox="true"/>
          <p:nvPr/>
        </p:nvSpPr>
        <p:spPr>
          <a:xfrm rot="0">
            <a:off x="1028700" y="6781869"/>
            <a:ext cx="13186632" cy="417830"/>
          </a:xfrm>
          <a:prstGeom prst="rect">
            <a:avLst/>
          </a:prstGeom>
        </p:spPr>
        <p:txBody>
          <a:bodyPr anchor="t" rtlCol="false" tIns="0" lIns="0" bIns="0" rIns="0">
            <a:spAutoFit/>
          </a:bodyPr>
          <a:lstStyle/>
          <a:p>
            <a:pPr algn="l" marL="496569" indent="-248284" lvl="1">
              <a:lnSpc>
                <a:spcPts val="3219"/>
              </a:lnSpc>
              <a:buFont typeface="Arial"/>
              <a:buChar char="•"/>
            </a:pPr>
            <a:r>
              <a:rPr lang="en-US" sz="2299" spc="114">
                <a:solidFill>
                  <a:srgbClr val="343434"/>
                </a:solidFill>
                <a:latin typeface="Telegraf"/>
                <a:ea typeface="Telegraf"/>
                <a:cs typeface="Telegraf"/>
                <a:sym typeface="Telegraf"/>
              </a:rPr>
              <a:t>Nâ</a:t>
            </a:r>
            <a:r>
              <a:rPr lang="en-US" sz="2299" spc="114">
                <a:solidFill>
                  <a:srgbClr val="343434"/>
                </a:solidFill>
                <a:latin typeface="Telegraf"/>
                <a:ea typeface="Telegraf"/>
                <a:cs typeface="Telegraf"/>
                <a:sym typeface="Telegraf"/>
              </a:rPr>
              <a:t>ng cao hiệu suất dự báo của mô hình</a:t>
            </a:r>
          </a:p>
        </p:txBody>
      </p:sp>
      <p:sp>
        <p:nvSpPr>
          <p:cNvPr name="TextBox 18" id="18"/>
          <p:cNvSpPr txBox="true"/>
          <p:nvPr/>
        </p:nvSpPr>
        <p:spPr>
          <a:xfrm rot="0">
            <a:off x="992940" y="7486894"/>
            <a:ext cx="13186632" cy="417830"/>
          </a:xfrm>
          <a:prstGeom prst="rect">
            <a:avLst/>
          </a:prstGeom>
        </p:spPr>
        <p:txBody>
          <a:bodyPr anchor="t" rtlCol="false" tIns="0" lIns="0" bIns="0" rIns="0">
            <a:spAutoFit/>
          </a:bodyPr>
          <a:lstStyle/>
          <a:p>
            <a:pPr algn="l" marL="496569" indent="-248284" lvl="1">
              <a:lnSpc>
                <a:spcPts val="3219"/>
              </a:lnSpc>
              <a:buFont typeface="Arial"/>
              <a:buChar char="•"/>
            </a:pPr>
            <a:r>
              <a:rPr lang="en-US" sz="2299" spc="114">
                <a:solidFill>
                  <a:srgbClr val="343434"/>
                </a:solidFill>
                <a:latin typeface="Telegraf"/>
                <a:ea typeface="Telegraf"/>
                <a:cs typeface="Telegraf"/>
                <a:sym typeface="Telegraf"/>
              </a:rPr>
              <a:t>Đảm</a:t>
            </a:r>
            <a:r>
              <a:rPr lang="en-US" sz="2299" spc="114">
                <a:solidFill>
                  <a:srgbClr val="343434"/>
                </a:solidFill>
                <a:latin typeface="Telegraf"/>
                <a:ea typeface="Telegraf"/>
                <a:cs typeface="Telegraf"/>
                <a:sym typeface="Telegraf"/>
              </a:rPr>
              <a:t> bảo tính hợp lệ (validity) cho toàn bộ quá trình phân tích sau này</a:t>
            </a:r>
          </a:p>
        </p:txBody>
      </p:sp>
      <p:sp>
        <p:nvSpPr>
          <p:cNvPr name="TextBox 19" id="19"/>
          <p:cNvSpPr txBox="true"/>
          <p:nvPr/>
        </p:nvSpPr>
        <p:spPr>
          <a:xfrm rot="0">
            <a:off x="1028700" y="8276199"/>
            <a:ext cx="13186632" cy="417830"/>
          </a:xfrm>
          <a:prstGeom prst="rect">
            <a:avLst/>
          </a:prstGeom>
        </p:spPr>
        <p:txBody>
          <a:bodyPr anchor="t" rtlCol="false" tIns="0" lIns="0" bIns="0" rIns="0">
            <a:spAutoFit/>
          </a:bodyPr>
          <a:lstStyle/>
          <a:p>
            <a:pPr algn="l" marL="496569" indent="-248284" lvl="1">
              <a:lnSpc>
                <a:spcPts val="3219"/>
              </a:lnSpc>
              <a:buFont typeface="Arial"/>
              <a:buChar char="•"/>
            </a:pPr>
            <a:r>
              <a:rPr lang="en-US" sz="2299" spc="114">
                <a:solidFill>
                  <a:srgbClr val="343434"/>
                </a:solidFill>
                <a:latin typeface="Telegraf"/>
                <a:ea typeface="Telegraf"/>
                <a:cs typeface="Telegraf"/>
                <a:sym typeface="Telegraf"/>
              </a:rPr>
              <a:t>Đảm bảo tính dừng (stationarity) cho dữ liệu tài chính</a:t>
            </a:r>
          </a:p>
        </p:txBody>
      </p:sp>
    </p:spTree>
  </p:cSld>
  <p:clrMapOvr>
    <a:masterClrMapping/>
  </p:clrMapOvr>
</p:sld>
</file>

<file path=ppt/slides/slide15.xml><?xml version="1.0" encoding="utf-8"?>
<p:sld xmlns:p="http://schemas.openxmlformats.org/presentationml/2006/main" xmlns:a="http://schemas.openxmlformats.org/drawingml/2006/main" xmlns:r="http://schemas.openxmlformats.org/officeDocument/2006/relationships">
  <p:cSld>
    <p:bg>
      <p:bgPr>
        <a:solidFill>
          <a:srgbClr val="F2F7FA"/>
        </a:solidFill>
      </p:bgPr>
    </p:bg>
    <p:spTree>
      <p:nvGrpSpPr>
        <p:cNvPr id="1" name=""/>
        <p:cNvGrpSpPr/>
        <p:nvPr/>
      </p:nvGrpSpPr>
      <p:grpSpPr>
        <a:xfrm>
          <a:off x="0" y="0"/>
          <a:ext cx="0" cy="0"/>
          <a:chOff x="0" y="0"/>
          <a:chExt cx="0" cy="0"/>
        </a:xfrm>
      </p:grpSpPr>
      <p:sp>
        <p:nvSpPr>
          <p:cNvPr name="Freeform 2" id="2"/>
          <p:cNvSpPr/>
          <p:nvPr/>
        </p:nvSpPr>
        <p:spPr>
          <a:xfrm flipH="false" flipV="false" rot="225008">
            <a:off x="-467361" y="-2757747"/>
            <a:ext cx="12701350" cy="5382197"/>
          </a:xfrm>
          <a:custGeom>
            <a:avLst/>
            <a:gdLst/>
            <a:ahLst/>
            <a:cxnLst/>
            <a:rect r="r" b="b" t="t" l="l"/>
            <a:pathLst>
              <a:path h="5382197" w="12701350">
                <a:moveTo>
                  <a:pt x="0" y="0"/>
                </a:moveTo>
                <a:lnTo>
                  <a:pt x="12701349" y="0"/>
                </a:lnTo>
                <a:lnTo>
                  <a:pt x="12701349" y="5382197"/>
                </a:lnTo>
                <a:lnTo>
                  <a:pt x="0" y="5382197"/>
                </a:lnTo>
                <a:lnTo>
                  <a:pt x="0" y="0"/>
                </a:lnTo>
                <a:close/>
              </a:path>
            </a:pathLst>
          </a:custGeom>
          <a:blipFill>
            <a:blip r:embed="rId2"/>
            <a:stretch>
              <a:fillRect l="0" t="0" r="0" b="0"/>
            </a:stretch>
          </a:blipFill>
        </p:spPr>
      </p:sp>
      <p:sp>
        <p:nvSpPr>
          <p:cNvPr name="Freeform 3" id="3"/>
          <p:cNvSpPr/>
          <p:nvPr/>
        </p:nvSpPr>
        <p:spPr>
          <a:xfrm flipH="false" flipV="false" rot="0">
            <a:off x="14629791" y="1028700"/>
            <a:ext cx="11514218" cy="8506128"/>
          </a:xfrm>
          <a:custGeom>
            <a:avLst/>
            <a:gdLst/>
            <a:ahLst/>
            <a:cxnLst/>
            <a:rect r="r" b="b" t="t" l="l"/>
            <a:pathLst>
              <a:path h="8506128" w="11514218">
                <a:moveTo>
                  <a:pt x="0" y="0"/>
                </a:moveTo>
                <a:lnTo>
                  <a:pt x="11514218" y="0"/>
                </a:lnTo>
                <a:lnTo>
                  <a:pt x="11514218" y="8506128"/>
                </a:lnTo>
                <a:lnTo>
                  <a:pt x="0" y="8506128"/>
                </a:lnTo>
                <a:lnTo>
                  <a:pt x="0" y="0"/>
                </a:lnTo>
                <a:close/>
              </a:path>
            </a:pathLst>
          </a:custGeom>
          <a:blipFill>
            <a:blip r:embed="rId3"/>
            <a:stretch>
              <a:fillRect l="0" t="0" r="0" b="0"/>
            </a:stretch>
          </a:blipFill>
        </p:spPr>
      </p:sp>
      <p:grpSp>
        <p:nvGrpSpPr>
          <p:cNvPr name="Group 4" id="4"/>
          <p:cNvGrpSpPr/>
          <p:nvPr/>
        </p:nvGrpSpPr>
        <p:grpSpPr>
          <a:xfrm rot="0">
            <a:off x="17259300" y="-392510"/>
            <a:ext cx="1437565" cy="11072020"/>
            <a:chOff x="0" y="0"/>
            <a:chExt cx="378618" cy="2916088"/>
          </a:xfrm>
        </p:grpSpPr>
        <p:sp>
          <p:nvSpPr>
            <p:cNvPr name="Freeform 5" id="5"/>
            <p:cNvSpPr/>
            <p:nvPr/>
          </p:nvSpPr>
          <p:spPr>
            <a:xfrm flipH="false" flipV="false" rot="0">
              <a:off x="0" y="0"/>
              <a:ext cx="378618" cy="2916088"/>
            </a:xfrm>
            <a:custGeom>
              <a:avLst/>
              <a:gdLst/>
              <a:ahLst/>
              <a:cxnLst/>
              <a:rect r="r" b="b" t="t" l="l"/>
              <a:pathLst>
                <a:path h="2916088" w="378618">
                  <a:moveTo>
                    <a:pt x="0" y="0"/>
                  </a:moveTo>
                  <a:lnTo>
                    <a:pt x="378618" y="0"/>
                  </a:lnTo>
                  <a:lnTo>
                    <a:pt x="378618" y="2916088"/>
                  </a:lnTo>
                  <a:lnTo>
                    <a:pt x="0" y="2916088"/>
                  </a:lnTo>
                  <a:close/>
                </a:path>
              </a:pathLst>
            </a:custGeom>
            <a:gradFill rotWithShape="true">
              <a:gsLst>
                <a:gs pos="0">
                  <a:srgbClr val="E4B795">
                    <a:alpha val="100000"/>
                  </a:srgbClr>
                </a:gs>
                <a:gs pos="50000">
                  <a:srgbClr val="699ACD">
                    <a:alpha val="100000"/>
                  </a:srgbClr>
                </a:gs>
                <a:gs pos="100000">
                  <a:srgbClr val="2F679F">
                    <a:alpha val="100000"/>
                  </a:srgbClr>
                </a:gs>
              </a:gsLst>
              <a:path path="circle">
                <a:fillToRect l="0" r="100000" t="0" b="100000"/>
              </a:path>
              <a:tileRect r="0" l="-100000" b="0" t="-100000"/>
            </a:gradFill>
          </p:spPr>
        </p:sp>
        <p:sp>
          <p:nvSpPr>
            <p:cNvPr name="TextBox 6" id="6"/>
            <p:cNvSpPr txBox="true"/>
            <p:nvPr/>
          </p:nvSpPr>
          <p:spPr>
            <a:xfrm>
              <a:off x="0" y="-57150"/>
              <a:ext cx="378618" cy="2973238"/>
            </a:xfrm>
            <a:prstGeom prst="rect">
              <a:avLst/>
            </a:prstGeom>
          </p:spPr>
          <p:txBody>
            <a:bodyPr anchor="ctr" rtlCol="false" tIns="50800" lIns="50800" bIns="50800" rIns="50800"/>
            <a:lstStyle/>
            <a:p>
              <a:pPr algn="ctr">
                <a:lnSpc>
                  <a:spcPts val="3639"/>
                </a:lnSpc>
              </a:pPr>
            </a:p>
          </p:txBody>
        </p:sp>
      </p:grpSp>
      <p:sp>
        <p:nvSpPr>
          <p:cNvPr name="TextBox 7" id="7"/>
          <p:cNvSpPr txBox="true"/>
          <p:nvPr/>
        </p:nvSpPr>
        <p:spPr>
          <a:xfrm rot="0">
            <a:off x="8021110" y="782737"/>
            <a:ext cx="2492949" cy="351790"/>
          </a:xfrm>
          <a:prstGeom prst="rect">
            <a:avLst/>
          </a:prstGeom>
        </p:spPr>
        <p:txBody>
          <a:bodyPr anchor="t" rtlCol="false" tIns="0" lIns="0" bIns="0" rIns="0">
            <a:spAutoFit/>
          </a:bodyPr>
          <a:lstStyle/>
          <a:p>
            <a:pPr algn="l">
              <a:lnSpc>
                <a:spcPts val="2660"/>
              </a:lnSpc>
              <a:spcBef>
                <a:spcPct val="0"/>
              </a:spcBef>
            </a:pPr>
            <a:r>
              <a:rPr lang="en-US" sz="1900" spc="95">
                <a:solidFill>
                  <a:srgbClr val="164B82"/>
                </a:solidFill>
                <a:latin typeface="Telegraf Extra-Light"/>
                <a:ea typeface="Telegraf Extra-Light"/>
                <a:cs typeface="Telegraf Extra-Light"/>
                <a:sym typeface="Telegraf Extra-Light"/>
              </a:rPr>
              <a:t>Studio Shodwe</a:t>
            </a:r>
          </a:p>
        </p:txBody>
      </p:sp>
      <p:sp>
        <p:nvSpPr>
          <p:cNvPr name="TextBox 8" id="8"/>
          <p:cNvSpPr txBox="true"/>
          <p:nvPr/>
        </p:nvSpPr>
        <p:spPr>
          <a:xfrm rot="0">
            <a:off x="13305333" y="782737"/>
            <a:ext cx="1819999" cy="351790"/>
          </a:xfrm>
          <a:prstGeom prst="rect">
            <a:avLst/>
          </a:prstGeom>
        </p:spPr>
        <p:txBody>
          <a:bodyPr anchor="t" rtlCol="false" tIns="0" lIns="0" bIns="0" rIns="0">
            <a:spAutoFit/>
          </a:bodyPr>
          <a:lstStyle/>
          <a:p>
            <a:pPr algn="r">
              <a:lnSpc>
                <a:spcPts val="2660"/>
              </a:lnSpc>
              <a:spcBef>
                <a:spcPct val="0"/>
              </a:spcBef>
            </a:pPr>
            <a:r>
              <a:rPr lang="en-US" sz="1900" spc="95">
                <a:solidFill>
                  <a:srgbClr val="164B82"/>
                </a:solidFill>
                <a:latin typeface="Telegraf Extra-Light"/>
                <a:ea typeface="Telegraf Extra-Light"/>
                <a:cs typeface="Telegraf Extra-Light"/>
                <a:sym typeface="Telegraf Extra-Light"/>
              </a:rPr>
              <a:t>2024</a:t>
            </a:r>
          </a:p>
        </p:txBody>
      </p:sp>
      <p:sp>
        <p:nvSpPr>
          <p:cNvPr name="TextBox 9" id="9"/>
          <p:cNvSpPr txBox="true"/>
          <p:nvPr/>
        </p:nvSpPr>
        <p:spPr>
          <a:xfrm rot="0">
            <a:off x="11045641" y="782737"/>
            <a:ext cx="1819999" cy="351790"/>
          </a:xfrm>
          <a:prstGeom prst="rect">
            <a:avLst/>
          </a:prstGeom>
        </p:spPr>
        <p:txBody>
          <a:bodyPr anchor="t" rtlCol="false" tIns="0" lIns="0" bIns="0" rIns="0">
            <a:spAutoFit/>
          </a:bodyPr>
          <a:lstStyle/>
          <a:p>
            <a:pPr algn="ctr">
              <a:lnSpc>
                <a:spcPts val="2660"/>
              </a:lnSpc>
              <a:spcBef>
                <a:spcPct val="0"/>
              </a:spcBef>
            </a:pPr>
            <a:r>
              <a:rPr lang="en-US" sz="1900" spc="95">
                <a:solidFill>
                  <a:srgbClr val="164B82"/>
                </a:solidFill>
                <a:latin typeface="Telegraf Extra-Light"/>
                <a:ea typeface="Telegraf Extra-Light"/>
                <a:cs typeface="Telegraf Extra-Light"/>
                <a:sym typeface="Telegraf Extra-Light"/>
              </a:rPr>
              <a:t>Project.</a:t>
            </a:r>
          </a:p>
        </p:txBody>
      </p:sp>
      <p:grpSp>
        <p:nvGrpSpPr>
          <p:cNvPr name="Group 10" id="10"/>
          <p:cNvGrpSpPr/>
          <p:nvPr/>
        </p:nvGrpSpPr>
        <p:grpSpPr>
          <a:xfrm rot="5400000">
            <a:off x="11279340" y="-3711595"/>
            <a:ext cx="643045" cy="9407130"/>
            <a:chOff x="0" y="0"/>
            <a:chExt cx="169362" cy="2477598"/>
          </a:xfrm>
        </p:grpSpPr>
        <p:sp>
          <p:nvSpPr>
            <p:cNvPr name="Freeform 11" id="11"/>
            <p:cNvSpPr/>
            <p:nvPr/>
          </p:nvSpPr>
          <p:spPr>
            <a:xfrm flipH="false" flipV="false" rot="0">
              <a:off x="0" y="0"/>
              <a:ext cx="169362" cy="2477598"/>
            </a:xfrm>
            <a:custGeom>
              <a:avLst/>
              <a:gdLst/>
              <a:ahLst/>
              <a:cxnLst/>
              <a:rect r="r" b="b" t="t" l="l"/>
              <a:pathLst>
                <a:path h="2477598" w="169362">
                  <a:moveTo>
                    <a:pt x="84681" y="0"/>
                  </a:moveTo>
                  <a:lnTo>
                    <a:pt x="84681" y="0"/>
                  </a:lnTo>
                  <a:cubicBezTo>
                    <a:pt x="107140" y="0"/>
                    <a:pt x="128678" y="8922"/>
                    <a:pt x="144559" y="24802"/>
                  </a:cubicBezTo>
                  <a:cubicBezTo>
                    <a:pt x="160440" y="40683"/>
                    <a:pt x="169362" y="62222"/>
                    <a:pt x="169362" y="84681"/>
                  </a:cubicBezTo>
                  <a:lnTo>
                    <a:pt x="169362" y="2392917"/>
                  </a:lnTo>
                  <a:cubicBezTo>
                    <a:pt x="169362" y="2439685"/>
                    <a:pt x="131449" y="2477598"/>
                    <a:pt x="84681" y="2477598"/>
                  </a:cubicBezTo>
                  <a:lnTo>
                    <a:pt x="84681" y="2477598"/>
                  </a:lnTo>
                  <a:cubicBezTo>
                    <a:pt x="37913" y="2477598"/>
                    <a:pt x="0" y="2439685"/>
                    <a:pt x="0" y="2392917"/>
                  </a:cubicBezTo>
                  <a:lnTo>
                    <a:pt x="0" y="84681"/>
                  </a:lnTo>
                  <a:cubicBezTo>
                    <a:pt x="0" y="37913"/>
                    <a:pt x="37913" y="0"/>
                    <a:pt x="84681" y="0"/>
                  </a:cubicBezTo>
                  <a:close/>
                </a:path>
              </a:pathLst>
            </a:custGeom>
            <a:ln w="19050" cap="rnd">
              <a:solidFill>
                <a:srgbClr val="164B82"/>
              </a:solidFill>
              <a:prstDash val="solid"/>
              <a:round/>
            </a:ln>
          </p:spPr>
        </p:sp>
        <p:sp>
          <p:nvSpPr>
            <p:cNvPr name="TextBox 12" id="12"/>
            <p:cNvSpPr txBox="true"/>
            <p:nvPr/>
          </p:nvSpPr>
          <p:spPr>
            <a:xfrm>
              <a:off x="0" y="-57150"/>
              <a:ext cx="169362" cy="2534748"/>
            </a:xfrm>
            <a:prstGeom prst="rect">
              <a:avLst/>
            </a:prstGeom>
          </p:spPr>
          <p:txBody>
            <a:bodyPr anchor="ctr" rtlCol="false" tIns="50800" lIns="50800" bIns="50800" rIns="50800"/>
            <a:lstStyle/>
            <a:p>
              <a:pPr algn="ctr">
                <a:lnSpc>
                  <a:spcPts val="3639"/>
                </a:lnSpc>
              </a:pPr>
            </a:p>
          </p:txBody>
        </p:sp>
      </p:grpSp>
      <p:sp>
        <p:nvSpPr>
          <p:cNvPr name="TextBox 13" id="13"/>
          <p:cNvSpPr txBox="true"/>
          <p:nvPr/>
        </p:nvSpPr>
        <p:spPr>
          <a:xfrm rot="0">
            <a:off x="992940" y="2289269"/>
            <a:ext cx="17703925" cy="744790"/>
          </a:xfrm>
          <a:prstGeom prst="rect">
            <a:avLst/>
          </a:prstGeom>
        </p:spPr>
        <p:txBody>
          <a:bodyPr anchor="t" rtlCol="false" tIns="0" lIns="0" bIns="0" rIns="0">
            <a:spAutoFit/>
          </a:bodyPr>
          <a:lstStyle/>
          <a:p>
            <a:pPr algn="l">
              <a:lnSpc>
                <a:spcPts val="5121"/>
              </a:lnSpc>
            </a:pPr>
            <a:r>
              <a:rPr lang="en-US" sz="5280" b="true">
                <a:solidFill>
                  <a:srgbClr val="343434"/>
                </a:solidFill>
                <a:latin typeface="Telegraf Bold"/>
                <a:ea typeface="Telegraf Bold"/>
                <a:cs typeface="Telegraf Bold"/>
                <a:sym typeface="Telegraf Bold"/>
              </a:rPr>
              <a:t>TẠI SAO TÍNH DỪNG LẠI QUAN TRỌNG?</a:t>
            </a:r>
          </a:p>
        </p:txBody>
      </p:sp>
      <p:sp>
        <p:nvSpPr>
          <p:cNvPr name="TextBox 14" id="14"/>
          <p:cNvSpPr txBox="true"/>
          <p:nvPr/>
        </p:nvSpPr>
        <p:spPr>
          <a:xfrm rot="0">
            <a:off x="1174551" y="5821696"/>
            <a:ext cx="14739686" cy="817880"/>
          </a:xfrm>
          <a:prstGeom prst="rect">
            <a:avLst/>
          </a:prstGeom>
        </p:spPr>
        <p:txBody>
          <a:bodyPr anchor="t" rtlCol="false" tIns="0" lIns="0" bIns="0" rIns="0">
            <a:spAutoFit/>
          </a:bodyPr>
          <a:lstStyle/>
          <a:p>
            <a:pPr algn="l" marL="496569" indent="-248284" lvl="1">
              <a:lnSpc>
                <a:spcPts val="3219"/>
              </a:lnSpc>
              <a:buFont typeface="Arial"/>
              <a:buChar char="•"/>
            </a:pPr>
            <a:r>
              <a:rPr lang="en-US" b="true" sz="2299" spc="114">
                <a:solidFill>
                  <a:srgbClr val="343434"/>
                </a:solidFill>
                <a:latin typeface="Telegraf Bold"/>
                <a:ea typeface="Telegraf Bold"/>
                <a:cs typeface="Telegraf Bold"/>
                <a:sym typeface="Telegraf Bold"/>
              </a:rPr>
              <a:t>Điều kiện</a:t>
            </a:r>
            <a:r>
              <a:rPr lang="en-US" b="true" sz="2299" spc="114">
                <a:solidFill>
                  <a:srgbClr val="343434"/>
                </a:solidFill>
                <a:latin typeface="Telegraf Bold"/>
                <a:ea typeface="Telegraf Bold"/>
                <a:cs typeface="Telegraf Bold"/>
                <a:sym typeface="Telegraf Bold"/>
              </a:rPr>
              <a:t> bắt buộc của mô hình:</a:t>
            </a:r>
            <a:r>
              <a:rPr lang="en-US" sz="2299" spc="114">
                <a:solidFill>
                  <a:srgbClr val="343434"/>
                </a:solidFill>
                <a:latin typeface="Telegraf"/>
                <a:ea typeface="Telegraf"/>
                <a:cs typeface="Telegraf"/>
                <a:sym typeface="Telegraf"/>
              </a:rPr>
              <a:t> Nhiều mô hình dự báo kinh điển (như ARIMA) bắt buộc dữ liệu đầu vào phải có tính dừng để hoạt động chính xác</a:t>
            </a:r>
          </a:p>
        </p:txBody>
      </p:sp>
      <p:sp>
        <p:nvSpPr>
          <p:cNvPr name="TextBox 15" id="15"/>
          <p:cNvSpPr txBox="true"/>
          <p:nvPr/>
        </p:nvSpPr>
        <p:spPr>
          <a:xfrm rot="0">
            <a:off x="1174551" y="6801501"/>
            <a:ext cx="13186632" cy="1217930"/>
          </a:xfrm>
          <a:prstGeom prst="rect">
            <a:avLst/>
          </a:prstGeom>
        </p:spPr>
        <p:txBody>
          <a:bodyPr anchor="t" rtlCol="false" tIns="0" lIns="0" bIns="0" rIns="0">
            <a:spAutoFit/>
          </a:bodyPr>
          <a:lstStyle/>
          <a:p>
            <a:pPr algn="l" marL="496569" indent="-248284" lvl="1">
              <a:lnSpc>
                <a:spcPts val="3219"/>
              </a:lnSpc>
              <a:buFont typeface="Arial"/>
              <a:buChar char="•"/>
            </a:pPr>
            <a:r>
              <a:rPr lang="en-US" b="true" sz="2299" spc="114">
                <a:solidFill>
                  <a:srgbClr val="343434"/>
                </a:solidFill>
                <a:latin typeface="Telegraf Bold"/>
                <a:ea typeface="Telegraf Bold"/>
                <a:cs typeface="Telegraf Bold"/>
                <a:sym typeface="Telegraf Bold"/>
              </a:rPr>
              <a:t>Khả nă</a:t>
            </a:r>
            <a:r>
              <a:rPr lang="en-US" b="true" sz="2299" spc="114">
                <a:solidFill>
                  <a:srgbClr val="343434"/>
                </a:solidFill>
                <a:latin typeface="Telegraf Bold"/>
                <a:ea typeface="Telegraf Bold"/>
                <a:cs typeface="Telegraf Bold"/>
                <a:sym typeface="Telegraf Bold"/>
              </a:rPr>
              <a:t>ng dự báo (Predictability): </a:t>
            </a:r>
            <a:r>
              <a:rPr lang="en-US" sz="2299" spc="114">
                <a:solidFill>
                  <a:srgbClr val="343434"/>
                </a:solidFill>
                <a:latin typeface="Telegraf"/>
                <a:ea typeface="Telegraf"/>
                <a:cs typeface="Telegraf"/>
                <a:sym typeface="Telegraf"/>
              </a:rPr>
              <a:t>Một chuỗi thời gian có tính dừng giúp mô hình có thể giả định rằng các quy luật trong quá khứ sẽ tiếp tục lặp lại ở tương lai, giúp việc dự báo trở nên khả thi và đáng tin cậy hơn</a:t>
            </a:r>
          </a:p>
        </p:txBody>
      </p:sp>
      <p:sp>
        <p:nvSpPr>
          <p:cNvPr name="TextBox 16" id="16"/>
          <p:cNvSpPr txBox="true"/>
          <p:nvPr/>
        </p:nvSpPr>
        <p:spPr>
          <a:xfrm rot="0">
            <a:off x="1320403" y="3189111"/>
            <a:ext cx="14447984" cy="1634237"/>
          </a:xfrm>
          <a:prstGeom prst="rect">
            <a:avLst/>
          </a:prstGeom>
        </p:spPr>
        <p:txBody>
          <a:bodyPr anchor="t" rtlCol="false" tIns="0" lIns="0" bIns="0" rIns="0">
            <a:spAutoFit/>
          </a:bodyPr>
          <a:lstStyle/>
          <a:p>
            <a:pPr algn="l">
              <a:lnSpc>
                <a:spcPts val="5503"/>
              </a:lnSpc>
            </a:pPr>
            <a:r>
              <a:rPr lang="en-US" sz="3199" spc="159" b="true">
                <a:solidFill>
                  <a:srgbClr val="343434"/>
                </a:solidFill>
                <a:latin typeface="Telegraf Bold"/>
                <a:ea typeface="Telegraf Bold"/>
                <a:cs typeface="Telegraf Bold"/>
                <a:sym typeface="Telegraf Bold"/>
              </a:rPr>
              <a:t>Tính dừng là gì?</a:t>
            </a:r>
          </a:p>
          <a:p>
            <a:pPr algn="l">
              <a:lnSpc>
                <a:spcPts val="3499"/>
              </a:lnSpc>
            </a:pPr>
            <a:r>
              <a:rPr lang="en-US" sz="2499" spc="124">
                <a:solidFill>
                  <a:srgbClr val="343434"/>
                </a:solidFill>
                <a:latin typeface="Telegraf"/>
                <a:ea typeface="Telegraf"/>
                <a:cs typeface="Telegraf"/>
                <a:sym typeface="Telegraf"/>
              </a:rPr>
              <a:t>là thuật ngữ kỹ thuật t</a:t>
            </a:r>
            <a:r>
              <a:rPr lang="en-US" sz="2499" spc="124">
                <a:solidFill>
                  <a:srgbClr val="343434"/>
                </a:solidFill>
                <a:latin typeface="Telegraf"/>
                <a:ea typeface="Telegraf"/>
                <a:cs typeface="Telegraf"/>
                <a:sym typeface="Telegraf"/>
              </a:rPr>
              <a:t>iêu chuẩn để mô tả trạng thái mà các đặc tính thống kê của quá trình tạo ra dữ liệu (như trung bình và phương sai) không thay đổi theo thời gian</a:t>
            </a:r>
          </a:p>
        </p:txBody>
      </p:sp>
      <p:sp>
        <p:nvSpPr>
          <p:cNvPr name="TextBox 17" id="17"/>
          <p:cNvSpPr txBox="true"/>
          <p:nvPr/>
        </p:nvSpPr>
        <p:spPr>
          <a:xfrm rot="0">
            <a:off x="1320403" y="5204348"/>
            <a:ext cx="17703925" cy="455422"/>
          </a:xfrm>
          <a:prstGeom prst="rect">
            <a:avLst/>
          </a:prstGeom>
        </p:spPr>
        <p:txBody>
          <a:bodyPr anchor="t" rtlCol="false" tIns="0" lIns="0" bIns="0" rIns="0">
            <a:spAutoFit/>
          </a:bodyPr>
          <a:lstStyle/>
          <a:p>
            <a:pPr algn="l">
              <a:lnSpc>
                <a:spcPts val="3104"/>
              </a:lnSpc>
            </a:pPr>
            <a:r>
              <a:rPr lang="en-US" sz="3200" b="true">
                <a:solidFill>
                  <a:srgbClr val="343434"/>
                </a:solidFill>
                <a:latin typeface="Telegraf Bold"/>
                <a:ea typeface="Telegraf Bold"/>
                <a:cs typeface="Telegraf Bold"/>
                <a:sym typeface="Telegraf Bold"/>
              </a:rPr>
              <a:t>Sự quan trọng của tính dừng trong mô hình dự đoán</a:t>
            </a:r>
          </a:p>
        </p:txBody>
      </p:sp>
      <p:sp>
        <p:nvSpPr>
          <p:cNvPr name="TextBox 18" id="18"/>
          <p:cNvSpPr txBox="true"/>
          <p:nvPr/>
        </p:nvSpPr>
        <p:spPr>
          <a:xfrm rot="0">
            <a:off x="1174551" y="8181356"/>
            <a:ext cx="14739686" cy="1617980"/>
          </a:xfrm>
          <a:prstGeom prst="rect">
            <a:avLst/>
          </a:prstGeom>
        </p:spPr>
        <p:txBody>
          <a:bodyPr anchor="t" rtlCol="false" tIns="0" lIns="0" bIns="0" rIns="0">
            <a:spAutoFit/>
          </a:bodyPr>
          <a:lstStyle/>
          <a:p>
            <a:pPr algn="l" marL="496569" indent="-248284" lvl="1">
              <a:lnSpc>
                <a:spcPts val="3219"/>
              </a:lnSpc>
              <a:buFont typeface="Arial"/>
              <a:buChar char="•"/>
            </a:pPr>
            <a:r>
              <a:rPr lang="en-US" b="true" sz="2299" spc="114">
                <a:solidFill>
                  <a:srgbClr val="343434"/>
                </a:solidFill>
                <a:latin typeface="Telegraf Bold"/>
                <a:ea typeface="Telegraf Bold"/>
                <a:cs typeface="Telegraf Bold"/>
                <a:sym typeface="Telegraf Bold"/>
              </a:rPr>
              <a:t>Loại bỏ nhiễu:</a:t>
            </a:r>
            <a:r>
              <a:rPr lang="en-US" sz="2299" spc="114">
                <a:solidFill>
                  <a:srgbClr val="343434"/>
                </a:solidFill>
                <a:latin typeface="Telegraf"/>
                <a:ea typeface="Telegraf"/>
                <a:cs typeface="Telegraf"/>
                <a:sym typeface="Telegraf"/>
              </a:rPr>
              <a:t> Quá trình biến đổi để đạt tính dừng (như lấy sai phân hoặc tính lợi suất Log) giúp "khử" các thành phần mang tính xu hướng dài hạn, đưa dữ liệu về trạng thái dao động quanh mức trung bình (thường là 0), từ đó giúp mô hình tập trung vào việc bắt kịp các động lực thực tế của lợi suất</a:t>
            </a:r>
          </a:p>
        </p:txBody>
      </p:sp>
    </p:spTree>
  </p:cSld>
  <p:clrMapOvr>
    <a:masterClrMapping/>
  </p:clrMapOvr>
</p:sld>
</file>

<file path=ppt/slides/slide16.xml><?xml version="1.0" encoding="utf-8"?>
<p:sld xmlns:p="http://schemas.openxmlformats.org/presentationml/2006/main" xmlns:a="http://schemas.openxmlformats.org/drawingml/2006/main" xmlns:r="http://schemas.openxmlformats.org/officeDocument/2006/relationships">
  <p:cSld>
    <p:bg>
      <p:bgPr>
        <a:solidFill>
          <a:srgbClr val="F2F7FA"/>
        </a:solidFill>
      </p:bgPr>
    </p:bg>
    <p:spTree>
      <p:nvGrpSpPr>
        <p:cNvPr id="1" name=""/>
        <p:cNvGrpSpPr/>
        <p:nvPr/>
      </p:nvGrpSpPr>
      <p:grpSpPr>
        <a:xfrm>
          <a:off x="0" y="0"/>
          <a:ext cx="0" cy="0"/>
          <a:chOff x="0" y="0"/>
          <a:chExt cx="0" cy="0"/>
        </a:xfrm>
      </p:grpSpPr>
      <p:sp>
        <p:nvSpPr>
          <p:cNvPr name="Freeform 2" id="2"/>
          <p:cNvSpPr/>
          <p:nvPr/>
        </p:nvSpPr>
        <p:spPr>
          <a:xfrm flipH="false" flipV="false" rot="225008">
            <a:off x="-467361" y="-2757747"/>
            <a:ext cx="12701350" cy="5382197"/>
          </a:xfrm>
          <a:custGeom>
            <a:avLst/>
            <a:gdLst/>
            <a:ahLst/>
            <a:cxnLst/>
            <a:rect r="r" b="b" t="t" l="l"/>
            <a:pathLst>
              <a:path h="5382197" w="12701350">
                <a:moveTo>
                  <a:pt x="0" y="0"/>
                </a:moveTo>
                <a:lnTo>
                  <a:pt x="12701349" y="0"/>
                </a:lnTo>
                <a:lnTo>
                  <a:pt x="12701349" y="5382197"/>
                </a:lnTo>
                <a:lnTo>
                  <a:pt x="0" y="5382197"/>
                </a:lnTo>
                <a:lnTo>
                  <a:pt x="0" y="0"/>
                </a:lnTo>
                <a:close/>
              </a:path>
            </a:pathLst>
          </a:custGeom>
          <a:blipFill>
            <a:blip r:embed="rId2"/>
            <a:stretch>
              <a:fillRect l="0" t="0" r="0" b="0"/>
            </a:stretch>
          </a:blipFill>
        </p:spPr>
      </p:sp>
      <p:sp>
        <p:nvSpPr>
          <p:cNvPr name="Freeform 3" id="3"/>
          <p:cNvSpPr/>
          <p:nvPr/>
        </p:nvSpPr>
        <p:spPr>
          <a:xfrm flipH="false" flipV="false" rot="0">
            <a:off x="5288532" y="8124741"/>
            <a:ext cx="11514218" cy="8506128"/>
          </a:xfrm>
          <a:custGeom>
            <a:avLst/>
            <a:gdLst/>
            <a:ahLst/>
            <a:cxnLst/>
            <a:rect r="r" b="b" t="t" l="l"/>
            <a:pathLst>
              <a:path h="8506128" w="11514218">
                <a:moveTo>
                  <a:pt x="0" y="0"/>
                </a:moveTo>
                <a:lnTo>
                  <a:pt x="11514217" y="0"/>
                </a:lnTo>
                <a:lnTo>
                  <a:pt x="11514217" y="8506128"/>
                </a:lnTo>
                <a:lnTo>
                  <a:pt x="0" y="8506128"/>
                </a:lnTo>
                <a:lnTo>
                  <a:pt x="0" y="0"/>
                </a:lnTo>
                <a:close/>
              </a:path>
            </a:pathLst>
          </a:custGeom>
          <a:blipFill>
            <a:blip r:embed="rId3"/>
            <a:stretch>
              <a:fillRect l="0" t="0" r="0" b="0"/>
            </a:stretch>
          </a:blipFill>
        </p:spPr>
      </p:sp>
      <p:grpSp>
        <p:nvGrpSpPr>
          <p:cNvPr name="Group 4" id="4"/>
          <p:cNvGrpSpPr/>
          <p:nvPr/>
        </p:nvGrpSpPr>
        <p:grpSpPr>
          <a:xfrm rot="0">
            <a:off x="17259300" y="-392510"/>
            <a:ext cx="1437565" cy="11072020"/>
            <a:chOff x="0" y="0"/>
            <a:chExt cx="378618" cy="2916088"/>
          </a:xfrm>
        </p:grpSpPr>
        <p:sp>
          <p:nvSpPr>
            <p:cNvPr name="Freeform 5" id="5"/>
            <p:cNvSpPr/>
            <p:nvPr/>
          </p:nvSpPr>
          <p:spPr>
            <a:xfrm flipH="false" flipV="false" rot="0">
              <a:off x="0" y="0"/>
              <a:ext cx="378618" cy="2916088"/>
            </a:xfrm>
            <a:custGeom>
              <a:avLst/>
              <a:gdLst/>
              <a:ahLst/>
              <a:cxnLst/>
              <a:rect r="r" b="b" t="t" l="l"/>
              <a:pathLst>
                <a:path h="2916088" w="378618">
                  <a:moveTo>
                    <a:pt x="0" y="0"/>
                  </a:moveTo>
                  <a:lnTo>
                    <a:pt x="378618" y="0"/>
                  </a:lnTo>
                  <a:lnTo>
                    <a:pt x="378618" y="2916088"/>
                  </a:lnTo>
                  <a:lnTo>
                    <a:pt x="0" y="2916088"/>
                  </a:lnTo>
                  <a:close/>
                </a:path>
              </a:pathLst>
            </a:custGeom>
            <a:gradFill rotWithShape="true">
              <a:gsLst>
                <a:gs pos="0">
                  <a:srgbClr val="E4B795">
                    <a:alpha val="100000"/>
                  </a:srgbClr>
                </a:gs>
                <a:gs pos="50000">
                  <a:srgbClr val="699ACD">
                    <a:alpha val="100000"/>
                  </a:srgbClr>
                </a:gs>
                <a:gs pos="100000">
                  <a:srgbClr val="2F679F">
                    <a:alpha val="100000"/>
                  </a:srgbClr>
                </a:gs>
              </a:gsLst>
              <a:path path="circle">
                <a:fillToRect l="0" r="100000" t="0" b="100000"/>
              </a:path>
              <a:tileRect r="0" l="-100000" b="0" t="-100000"/>
            </a:gradFill>
          </p:spPr>
        </p:sp>
        <p:sp>
          <p:nvSpPr>
            <p:cNvPr name="TextBox 6" id="6"/>
            <p:cNvSpPr txBox="true"/>
            <p:nvPr/>
          </p:nvSpPr>
          <p:spPr>
            <a:xfrm>
              <a:off x="0" y="-57150"/>
              <a:ext cx="378618" cy="2973238"/>
            </a:xfrm>
            <a:prstGeom prst="rect">
              <a:avLst/>
            </a:prstGeom>
          </p:spPr>
          <p:txBody>
            <a:bodyPr anchor="ctr" rtlCol="false" tIns="50800" lIns="50800" bIns="50800" rIns="50800"/>
            <a:lstStyle/>
            <a:p>
              <a:pPr algn="ctr">
                <a:lnSpc>
                  <a:spcPts val="3639"/>
                </a:lnSpc>
              </a:pPr>
            </a:p>
          </p:txBody>
        </p:sp>
      </p:grpSp>
      <p:sp>
        <p:nvSpPr>
          <p:cNvPr name="TextBox 7" id="7"/>
          <p:cNvSpPr txBox="true"/>
          <p:nvPr/>
        </p:nvSpPr>
        <p:spPr>
          <a:xfrm rot="0">
            <a:off x="8021110" y="782737"/>
            <a:ext cx="2492949" cy="351790"/>
          </a:xfrm>
          <a:prstGeom prst="rect">
            <a:avLst/>
          </a:prstGeom>
        </p:spPr>
        <p:txBody>
          <a:bodyPr anchor="t" rtlCol="false" tIns="0" lIns="0" bIns="0" rIns="0">
            <a:spAutoFit/>
          </a:bodyPr>
          <a:lstStyle/>
          <a:p>
            <a:pPr algn="l">
              <a:lnSpc>
                <a:spcPts val="2660"/>
              </a:lnSpc>
              <a:spcBef>
                <a:spcPct val="0"/>
              </a:spcBef>
            </a:pPr>
            <a:r>
              <a:rPr lang="en-US" sz="1900" spc="95">
                <a:solidFill>
                  <a:srgbClr val="164B82"/>
                </a:solidFill>
                <a:latin typeface="Telegraf Extra-Light"/>
                <a:ea typeface="Telegraf Extra-Light"/>
                <a:cs typeface="Telegraf Extra-Light"/>
                <a:sym typeface="Telegraf Extra-Light"/>
              </a:rPr>
              <a:t>Studio Shodwe</a:t>
            </a:r>
          </a:p>
        </p:txBody>
      </p:sp>
      <p:sp>
        <p:nvSpPr>
          <p:cNvPr name="TextBox 8" id="8"/>
          <p:cNvSpPr txBox="true"/>
          <p:nvPr/>
        </p:nvSpPr>
        <p:spPr>
          <a:xfrm rot="0">
            <a:off x="13305333" y="782737"/>
            <a:ext cx="1819999" cy="351790"/>
          </a:xfrm>
          <a:prstGeom prst="rect">
            <a:avLst/>
          </a:prstGeom>
        </p:spPr>
        <p:txBody>
          <a:bodyPr anchor="t" rtlCol="false" tIns="0" lIns="0" bIns="0" rIns="0">
            <a:spAutoFit/>
          </a:bodyPr>
          <a:lstStyle/>
          <a:p>
            <a:pPr algn="r">
              <a:lnSpc>
                <a:spcPts val="2660"/>
              </a:lnSpc>
              <a:spcBef>
                <a:spcPct val="0"/>
              </a:spcBef>
            </a:pPr>
            <a:r>
              <a:rPr lang="en-US" sz="1900" spc="95">
                <a:solidFill>
                  <a:srgbClr val="164B82"/>
                </a:solidFill>
                <a:latin typeface="Telegraf Extra-Light"/>
                <a:ea typeface="Telegraf Extra-Light"/>
                <a:cs typeface="Telegraf Extra-Light"/>
                <a:sym typeface="Telegraf Extra-Light"/>
              </a:rPr>
              <a:t>2024</a:t>
            </a:r>
          </a:p>
        </p:txBody>
      </p:sp>
      <p:sp>
        <p:nvSpPr>
          <p:cNvPr name="TextBox 9" id="9"/>
          <p:cNvSpPr txBox="true"/>
          <p:nvPr/>
        </p:nvSpPr>
        <p:spPr>
          <a:xfrm rot="0">
            <a:off x="11045641" y="782737"/>
            <a:ext cx="1819999" cy="351790"/>
          </a:xfrm>
          <a:prstGeom prst="rect">
            <a:avLst/>
          </a:prstGeom>
        </p:spPr>
        <p:txBody>
          <a:bodyPr anchor="t" rtlCol="false" tIns="0" lIns="0" bIns="0" rIns="0">
            <a:spAutoFit/>
          </a:bodyPr>
          <a:lstStyle/>
          <a:p>
            <a:pPr algn="ctr">
              <a:lnSpc>
                <a:spcPts val="2660"/>
              </a:lnSpc>
              <a:spcBef>
                <a:spcPct val="0"/>
              </a:spcBef>
            </a:pPr>
            <a:r>
              <a:rPr lang="en-US" sz="1900" spc="95">
                <a:solidFill>
                  <a:srgbClr val="164B82"/>
                </a:solidFill>
                <a:latin typeface="Telegraf Extra-Light"/>
                <a:ea typeface="Telegraf Extra-Light"/>
                <a:cs typeface="Telegraf Extra-Light"/>
                <a:sym typeface="Telegraf Extra-Light"/>
              </a:rPr>
              <a:t>Project.</a:t>
            </a:r>
          </a:p>
        </p:txBody>
      </p:sp>
      <p:grpSp>
        <p:nvGrpSpPr>
          <p:cNvPr name="Group 10" id="10"/>
          <p:cNvGrpSpPr/>
          <p:nvPr/>
        </p:nvGrpSpPr>
        <p:grpSpPr>
          <a:xfrm rot="5400000">
            <a:off x="11279340" y="-3711595"/>
            <a:ext cx="643045" cy="9407130"/>
            <a:chOff x="0" y="0"/>
            <a:chExt cx="169362" cy="2477598"/>
          </a:xfrm>
        </p:grpSpPr>
        <p:sp>
          <p:nvSpPr>
            <p:cNvPr name="Freeform 11" id="11"/>
            <p:cNvSpPr/>
            <p:nvPr/>
          </p:nvSpPr>
          <p:spPr>
            <a:xfrm flipH="false" flipV="false" rot="0">
              <a:off x="0" y="0"/>
              <a:ext cx="169362" cy="2477598"/>
            </a:xfrm>
            <a:custGeom>
              <a:avLst/>
              <a:gdLst/>
              <a:ahLst/>
              <a:cxnLst/>
              <a:rect r="r" b="b" t="t" l="l"/>
              <a:pathLst>
                <a:path h="2477598" w="169362">
                  <a:moveTo>
                    <a:pt x="84681" y="0"/>
                  </a:moveTo>
                  <a:lnTo>
                    <a:pt x="84681" y="0"/>
                  </a:lnTo>
                  <a:cubicBezTo>
                    <a:pt x="107140" y="0"/>
                    <a:pt x="128678" y="8922"/>
                    <a:pt x="144559" y="24802"/>
                  </a:cubicBezTo>
                  <a:cubicBezTo>
                    <a:pt x="160440" y="40683"/>
                    <a:pt x="169362" y="62222"/>
                    <a:pt x="169362" y="84681"/>
                  </a:cubicBezTo>
                  <a:lnTo>
                    <a:pt x="169362" y="2392917"/>
                  </a:lnTo>
                  <a:cubicBezTo>
                    <a:pt x="169362" y="2439685"/>
                    <a:pt x="131449" y="2477598"/>
                    <a:pt x="84681" y="2477598"/>
                  </a:cubicBezTo>
                  <a:lnTo>
                    <a:pt x="84681" y="2477598"/>
                  </a:lnTo>
                  <a:cubicBezTo>
                    <a:pt x="37913" y="2477598"/>
                    <a:pt x="0" y="2439685"/>
                    <a:pt x="0" y="2392917"/>
                  </a:cubicBezTo>
                  <a:lnTo>
                    <a:pt x="0" y="84681"/>
                  </a:lnTo>
                  <a:cubicBezTo>
                    <a:pt x="0" y="37913"/>
                    <a:pt x="37913" y="0"/>
                    <a:pt x="84681" y="0"/>
                  </a:cubicBezTo>
                  <a:close/>
                </a:path>
              </a:pathLst>
            </a:custGeom>
            <a:ln w="19050" cap="rnd">
              <a:solidFill>
                <a:srgbClr val="164B82"/>
              </a:solidFill>
              <a:prstDash val="solid"/>
              <a:round/>
            </a:ln>
          </p:spPr>
        </p:sp>
        <p:sp>
          <p:nvSpPr>
            <p:cNvPr name="TextBox 12" id="12"/>
            <p:cNvSpPr txBox="true"/>
            <p:nvPr/>
          </p:nvSpPr>
          <p:spPr>
            <a:xfrm>
              <a:off x="0" y="-57150"/>
              <a:ext cx="169362" cy="2534748"/>
            </a:xfrm>
            <a:prstGeom prst="rect">
              <a:avLst/>
            </a:prstGeom>
          </p:spPr>
          <p:txBody>
            <a:bodyPr anchor="ctr" rtlCol="false" tIns="50800" lIns="50800" bIns="50800" rIns="50800"/>
            <a:lstStyle/>
            <a:p>
              <a:pPr algn="ctr">
                <a:lnSpc>
                  <a:spcPts val="3639"/>
                </a:lnSpc>
              </a:pPr>
            </a:p>
          </p:txBody>
        </p:sp>
      </p:grpSp>
      <p:sp>
        <p:nvSpPr>
          <p:cNvPr name="TextBox 13" id="13"/>
          <p:cNvSpPr txBox="true"/>
          <p:nvPr/>
        </p:nvSpPr>
        <p:spPr>
          <a:xfrm rot="0">
            <a:off x="992940" y="2643600"/>
            <a:ext cx="17703925" cy="710373"/>
          </a:xfrm>
          <a:prstGeom prst="rect">
            <a:avLst/>
          </a:prstGeom>
        </p:spPr>
        <p:txBody>
          <a:bodyPr anchor="t" rtlCol="false" tIns="0" lIns="0" bIns="0" rIns="0">
            <a:spAutoFit/>
          </a:bodyPr>
          <a:lstStyle/>
          <a:p>
            <a:pPr algn="l">
              <a:lnSpc>
                <a:spcPts val="4927"/>
              </a:lnSpc>
            </a:pPr>
            <a:r>
              <a:rPr lang="en-US" sz="5080" b="true">
                <a:solidFill>
                  <a:srgbClr val="343434"/>
                </a:solidFill>
                <a:latin typeface="Telegraf Bold"/>
                <a:ea typeface="Telegraf Bold"/>
                <a:cs typeface="Telegraf Bold"/>
                <a:sym typeface="Telegraf Bold"/>
              </a:rPr>
              <a:t>CHUYỂN ĐỔI GIÁ THÀNH LỢI NHUẬN</a:t>
            </a:r>
          </a:p>
        </p:txBody>
      </p:sp>
      <p:sp>
        <p:nvSpPr>
          <p:cNvPr name="TextBox 14" id="14"/>
          <p:cNvSpPr txBox="true"/>
          <p:nvPr/>
        </p:nvSpPr>
        <p:spPr>
          <a:xfrm rot="0">
            <a:off x="1028700" y="3363497"/>
            <a:ext cx="5868597" cy="575946"/>
          </a:xfrm>
          <a:prstGeom prst="rect">
            <a:avLst/>
          </a:prstGeom>
        </p:spPr>
        <p:txBody>
          <a:bodyPr anchor="t" rtlCol="false" tIns="0" lIns="0" bIns="0" rIns="0">
            <a:spAutoFit/>
          </a:bodyPr>
          <a:lstStyle/>
          <a:p>
            <a:pPr algn="l">
              <a:lnSpc>
                <a:spcPts val="4479"/>
              </a:lnSpc>
            </a:pPr>
            <a:r>
              <a:rPr lang="en-US" b="true" sz="3199" spc="159">
                <a:solidFill>
                  <a:srgbClr val="343434"/>
                </a:solidFill>
                <a:latin typeface="Telegraf Bold"/>
                <a:ea typeface="Telegraf Bold"/>
                <a:cs typeface="Telegraf Bold"/>
                <a:sym typeface="Telegraf Bold"/>
              </a:rPr>
              <a:t>Tại sao cần chuyển đổi?</a:t>
            </a:r>
          </a:p>
        </p:txBody>
      </p:sp>
      <p:sp>
        <p:nvSpPr>
          <p:cNvPr name="TextBox 15" id="15"/>
          <p:cNvSpPr txBox="true"/>
          <p:nvPr/>
        </p:nvSpPr>
        <p:spPr>
          <a:xfrm rot="0">
            <a:off x="1028700" y="4091843"/>
            <a:ext cx="15275727" cy="817880"/>
          </a:xfrm>
          <a:prstGeom prst="rect">
            <a:avLst/>
          </a:prstGeom>
        </p:spPr>
        <p:txBody>
          <a:bodyPr anchor="t" rtlCol="false" tIns="0" lIns="0" bIns="0" rIns="0">
            <a:spAutoFit/>
          </a:bodyPr>
          <a:lstStyle/>
          <a:p>
            <a:pPr algn="l" marL="496569" indent="-248284" lvl="1">
              <a:lnSpc>
                <a:spcPts val="3219"/>
              </a:lnSpc>
              <a:buFont typeface="Arial"/>
              <a:buChar char="•"/>
            </a:pPr>
            <a:r>
              <a:rPr lang="en-US" b="true" sz="2299" spc="114">
                <a:solidFill>
                  <a:srgbClr val="343434"/>
                </a:solidFill>
                <a:latin typeface="Telegraf Bold"/>
                <a:ea typeface="Telegraf Bold"/>
                <a:cs typeface="Telegraf Bold"/>
                <a:sym typeface="Telegraf Bold"/>
              </a:rPr>
              <a:t>Yêu cầu tính dừng (Stationarity) </a:t>
            </a:r>
            <a:r>
              <a:rPr lang="en-US" sz="2299" spc="114">
                <a:solidFill>
                  <a:srgbClr val="343434"/>
                </a:solidFill>
                <a:latin typeface="Telegraf"/>
                <a:ea typeface="Telegraf"/>
                <a:cs typeface="Telegraf"/>
                <a:sym typeface="Telegraf"/>
              </a:rPr>
              <a:t>: Nhiều mô hình chuỗi thời gian yêu cầu dữ liệu đầu vào phải có tính dừng</a:t>
            </a:r>
          </a:p>
        </p:txBody>
      </p:sp>
      <p:sp>
        <p:nvSpPr>
          <p:cNvPr name="TextBox 16" id="16"/>
          <p:cNvSpPr txBox="true"/>
          <p:nvPr/>
        </p:nvSpPr>
        <p:spPr>
          <a:xfrm rot="0">
            <a:off x="1064460" y="7011585"/>
            <a:ext cx="5868597" cy="542926"/>
          </a:xfrm>
          <a:prstGeom prst="rect">
            <a:avLst/>
          </a:prstGeom>
        </p:spPr>
        <p:txBody>
          <a:bodyPr anchor="t" rtlCol="false" tIns="0" lIns="0" bIns="0" rIns="0">
            <a:spAutoFit/>
          </a:bodyPr>
          <a:lstStyle/>
          <a:p>
            <a:pPr algn="l">
              <a:lnSpc>
                <a:spcPts val="4199"/>
              </a:lnSpc>
            </a:pPr>
            <a:r>
              <a:rPr lang="en-US" b="true" sz="2999" spc="149">
                <a:solidFill>
                  <a:srgbClr val="343434"/>
                </a:solidFill>
                <a:latin typeface="Telegraf Bold"/>
                <a:ea typeface="Telegraf Bold"/>
                <a:cs typeface="Telegraf Bold"/>
                <a:sym typeface="Telegraf Bold"/>
              </a:rPr>
              <a:t>Phân loại lợi nhuận</a:t>
            </a:r>
          </a:p>
        </p:txBody>
      </p:sp>
      <p:sp>
        <p:nvSpPr>
          <p:cNvPr name="TextBox 17" id="17"/>
          <p:cNvSpPr txBox="true"/>
          <p:nvPr/>
        </p:nvSpPr>
        <p:spPr>
          <a:xfrm rot="0">
            <a:off x="1100221" y="8434082"/>
            <a:ext cx="14412223" cy="817880"/>
          </a:xfrm>
          <a:prstGeom prst="rect">
            <a:avLst/>
          </a:prstGeom>
        </p:spPr>
        <p:txBody>
          <a:bodyPr anchor="t" rtlCol="false" tIns="0" lIns="0" bIns="0" rIns="0">
            <a:spAutoFit/>
          </a:bodyPr>
          <a:lstStyle/>
          <a:p>
            <a:pPr algn="l" marL="496569" indent="-248284" lvl="1">
              <a:lnSpc>
                <a:spcPts val="3219"/>
              </a:lnSpc>
              <a:buFont typeface="Arial"/>
              <a:buChar char="•"/>
            </a:pPr>
            <a:r>
              <a:rPr lang="en-US" b="true" sz="2299" spc="114">
                <a:solidFill>
                  <a:srgbClr val="343434"/>
                </a:solidFill>
                <a:latin typeface="Telegraf Bold"/>
                <a:ea typeface="Telegraf Bold"/>
                <a:cs typeface="Telegraf Bold"/>
                <a:sym typeface="Telegraf Bold"/>
              </a:rPr>
              <a:t>Lợi nhuận Logarit</a:t>
            </a:r>
            <a:r>
              <a:rPr lang="en-US" sz="2299" spc="114">
                <a:solidFill>
                  <a:srgbClr val="343434"/>
                </a:solidFill>
                <a:latin typeface="Telegraf"/>
                <a:ea typeface="Telegraf"/>
                <a:cs typeface="Telegraf"/>
                <a:sym typeface="Telegraf"/>
              </a:rPr>
              <a:t>: Tổng hợp theo thời gian, có tính chuẩn hóa cao và phù hợp với các phương pháp thống kê cổ điển</a:t>
            </a:r>
          </a:p>
        </p:txBody>
      </p:sp>
      <p:sp>
        <p:nvSpPr>
          <p:cNvPr name="TextBox 18" id="18"/>
          <p:cNvSpPr txBox="true"/>
          <p:nvPr/>
        </p:nvSpPr>
        <p:spPr>
          <a:xfrm rot="0">
            <a:off x="1064460" y="7706910"/>
            <a:ext cx="13186632" cy="417830"/>
          </a:xfrm>
          <a:prstGeom prst="rect">
            <a:avLst/>
          </a:prstGeom>
        </p:spPr>
        <p:txBody>
          <a:bodyPr anchor="t" rtlCol="false" tIns="0" lIns="0" bIns="0" rIns="0">
            <a:spAutoFit/>
          </a:bodyPr>
          <a:lstStyle/>
          <a:p>
            <a:pPr algn="l" marL="496569" indent="-248284" lvl="1">
              <a:lnSpc>
                <a:spcPts val="3219"/>
              </a:lnSpc>
              <a:buFont typeface="Arial"/>
              <a:buChar char="•"/>
            </a:pPr>
            <a:r>
              <a:rPr lang="en-US" b="true" sz="2299" spc="114">
                <a:solidFill>
                  <a:srgbClr val="343434"/>
                </a:solidFill>
                <a:latin typeface="Telegraf Bold"/>
                <a:ea typeface="Telegraf Bold"/>
                <a:cs typeface="Telegraf Bold"/>
                <a:sym typeface="Telegraf Bold"/>
              </a:rPr>
              <a:t>Lợi nhuận đơn giản</a:t>
            </a:r>
            <a:r>
              <a:rPr lang="en-US" sz="2299" spc="114">
                <a:solidFill>
                  <a:srgbClr val="343434"/>
                </a:solidFill>
                <a:latin typeface="Telegraf"/>
                <a:ea typeface="Telegraf"/>
                <a:cs typeface="Telegraf"/>
                <a:sym typeface="Telegraf"/>
              </a:rPr>
              <a:t>: Tổng hợp theo trọng số của các tài sản trong danh mục đầu tư</a:t>
            </a:r>
          </a:p>
        </p:txBody>
      </p:sp>
      <p:sp>
        <p:nvSpPr>
          <p:cNvPr name="TextBox 19" id="19"/>
          <p:cNvSpPr txBox="true"/>
          <p:nvPr/>
        </p:nvSpPr>
        <p:spPr>
          <a:xfrm rot="0">
            <a:off x="1064460" y="5175800"/>
            <a:ext cx="14412223" cy="817880"/>
          </a:xfrm>
          <a:prstGeom prst="rect">
            <a:avLst/>
          </a:prstGeom>
        </p:spPr>
        <p:txBody>
          <a:bodyPr anchor="t" rtlCol="false" tIns="0" lIns="0" bIns="0" rIns="0">
            <a:spAutoFit/>
          </a:bodyPr>
          <a:lstStyle/>
          <a:p>
            <a:pPr algn="l" marL="496569" indent="-248284" lvl="1">
              <a:lnSpc>
                <a:spcPts val="3219"/>
              </a:lnSpc>
              <a:buFont typeface="Arial"/>
              <a:buChar char="•"/>
            </a:pPr>
            <a:r>
              <a:rPr lang="en-US" b="true" sz="2299" spc="114">
                <a:solidFill>
                  <a:srgbClr val="343434"/>
                </a:solidFill>
                <a:latin typeface="Telegraf Bold"/>
                <a:ea typeface="Telegraf Bold"/>
                <a:cs typeface="Telegraf Bold"/>
                <a:sym typeface="Telegraf Bold"/>
              </a:rPr>
              <a:t>Hạn chế của giá tài sản: </a:t>
            </a:r>
            <a:r>
              <a:rPr lang="en-US" sz="2299" spc="114">
                <a:solidFill>
                  <a:srgbClr val="343434"/>
                </a:solidFill>
                <a:latin typeface="Telegraf"/>
                <a:ea typeface="Telegraf"/>
                <a:cs typeface="Telegraf"/>
                <a:sym typeface="Telegraf"/>
              </a:rPr>
              <a:t>Giá cả thường không ổn định, chịu ảnh hưởng bởi xu hướng và tính thời vụ</a:t>
            </a:r>
          </a:p>
        </p:txBody>
      </p:sp>
      <p:sp>
        <p:nvSpPr>
          <p:cNvPr name="TextBox 20" id="20"/>
          <p:cNvSpPr txBox="true"/>
          <p:nvPr/>
        </p:nvSpPr>
        <p:spPr>
          <a:xfrm rot="0">
            <a:off x="1064460" y="6260380"/>
            <a:ext cx="15489852" cy="417830"/>
          </a:xfrm>
          <a:prstGeom prst="rect">
            <a:avLst/>
          </a:prstGeom>
        </p:spPr>
        <p:txBody>
          <a:bodyPr anchor="t" rtlCol="false" tIns="0" lIns="0" bIns="0" rIns="0">
            <a:spAutoFit/>
          </a:bodyPr>
          <a:lstStyle/>
          <a:p>
            <a:pPr algn="l" marL="496569" indent="-248284" lvl="1">
              <a:lnSpc>
                <a:spcPts val="3219"/>
              </a:lnSpc>
              <a:buFont typeface="Arial"/>
              <a:buChar char="•"/>
            </a:pPr>
            <a:r>
              <a:rPr lang="en-US" b="true" sz="2299" spc="114">
                <a:solidFill>
                  <a:srgbClr val="343434"/>
                </a:solidFill>
                <a:latin typeface="Telegraf Bold"/>
                <a:ea typeface="Telegraf Bold"/>
                <a:cs typeface="Telegraf Bold"/>
                <a:sym typeface="Telegraf Bold"/>
              </a:rPr>
              <a:t>Chuẩn hóa dữ liệu: </a:t>
            </a:r>
            <a:r>
              <a:rPr lang="en-US" sz="2299" spc="114">
                <a:solidFill>
                  <a:srgbClr val="343434"/>
                </a:solidFill>
                <a:latin typeface="Telegraf"/>
                <a:ea typeface="Telegraf"/>
                <a:cs typeface="Telegraf"/>
                <a:sym typeface="Telegraf"/>
              </a:rPr>
              <a:t>Chuyển sang lợi nhuận giúp dễ dàng so sánh các tài sản có mức giá khác nhau</a:t>
            </a:r>
          </a:p>
        </p:txBody>
      </p:sp>
    </p:spTree>
  </p:cSld>
  <p:clrMapOvr>
    <a:masterClrMapping/>
  </p:clrMapOvr>
</p:sld>
</file>

<file path=ppt/slides/slide17.xml><?xml version="1.0" encoding="utf-8"?>
<p:sld xmlns:p="http://schemas.openxmlformats.org/presentationml/2006/main" xmlns:a="http://schemas.openxmlformats.org/drawingml/2006/main" xmlns:r="http://schemas.openxmlformats.org/officeDocument/2006/relationships">
  <p:cSld>
    <p:bg>
      <p:bgPr>
        <a:solidFill>
          <a:srgbClr val="F2F7FA"/>
        </a:solidFill>
      </p:bgPr>
    </p:bg>
    <p:spTree>
      <p:nvGrpSpPr>
        <p:cNvPr id="1" name=""/>
        <p:cNvGrpSpPr/>
        <p:nvPr/>
      </p:nvGrpSpPr>
      <p:grpSpPr>
        <a:xfrm>
          <a:off x="0" y="0"/>
          <a:ext cx="0" cy="0"/>
          <a:chOff x="0" y="0"/>
          <a:chExt cx="0" cy="0"/>
        </a:xfrm>
      </p:grpSpPr>
      <p:sp>
        <p:nvSpPr>
          <p:cNvPr name="Freeform 2" id="2"/>
          <p:cNvSpPr/>
          <p:nvPr/>
        </p:nvSpPr>
        <p:spPr>
          <a:xfrm flipH="false" flipV="false" rot="225008">
            <a:off x="-467361" y="-2757747"/>
            <a:ext cx="12701350" cy="5382197"/>
          </a:xfrm>
          <a:custGeom>
            <a:avLst/>
            <a:gdLst/>
            <a:ahLst/>
            <a:cxnLst/>
            <a:rect r="r" b="b" t="t" l="l"/>
            <a:pathLst>
              <a:path h="5382197" w="12701350">
                <a:moveTo>
                  <a:pt x="0" y="0"/>
                </a:moveTo>
                <a:lnTo>
                  <a:pt x="12701349" y="0"/>
                </a:lnTo>
                <a:lnTo>
                  <a:pt x="12701349" y="5382197"/>
                </a:lnTo>
                <a:lnTo>
                  <a:pt x="0" y="5382197"/>
                </a:lnTo>
                <a:lnTo>
                  <a:pt x="0" y="0"/>
                </a:lnTo>
                <a:close/>
              </a:path>
            </a:pathLst>
          </a:custGeom>
          <a:blipFill>
            <a:blip r:embed="rId2"/>
            <a:stretch>
              <a:fillRect l="0" t="0" r="0" b="0"/>
            </a:stretch>
          </a:blipFill>
        </p:spPr>
      </p:sp>
      <p:sp>
        <p:nvSpPr>
          <p:cNvPr name="Freeform 3" id="3"/>
          <p:cNvSpPr/>
          <p:nvPr/>
        </p:nvSpPr>
        <p:spPr>
          <a:xfrm flipH="false" flipV="false" rot="0">
            <a:off x="12220973" y="7306236"/>
            <a:ext cx="11514218" cy="8506128"/>
          </a:xfrm>
          <a:custGeom>
            <a:avLst/>
            <a:gdLst/>
            <a:ahLst/>
            <a:cxnLst/>
            <a:rect r="r" b="b" t="t" l="l"/>
            <a:pathLst>
              <a:path h="8506128" w="11514218">
                <a:moveTo>
                  <a:pt x="0" y="0"/>
                </a:moveTo>
                <a:lnTo>
                  <a:pt x="11514218" y="0"/>
                </a:lnTo>
                <a:lnTo>
                  <a:pt x="11514218" y="8506129"/>
                </a:lnTo>
                <a:lnTo>
                  <a:pt x="0" y="8506129"/>
                </a:lnTo>
                <a:lnTo>
                  <a:pt x="0" y="0"/>
                </a:lnTo>
                <a:close/>
              </a:path>
            </a:pathLst>
          </a:custGeom>
          <a:blipFill>
            <a:blip r:embed="rId3"/>
            <a:stretch>
              <a:fillRect l="0" t="0" r="0" b="0"/>
            </a:stretch>
          </a:blipFill>
        </p:spPr>
      </p:sp>
      <p:grpSp>
        <p:nvGrpSpPr>
          <p:cNvPr name="Group 4" id="4"/>
          <p:cNvGrpSpPr/>
          <p:nvPr/>
        </p:nvGrpSpPr>
        <p:grpSpPr>
          <a:xfrm rot="0">
            <a:off x="17259300" y="-392510"/>
            <a:ext cx="1437565" cy="11072020"/>
            <a:chOff x="0" y="0"/>
            <a:chExt cx="378618" cy="2916088"/>
          </a:xfrm>
        </p:grpSpPr>
        <p:sp>
          <p:nvSpPr>
            <p:cNvPr name="Freeform 5" id="5"/>
            <p:cNvSpPr/>
            <p:nvPr/>
          </p:nvSpPr>
          <p:spPr>
            <a:xfrm flipH="false" flipV="false" rot="0">
              <a:off x="0" y="0"/>
              <a:ext cx="378618" cy="2916088"/>
            </a:xfrm>
            <a:custGeom>
              <a:avLst/>
              <a:gdLst/>
              <a:ahLst/>
              <a:cxnLst/>
              <a:rect r="r" b="b" t="t" l="l"/>
              <a:pathLst>
                <a:path h="2916088" w="378618">
                  <a:moveTo>
                    <a:pt x="0" y="0"/>
                  </a:moveTo>
                  <a:lnTo>
                    <a:pt x="378618" y="0"/>
                  </a:lnTo>
                  <a:lnTo>
                    <a:pt x="378618" y="2916088"/>
                  </a:lnTo>
                  <a:lnTo>
                    <a:pt x="0" y="2916088"/>
                  </a:lnTo>
                  <a:close/>
                </a:path>
              </a:pathLst>
            </a:custGeom>
            <a:gradFill rotWithShape="true">
              <a:gsLst>
                <a:gs pos="0">
                  <a:srgbClr val="E4B795">
                    <a:alpha val="100000"/>
                  </a:srgbClr>
                </a:gs>
                <a:gs pos="50000">
                  <a:srgbClr val="699ACD">
                    <a:alpha val="100000"/>
                  </a:srgbClr>
                </a:gs>
                <a:gs pos="100000">
                  <a:srgbClr val="2F679F">
                    <a:alpha val="100000"/>
                  </a:srgbClr>
                </a:gs>
              </a:gsLst>
              <a:path path="circle">
                <a:fillToRect l="0" r="100000" t="0" b="100000"/>
              </a:path>
              <a:tileRect r="0" l="-100000" b="0" t="-100000"/>
            </a:gradFill>
          </p:spPr>
        </p:sp>
        <p:sp>
          <p:nvSpPr>
            <p:cNvPr name="TextBox 6" id="6"/>
            <p:cNvSpPr txBox="true"/>
            <p:nvPr/>
          </p:nvSpPr>
          <p:spPr>
            <a:xfrm>
              <a:off x="0" y="-57150"/>
              <a:ext cx="378618" cy="2973238"/>
            </a:xfrm>
            <a:prstGeom prst="rect">
              <a:avLst/>
            </a:prstGeom>
          </p:spPr>
          <p:txBody>
            <a:bodyPr anchor="ctr" rtlCol="false" tIns="50800" lIns="50800" bIns="50800" rIns="50800"/>
            <a:lstStyle/>
            <a:p>
              <a:pPr algn="ctr">
                <a:lnSpc>
                  <a:spcPts val="3639"/>
                </a:lnSpc>
              </a:pPr>
            </a:p>
          </p:txBody>
        </p:sp>
      </p:grpSp>
      <p:sp>
        <p:nvSpPr>
          <p:cNvPr name="TextBox 7" id="7"/>
          <p:cNvSpPr txBox="true"/>
          <p:nvPr/>
        </p:nvSpPr>
        <p:spPr>
          <a:xfrm rot="0">
            <a:off x="8021110" y="782737"/>
            <a:ext cx="2492949" cy="351790"/>
          </a:xfrm>
          <a:prstGeom prst="rect">
            <a:avLst/>
          </a:prstGeom>
        </p:spPr>
        <p:txBody>
          <a:bodyPr anchor="t" rtlCol="false" tIns="0" lIns="0" bIns="0" rIns="0">
            <a:spAutoFit/>
          </a:bodyPr>
          <a:lstStyle/>
          <a:p>
            <a:pPr algn="l">
              <a:lnSpc>
                <a:spcPts val="2660"/>
              </a:lnSpc>
              <a:spcBef>
                <a:spcPct val="0"/>
              </a:spcBef>
            </a:pPr>
            <a:r>
              <a:rPr lang="en-US" sz="1900" spc="95">
                <a:solidFill>
                  <a:srgbClr val="164B82"/>
                </a:solidFill>
                <a:latin typeface="Telegraf Extra-Light"/>
                <a:ea typeface="Telegraf Extra-Light"/>
                <a:cs typeface="Telegraf Extra-Light"/>
                <a:sym typeface="Telegraf Extra-Light"/>
              </a:rPr>
              <a:t>Studio Shodwe</a:t>
            </a:r>
          </a:p>
        </p:txBody>
      </p:sp>
      <p:sp>
        <p:nvSpPr>
          <p:cNvPr name="TextBox 8" id="8"/>
          <p:cNvSpPr txBox="true"/>
          <p:nvPr/>
        </p:nvSpPr>
        <p:spPr>
          <a:xfrm rot="0">
            <a:off x="13305333" y="782737"/>
            <a:ext cx="1819999" cy="351790"/>
          </a:xfrm>
          <a:prstGeom prst="rect">
            <a:avLst/>
          </a:prstGeom>
        </p:spPr>
        <p:txBody>
          <a:bodyPr anchor="t" rtlCol="false" tIns="0" lIns="0" bIns="0" rIns="0">
            <a:spAutoFit/>
          </a:bodyPr>
          <a:lstStyle/>
          <a:p>
            <a:pPr algn="r">
              <a:lnSpc>
                <a:spcPts val="2660"/>
              </a:lnSpc>
              <a:spcBef>
                <a:spcPct val="0"/>
              </a:spcBef>
            </a:pPr>
            <a:r>
              <a:rPr lang="en-US" sz="1900" spc="95">
                <a:solidFill>
                  <a:srgbClr val="164B82"/>
                </a:solidFill>
                <a:latin typeface="Telegraf Extra-Light"/>
                <a:ea typeface="Telegraf Extra-Light"/>
                <a:cs typeface="Telegraf Extra-Light"/>
                <a:sym typeface="Telegraf Extra-Light"/>
              </a:rPr>
              <a:t>2024</a:t>
            </a:r>
          </a:p>
        </p:txBody>
      </p:sp>
      <p:sp>
        <p:nvSpPr>
          <p:cNvPr name="TextBox 9" id="9"/>
          <p:cNvSpPr txBox="true"/>
          <p:nvPr/>
        </p:nvSpPr>
        <p:spPr>
          <a:xfrm rot="0">
            <a:off x="11045641" y="782737"/>
            <a:ext cx="1819999" cy="351790"/>
          </a:xfrm>
          <a:prstGeom prst="rect">
            <a:avLst/>
          </a:prstGeom>
        </p:spPr>
        <p:txBody>
          <a:bodyPr anchor="t" rtlCol="false" tIns="0" lIns="0" bIns="0" rIns="0">
            <a:spAutoFit/>
          </a:bodyPr>
          <a:lstStyle/>
          <a:p>
            <a:pPr algn="ctr">
              <a:lnSpc>
                <a:spcPts val="2660"/>
              </a:lnSpc>
              <a:spcBef>
                <a:spcPct val="0"/>
              </a:spcBef>
            </a:pPr>
            <a:r>
              <a:rPr lang="en-US" sz="1900" spc="95">
                <a:solidFill>
                  <a:srgbClr val="164B82"/>
                </a:solidFill>
                <a:latin typeface="Telegraf Extra-Light"/>
                <a:ea typeface="Telegraf Extra-Light"/>
                <a:cs typeface="Telegraf Extra-Light"/>
                <a:sym typeface="Telegraf Extra-Light"/>
              </a:rPr>
              <a:t>Project.</a:t>
            </a:r>
          </a:p>
        </p:txBody>
      </p:sp>
      <p:grpSp>
        <p:nvGrpSpPr>
          <p:cNvPr name="Group 10" id="10"/>
          <p:cNvGrpSpPr/>
          <p:nvPr/>
        </p:nvGrpSpPr>
        <p:grpSpPr>
          <a:xfrm rot="5400000">
            <a:off x="11279340" y="-3711595"/>
            <a:ext cx="643045" cy="9407130"/>
            <a:chOff x="0" y="0"/>
            <a:chExt cx="169362" cy="2477598"/>
          </a:xfrm>
        </p:grpSpPr>
        <p:sp>
          <p:nvSpPr>
            <p:cNvPr name="Freeform 11" id="11"/>
            <p:cNvSpPr/>
            <p:nvPr/>
          </p:nvSpPr>
          <p:spPr>
            <a:xfrm flipH="false" flipV="false" rot="0">
              <a:off x="0" y="0"/>
              <a:ext cx="169362" cy="2477598"/>
            </a:xfrm>
            <a:custGeom>
              <a:avLst/>
              <a:gdLst/>
              <a:ahLst/>
              <a:cxnLst/>
              <a:rect r="r" b="b" t="t" l="l"/>
              <a:pathLst>
                <a:path h="2477598" w="169362">
                  <a:moveTo>
                    <a:pt x="84681" y="0"/>
                  </a:moveTo>
                  <a:lnTo>
                    <a:pt x="84681" y="0"/>
                  </a:lnTo>
                  <a:cubicBezTo>
                    <a:pt x="107140" y="0"/>
                    <a:pt x="128678" y="8922"/>
                    <a:pt x="144559" y="24802"/>
                  </a:cubicBezTo>
                  <a:cubicBezTo>
                    <a:pt x="160440" y="40683"/>
                    <a:pt x="169362" y="62222"/>
                    <a:pt x="169362" y="84681"/>
                  </a:cubicBezTo>
                  <a:lnTo>
                    <a:pt x="169362" y="2392917"/>
                  </a:lnTo>
                  <a:cubicBezTo>
                    <a:pt x="169362" y="2439685"/>
                    <a:pt x="131449" y="2477598"/>
                    <a:pt x="84681" y="2477598"/>
                  </a:cubicBezTo>
                  <a:lnTo>
                    <a:pt x="84681" y="2477598"/>
                  </a:lnTo>
                  <a:cubicBezTo>
                    <a:pt x="37913" y="2477598"/>
                    <a:pt x="0" y="2439685"/>
                    <a:pt x="0" y="2392917"/>
                  </a:cubicBezTo>
                  <a:lnTo>
                    <a:pt x="0" y="84681"/>
                  </a:lnTo>
                  <a:cubicBezTo>
                    <a:pt x="0" y="37913"/>
                    <a:pt x="37913" y="0"/>
                    <a:pt x="84681" y="0"/>
                  </a:cubicBezTo>
                  <a:close/>
                </a:path>
              </a:pathLst>
            </a:custGeom>
            <a:ln w="19050" cap="rnd">
              <a:solidFill>
                <a:srgbClr val="164B82"/>
              </a:solidFill>
              <a:prstDash val="solid"/>
              <a:round/>
            </a:ln>
          </p:spPr>
        </p:sp>
        <p:sp>
          <p:nvSpPr>
            <p:cNvPr name="TextBox 12" id="12"/>
            <p:cNvSpPr txBox="true"/>
            <p:nvPr/>
          </p:nvSpPr>
          <p:spPr>
            <a:xfrm>
              <a:off x="0" y="-57150"/>
              <a:ext cx="169362" cy="2534748"/>
            </a:xfrm>
            <a:prstGeom prst="rect">
              <a:avLst/>
            </a:prstGeom>
          </p:spPr>
          <p:txBody>
            <a:bodyPr anchor="ctr" rtlCol="false" tIns="50800" lIns="50800" bIns="50800" rIns="50800"/>
            <a:lstStyle/>
            <a:p>
              <a:pPr algn="ctr">
                <a:lnSpc>
                  <a:spcPts val="3639"/>
                </a:lnSpc>
              </a:pPr>
            </a:p>
          </p:txBody>
        </p:sp>
      </p:grpSp>
      <p:sp>
        <p:nvSpPr>
          <p:cNvPr name="Freeform 13" id="13"/>
          <p:cNvSpPr/>
          <p:nvPr/>
        </p:nvSpPr>
        <p:spPr>
          <a:xfrm flipH="false" flipV="false" rot="0">
            <a:off x="3804646" y="5814106"/>
            <a:ext cx="3160144" cy="925902"/>
          </a:xfrm>
          <a:custGeom>
            <a:avLst/>
            <a:gdLst/>
            <a:ahLst/>
            <a:cxnLst/>
            <a:rect r="r" b="b" t="t" l="l"/>
            <a:pathLst>
              <a:path h="925902" w="3160144">
                <a:moveTo>
                  <a:pt x="0" y="0"/>
                </a:moveTo>
                <a:lnTo>
                  <a:pt x="3160144" y="0"/>
                </a:lnTo>
                <a:lnTo>
                  <a:pt x="3160144" y="925902"/>
                </a:lnTo>
                <a:lnTo>
                  <a:pt x="0" y="925902"/>
                </a:lnTo>
                <a:lnTo>
                  <a:pt x="0" y="0"/>
                </a:lnTo>
                <a:close/>
              </a:path>
            </a:pathLst>
          </a:custGeom>
          <a:blipFill>
            <a:blip r:embed="rId4"/>
            <a:stretch>
              <a:fillRect l="0" t="0" r="0" b="0"/>
            </a:stretch>
          </a:blipFill>
        </p:spPr>
      </p:sp>
      <p:sp>
        <p:nvSpPr>
          <p:cNvPr name="Freeform 14" id="14"/>
          <p:cNvSpPr/>
          <p:nvPr/>
        </p:nvSpPr>
        <p:spPr>
          <a:xfrm flipH="false" flipV="false" rot="0">
            <a:off x="3953450" y="8832786"/>
            <a:ext cx="2862535" cy="1005165"/>
          </a:xfrm>
          <a:custGeom>
            <a:avLst/>
            <a:gdLst/>
            <a:ahLst/>
            <a:cxnLst/>
            <a:rect r="r" b="b" t="t" l="l"/>
            <a:pathLst>
              <a:path h="1005165" w="2862535">
                <a:moveTo>
                  <a:pt x="0" y="0"/>
                </a:moveTo>
                <a:lnTo>
                  <a:pt x="2862535" y="0"/>
                </a:lnTo>
                <a:lnTo>
                  <a:pt x="2862535" y="1005165"/>
                </a:lnTo>
                <a:lnTo>
                  <a:pt x="0" y="1005165"/>
                </a:lnTo>
                <a:lnTo>
                  <a:pt x="0" y="0"/>
                </a:lnTo>
                <a:close/>
              </a:path>
            </a:pathLst>
          </a:custGeom>
          <a:blipFill>
            <a:blip r:embed="rId5"/>
            <a:stretch>
              <a:fillRect l="0" t="0" r="0" b="0"/>
            </a:stretch>
          </a:blipFill>
        </p:spPr>
      </p:sp>
      <p:sp>
        <p:nvSpPr>
          <p:cNvPr name="TextBox 15" id="15"/>
          <p:cNvSpPr txBox="true"/>
          <p:nvPr/>
        </p:nvSpPr>
        <p:spPr>
          <a:xfrm rot="0">
            <a:off x="992940" y="3291850"/>
            <a:ext cx="17703925" cy="492760"/>
          </a:xfrm>
          <a:prstGeom prst="rect">
            <a:avLst/>
          </a:prstGeom>
        </p:spPr>
        <p:txBody>
          <a:bodyPr anchor="t" rtlCol="false" tIns="0" lIns="0" bIns="0" rIns="0">
            <a:spAutoFit/>
          </a:bodyPr>
          <a:lstStyle/>
          <a:p>
            <a:pPr algn="l">
              <a:lnSpc>
                <a:spcPts val="3395"/>
              </a:lnSpc>
            </a:pPr>
            <a:r>
              <a:rPr lang="en-US" sz="3500" b="true">
                <a:solidFill>
                  <a:srgbClr val="343434"/>
                </a:solidFill>
                <a:latin typeface="Telegraf Bold"/>
                <a:ea typeface="Telegraf Bold"/>
                <a:cs typeface="Telegraf Bold"/>
                <a:sym typeface="Telegraf Bold"/>
              </a:rPr>
              <a:t>TOÁN HỌC TRONG LỢI NHUẬN</a:t>
            </a:r>
          </a:p>
        </p:txBody>
      </p:sp>
      <p:sp>
        <p:nvSpPr>
          <p:cNvPr name="TextBox 16" id="16"/>
          <p:cNvSpPr txBox="true"/>
          <p:nvPr/>
        </p:nvSpPr>
        <p:spPr>
          <a:xfrm rot="0">
            <a:off x="1493093" y="3946536"/>
            <a:ext cx="4375508" cy="1028881"/>
          </a:xfrm>
          <a:prstGeom prst="rect">
            <a:avLst/>
          </a:prstGeom>
        </p:spPr>
        <p:txBody>
          <a:bodyPr anchor="t" rtlCol="false" tIns="0" lIns="0" bIns="0" rIns="0">
            <a:spAutoFit/>
          </a:bodyPr>
          <a:lstStyle/>
          <a:p>
            <a:pPr algn="l">
              <a:lnSpc>
                <a:spcPts val="4190"/>
              </a:lnSpc>
              <a:spcBef>
                <a:spcPct val="0"/>
              </a:spcBef>
            </a:pPr>
            <a:r>
              <a:rPr lang="en-US" b="true" sz="2992">
                <a:solidFill>
                  <a:srgbClr val="000000"/>
                </a:solidFill>
                <a:latin typeface="TT Hoves Bold"/>
                <a:ea typeface="TT Hoves Bold"/>
                <a:cs typeface="TT Hoves Bold"/>
                <a:sym typeface="TT Hoves Bold"/>
              </a:rPr>
              <a:t>Lợi nhuận Đơn giản</a:t>
            </a:r>
          </a:p>
          <a:p>
            <a:pPr algn="ctr">
              <a:lnSpc>
                <a:spcPts val="4190"/>
              </a:lnSpc>
              <a:spcBef>
                <a:spcPct val="0"/>
              </a:spcBef>
            </a:pPr>
          </a:p>
        </p:txBody>
      </p:sp>
      <p:sp>
        <p:nvSpPr>
          <p:cNvPr name="TextBox 17" id="17"/>
          <p:cNvSpPr txBox="true"/>
          <p:nvPr/>
        </p:nvSpPr>
        <p:spPr>
          <a:xfrm rot="0">
            <a:off x="1457332" y="4574281"/>
            <a:ext cx="13336767" cy="825041"/>
          </a:xfrm>
          <a:prstGeom prst="rect">
            <a:avLst/>
          </a:prstGeom>
        </p:spPr>
        <p:txBody>
          <a:bodyPr anchor="t" rtlCol="false" tIns="0" lIns="0" bIns="0" rIns="0">
            <a:spAutoFit/>
          </a:bodyPr>
          <a:lstStyle/>
          <a:p>
            <a:pPr algn="l">
              <a:lnSpc>
                <a:spcPts val="3350"/>
              </a:lnSpc>
              <a:spcBef>
                <a:spcPct val="0"/>
              </a:spcBef>
            </a:pPr>
            <a:r>
              <a:rPr lang="en-US" sz="2393">
                <a:solidFill>
                  <a:srgbClr val="000000"/>
                </a:solidFill>
                <a:latin typeface="TT Hoves"/>
                <a:ea typeface="TT Hoves"/>
                <a:cs typeface="TT Hoves"/>
                <a:sym typeface="TT Hoves"/>
              </a:rPr>
              <a:t>Lợi </a:t>
            </a:r>
            <a:r>
              <a:rPr lang="en-US" sz="2393">
                <a:solidFill>
                  <a:srgbClr val="000000"/>
                </a:solidFill>
                <a:latin typeface="TT Hoves"/>
                <a:ea typeface="TT Hoves"/>
                <a:cs typeface="TT Hoves"/>
                <a:sym typeface="TT Hoves"/>
              </a:rPr>
              <a:t>nhuận đơn giản (Simple Return) là tỷ lệ thay đổi của giá tài sản giữa hai thời điểm liên tiếp, phản ánh mức tăng hoặc giảm trực tiếp của giá.</a:t>
            </a:r>
          </a:p>
        </p:txBody>
      </p:sp>
      <p:sp>
        <p:nvSpPr>
          <p:cNvPr name="TextBox 18" id="18"/>
          <p:cNvSpPr txBox="true"/>
          <p:nvPr/>
        </p:nvSpPr>
        <p:spPr>
          <a:xfrm rot="0">
            <a:off x="1493093" y="7168762"/>
            <a:ext cx="5662393" cy="505006"/>
          </a:xfrm>
          <a:prstGeom prst="rect">
            <a:avLst/>
          </a:prstGeom>
        </p:spPr>
        <p:txBody>
          <a:bodyPr anchor="t" rtlCol="false" tIns="0" lIns="0" bIns="0" rIns="0">
            <a:spAutoFit/>
          </a:bodyPr>
          <a:lstStyle/>
          <a:p>
            <a:pPr algn="l">
              <a:lnSpc>
                <a:spcPts val="4190"/>
              </a:lnSpc>
              <a:spcBef>
                <a:spcPct val="0"/>
              </a:spcBef>
            </a:pPr>
            <a:r>
              <a:rPr lang="en-US" b="true" sz="2992">
                <a:solidFill>
                  <a:srgbClr val="000000"/>
                </a:solidFill>
                <a:latin typeface="TT Hoves Bold"/>
                <a:ea typeface="TT Hoves Bold"/>
                <a:cs typeface="TT Hoves Bold"/>
                <a:sym typeface="TT Hoves Bold"/>
              </a:rPr>
              <a:t>Lợi nhuận Logarit</a:t>
            </a:r>
          </a:p>
        </p:txBody>
      </p:sp>
      <p:sp>
        <p:nvSpPr>
          <p:cNvPr name="TextBox 19" id="19"/>
          <p:cNvSpPr txBox="true"/>
          <p:nvPr/>
        </p:nvSpPr>
        <p:spPr>
          <a:xfrm rot="0">
            <a:off x="1457332" y="7835693"/>
            <a:ext cx="13668000" cy="1616949"/>
          </a:xfrm>
          <a:prstGeom prst="rect">
            <a:avLst/>
          </a:prstGeom>
        </p:spPr>
        <p:txBody>
          <a:bodyPr anchor="t" rtlCol="false" tIns="0" lIns="0" bIns="0" rIns="0">
            <a:spAutoFit/>
          </a:bodyPr>
          <a:lstStyle/>
          <a:p>
            <a:pPr algn="l">
              <a:lnSpc>
                <a:spcPts val="3276"/>
              </a:lnSpc>
              <a:spcBef>
                <a:spcPct val="0"/>
              </a:spcBef>
            </a:pPr>
            <a:r>
              <a:rPr lang="en-US" sz="2340">
                <a:solidFill>
                  <a:srgbClr val="000000"/>
                </a:solidFill>
                <a:latin typeface="TT Hoves"/>
                <a:ea typeface="TT Hoves"/>
                <a:cs typeface="TT Hoves"/>
                <a:sym typeface="TT Hoves"/>
              </a:rPr>
              <a:t>Lợi </a:t>
            </a:r>
            <a:r>
              <a:rPr lang="en-US" sz="2340">
                <a:solidFill>
                  <a:srgbClr val="000000"/>
                </a:solidFill>
                <a:latin typeface="TT Hoves"/>
                <a:ea typeface="TT Hoves"/>
                <a:cs typeface="TT Hoves"/>
                <a:sym typeface="TT Hoves"/>
              </a:rPr>
              <a:t>nhuận logarit (Log Return) là log tự nhiên của tỷ số giá giữa hai thời điểm, phản ánh tốc độ tăng trưởng liên tục của tài sản và có tính chất cộng dồn theo thời gian.</a:t>
            </a:r>
          </a:p>
          <a:p>
            <a:pPr algn="l">
              <a:lnSpc>
                <a:spcPts val="3276"/>
              </a:lnSpc>
              <a:spcBef>
                <a:spcPct val="0"/>
              </a:spcBef>
            </a:pPr>
          </a:p>
          <a:p>
            <a:pPr algn="l">
              <a:lnSpc>
                <a:spcPts val="3276"/>
              </a:lnSpc>
              <a:spcBef>
                <a:spcPct val="0"/>
              </a:spcBef>
            </a:pPr>
          </a:p>
        </p:txBody>
      </p:sp>
      <p:sp>
        <p:nvSpPr>
          <p:cNvPr name="TextBox 20" id="20"/>
          <p:cNvSpPr txBox="true"/>
          <p:nvPr/>
        </p:nvSpPr>
        <p:spPr>
          <a:xfrm rot="0">
            <a:off x="584075" y="2343353"/>
            <a:ext cx="17703925" cy="710373"/>
          </a:xfrm>
          <a:prstGeom prst="rect">
            <a:avLst/>
          </a:prstGeom>
        </p:spPr>
        <p:txBody>
          <a:bodyPr anchor="t" rtlCol="false" tIns="0" lIns="0" bIns="0" rIns="0">
            <a:spAutoFit/>
          </a:bodyPr>
          <a:lstStyle/>
          <a:p>
            <a:pPr algn="l">
              <a:lnSpc>
                <a:spcPts val="4927"/>
              </a:lnSpc>
            </a:pPr>
            <a:r>
              <a:rPr lang="en-US" sz="5080" b="true">
                <a:solidFill>
                  <a:srgbClr val="343434"/>
                </a:solidFill>
                <a:latin typeface="Telegraf Bold"/>
                <a:ea typeface="Telegraf Bold"/>
                <a:cs typeface="Telegraf Bold"/>
                <a:sym typeface="Telegraf Bold"/>
              </a:rPr>
              <a:t>CHUYỂN ĐỔI GIÁ THÀNH LỢI NHUẬN</a:t>
            </a:r>
          </a:p>
        </p:txBody>
      </p:sp>
    </p:spTree>
  </p:cSld>
  <p:clrMapOvr>
    <a:masterClrMapping/>
  </p:clrMapOvr>
</p:sld>
</file>

<file path=ppt/slides/slide18.xml><?xml version="1.0" encoding="utf-8"?>
<p:sld xmlns:p="http://schemas.openxmlformats.org/presentationml/2006/main" xmlns:a="http://schemas.openxmlformats.org/drawingml/2006/main" xmlns:r="http://schemas.openxmlformats.org/officeDocument/2006/relationships">
  <p:cSld>
    <p:bg>
      <p:bgPr>
        <a:solidFill>
          <a:srgbClr val="F2F7FA"/>
        </a:solidFill>
      </p:bgPr>
    </p:bg>
    <p:spTree>
      <p:nvGrpSpPr>
        <p:cNvPr id="1" name=""/>
        <p:cNvGrpSpPr/>
        <p:nvPr/>
      </p:nvGrpSpPr>
      <p:grpSpPr>
        <a:xfrm>
          <a:off x="0" y="0"/>
          <a:ext cx="0" cy="0"/>
          <a:chOff x="0" y="0"/>
          <a:chExt cx="0" cy="0"/>
        </a:xfrm>
      </p:grpSpPr>
      <p:sp>
        <p:nvSpPr>
          <p:cNvPr name="Freeform 2" id="2"/>
          <p:cNvSpPr/>
          <p:nvPr/>
        </p:nvSpPr>
        <p:spPr>
          <a:xfrm flipH="false" flipV="false" rot="225008">
            <a:off x="-467361" y="-2757747"/>
            <a:ext cx="12701350" cy="5382197"/>
          </a:xfrm>
          <a:custGeom>
            <a:avLst/>
            <a:gdLst/>
            <a:ahLst/>
            <a:cxnLst/>
            <a:rect r="r" b="b" t="t" l="l"/>
            <a:pathLst>
              <a:path h="5382197" w="12701350">
                <a:moveTo>
                  <a:pt x="0" y="0"/>
                </a:moveTo>
                <a:lnTo>
                  <a:pt x="12701349" y="0"/>
                </a:lnTo>
                <a:lnTo>
                  <a:pt x="12701349" y="5382197"/>
                </a:lnTo>
                <a:lnTo>
                  <a:pt x="0" y="5382197"/>
                </a:lnTo>
                <a:lnTo>
                  <a:pt x="0" y="0"/>
                </a:lnTo>
                <a:close/>
              </a:path>
            </a:pathLst>
          </a:custGeom>
          <a:blipFill>
            <a:blip r:embed="rId2"/>
            <a:stretch>
              <a:fillRect l="0" t="0" r="0" b="0"/>
            </a:stretch>
          </a:blipFill>
        </p:spPr>
      </p:sp>
      <p:sp>
        <p:nvSpPr>
          <p:cNvPr name="Freeform 3" id="3"/>
          <p:cNvSpPr/>
          <p:nvPr/>
        </p:nvSpPr>
        <p:spPr>
          <a:xfrm flipH="false" flipV="false" rot="0">
            <a:off x="12220973" y="7306236"/>
            <a:ext cx="11514218" cy="8506128"/>
          </a:xfrm>
          <a:custGeom>
            <a:avLst/>
            <a:gdLst/>
            <a:ahLst/>
            <a:cxnLst/>
            <a:rect r="r" b="b" t="t" l="l"/>
            <a:pathLst>
              <a:path h="8506128" w="11514218">
                <a:moveTo>
                  <a:pt x="0" y="0"/>
                </a:moveTo>
                <a:lnTo>
                  <a:pt x="11514218" y="0"/>
                </a:lnTo>
                <a:lnTo>
                  <a:pt x="11514218" y="8506129"/>
                </a:lnTo>
                <a:lnTo>
                  <a:pt x="0" y="8506129"/>
                </a:lnTo>
                <a:lnTo>
                  <a:pt x="0" y="0"/>
                </a:lnTo>
                <a:close/>
              </a:path>
            </a:pathLst>
          </a:custGeom>
          <a:blipFill>
            <a:blip r:embed="rId3"/>
            <a:stretch>
              <a:fillRect l="0" t="0" r="0" b="0"/>
            </a:stretch>
          </a:blipFill>
        </p:spPr>
      </p:sp>
      <p:grpSp>
        <p:nvGrpSpPr>
          <p:cNvPr name="Group 4" id="4"/>
          <p:cNvGrpSpPr/>
          <p:nvPr/>
        </p:nvGrpSpPr>
        <p:grpSpPr>
          <a:xfrm rot="0">
            <a:off x="17259300" y="-392510"/>
            <a:ext cx="1437565" cy="11072020"/>
            <a:chOff x="0" y="0"/>
            <a:chExt cx="378618" cy="2916088"/>
          </a:xfrm>
        </p:grpSpPr>
        <p:sp>
          <p:nvSpPr>
            <p:cNvPr name="Freeform 5" id="5"/>
            <p:cNvSpPr/>
            <p:nvPr/>
          </p:nvSpPr>
          <p:spPr>
            <a:xfrm flipH="false" flipV="false" rot="0">
              <a:off x="0" y="0"/>
              <a:ext cx="378618" cy="2916088"/>
            </a:xfrm>
            <a:custGeom>
              <a:avLst/>
              <a:gdLst/>
              <a:ahLst/>
              <a:cxnLst/>
              <a:rect r="r" b="b" t="t" l="l"/>
              <a:pathLst>
                <a:path h="2916088" w="378618">
                  <a:moveTo>
                    <a:pt x="0" y="0"/>
                  </a:moveTo>
                  <a:lnTo>
                    <a:pt x="378618" y="0"/>
                  </a:lnTo>
                  <a:lnTo>
                    <a:pt x="378618" y="2916088"/>
                  </a:lnTo>
                  <a:lnTo>
                    <a:pt x="0" y="2916088"/>
                  </a:lnTo>
                  <a:close/>
                </a:path>
              </a:pathLst>
            </a:custGeom>
            <a:gradFill rotWithShape="true">
              <a:gsLst>
                <a:gs pos="0">
                  <a:srgbClr val="E4B795">
                    <a:alpha val="100000"/>
                  </a:srgbClr>
                </a:gs>
                <a:gs pos="50000">
                  <a:srgbClr val="699ACD">
                    <a:alpha val="100000"/>
                  </a:srgbClr>
                </a:gs>
                <a:gs pos="100000">
                  <a:srgbClr val="2F679F">
                    <a:alpha val="100000"/>
                  </a:srgbClr>
                </a:gs>
              </a:gsLst>
              <a:path path="circle">
                <a:fillToRect l="0" r="100000" t="0" b="100000"/>
              </a:path>
              <a:tileRect r="0" l="-100000" b="0" t="-100000"/>
            </a:gradFill>
          </p:spPr>
        </p:sp>
        <p:sp>
          <p:nvSpPr>
            <p:cNvPr name="TextBox 6" id="6"/>
            <p:cNvSpPr txBox="true"/>
            <p:nvPr/>
          </p:nvSpPr>
          <p:spPr>
            <a:xfrm>
              <a:off x="0" y="-57150"/>
              <a:ext cx="378618" cy="2973238"/>
            </a:xfrm>
            <a:prstGeom prst="rect">
              <a:avLst/>
            </a:prstGeom>
          </p:spPr>
          <p:txBody>
            <a:bodyPr anchor="ctr" rtlCol="false" tIns="50800" lIns="50800" bIns="50800" rIns="50800"/>
            <a:lstStyle/>
            <a:p>
              <a:pPr algn="ctr">
                <a:lnSpc>
                  <a:spcPts val="3639"/>
                </a:lnSpc>
              </a:pPr>
            </a:p>
          </p:txBody>
        </p:sp>
      </p:grpSp>
      <p:sp>
        <p:nvSpPr>
          <p:cNvPr name="TextBox 7" id="7"/>
          <p:cNvSpPr txBox="true"/>
          <p:nvPr/>
        </p:nvSpPr>
        <p:spPr>
          <a:xfrm rot="0">
            <a:off x="8021110" y="782737"/>
            <a:ext cx="2492949" cy="351790"/>
          </a:xfrm>
          <a:prstGeom prst="rect">
            <a:avLst/>
          </a:prstGeom>
        </p:spPr>
        <p:txBody>
          <a:bodyPr anchor="t" rtlCol="false" tIns="0" lIns="0" bIns="0" rIns="0">
            <a:spAutoFit/>
          </a:bodyPr>
          <a:lstStyle/>
          <a:p>
            <a:pPr algn="l">
              <a:lnSpc>
                <a:spcPts val="2660"/>
              </a:lnSpc>
              <a:spcBef>
                <a:spcPct val="0"/>
              </a:spcBef>
            </a:pPr>
            <a:r>
              <a:rPr lang="en-US" sz="1900" spc="95">
                <a:solidFill>
                  <a:srgbClr val="164B82"/>
                </a:solidFill>
                <a:latin typeface="Telegraf Extra-Light"/>
                <a:ea typeface="Telegraf Extra-Light"/>
                <a:cs typeface="Telegraf Extra-Light"/>
                <a:sym typeface="Telegraf Extra-Light"/>
              </a:rPr>
              <a:t>Studio Shodwe</a:t>
            </a:r>
          </a:p>
        </p:txBody>
      </p:sp>
      <p:sp>
        <p:nvSpPr>
          <p:cNvPr name="TextBox 8" id="8"/>
          <p:cNvSpPr txBox="true"/>
          <p:nvPr/>
        </p:nvSpPr>
        <p:spPr>
          <a:xfrm rot="0">
            <a:off x="13305333" y="782737"/>
            <a:ext cx="1819999" cy="351790"/>
          </a:xfrm>
          <a:prstGeom prst="rect">
            <a:avLst/>
          </a:prstGeom>
        </p:spPr>
        <p:txBody>
          <a:bodyPr anchor="t" rtlCol="false" tIns="0" lIns="0" bIns="0" rIns="0">
            <a:spAutoFit/>
          </a:bodyPr>
          <a:lstStyle/>
          <a:p>
            <a:pPr algn="r">
              <a:lnSpc>
                <a:spcPts val="2660"/>
              </a:lnSpc>
              <a:spcBef>
                <a:spcPct val="0"/>
              </a:spcBef>
            </a:pPr>
            <a:r>
              <a:rPr lang="en-US" sz="1900" spc="95">
                <a:solidFill>
                  <a:srgbClr val="164B82"/>
                </a:solidFill>
                <a:latin typeface="Telegraf Extra-Light"/>
                <a:ea typeface="Telegraf Extra-Light"/>
                <a:cs typeface="Telegraf Extra-Light"/>
                <a:sym typeface="Telegraf Extra-Light"/>
              </a:rPr>
              <a:t>2024</a:t>
            </a:r>
          </a:p>
        </p:txBody>
      </p:sp>
      <p:sp>
        <p:nvSpPr>
          <p:cNvPr name="TextBox 9" id="9"/>
          <p:cNvSpPr txBox="true"/>
          <p:nvPr/>
        </p:nvSpPr>
        <p:spPr>
          <a:xfrm rot="0">
            <a:off x="11045641" y="782737"/>
            <a:ext cx="1819999" cy="351790"/>
          </a:xfrm>
          <a:prstGeom prst="rect">
            <a:avLst/>
          </a:prstGeom>
        </p:spPr>
        <p:txBody>
          <a:bodyPr anchor="t" rtlCol="false" tIns="0" lIns="0" bIns="0" rIns="0">
            <a:spAutoFit/>
          </a:bodyPr>
          <a:lstStyle/>
          <a:p>
            <a:pPr algn="ctr">
              <a:lnSpc>
                <a:spcPts val="2660"/>
              </a:lnSpc>
              <a:spcBef>
                <a:spcPct val="0"/>
              </a:spcBef>
            </a:pPr>
            <a:r>
              <a:rPr lang="en-US" sz="1900" spc="95">
                <a:solidFill>
                  <a:srgbClr val="164B82"/>
                </a:solidFill>
                <a:latin typeface="Telegraf Extra-Light"/>
                <a:ea typeface="Telegraf Extra-Light"/>
                <a:cs typeface="Telegraf Extra-Light"/>
                <a:sym typeface="Telegraf Extra-Light"/>
              </a:rPr>
              <a:t>Project.</a:t>
            </a:r>
          </a:p>
        </p:txBody>
      </p:sp>
      <p:grpSp>
        <p:nvGrpSpPr>
          <p:cNvPr name="Group 10" id="10"/>
          <p:cNvGrpSpPr/>
          <p:nvPr/>
        </p:nvGrpSpPr>
        <p:grpSpPr>
          <a:xfrm rot="5400000">
            <a:off x="11279340" y="-3711595"/>
            <a:ext cx="643045" cy="9407130"/>
            <a:chOff x="0" y="0"/>
            <a:chExt cx="169362" cy="2477598"/>
          </a:xfrm>
        </p:grpSpPr>
        <p:sp>
          <p:nvSpPr>
            <p:cNvPr name="Freeform 11" id="11"/>
            <p:cNvSpPr/>
            <p:nvPr/>
          </p:nvSpPr>
          <p:spPr>
            <a:xfrm flipH="false" flipV="false" rot="0">
              <a:off x="0" y="0"/>
              <a:ext cx="169362" cy="2477598"/>
            </a:xfrm>
            <a:custGeom>
              <a:avLst/>
              <a:gdLst/>
              <a:ahLst/>
              <a:cxnLst/>
              <a:rect r="r" b="b" t="t" l="l"/>
              <a:pathLst>
                <a:path h="2477598" w="169362">
                  <a:moveTo>
                    <a:pt x="84681" y="0"/>
                  </a:moveTo>
                  <a:lnTo>
                    <a:pt x="84681" y="0"/>
                  </a:lnTo>
                  <a:cubicBezTo>
                    <a:pt x="107140" y="0"/>
                    <a:pt x="128678" y="8922"/>
                    <a:pt x="144559" y="24802"/>
                  </a:cubicBezTo>
                  <a:cubicBezTo>
                    <a:pt x="160440" y="40683"/>
                    <a:pt x="169362" y="62222"/>
                    <a:pt x="169362" y="84681"/>
                  </a:cubicBezTo>
                  <a:lnTo>
                    <a:pt x="169362" y="2392917"/>
                  </a:lnTo>
                  <a:cubicBezTo>
                    <a:pt x="169362" y="2439685"/>
                    <a:pt x="131449" y="2477598"/>
                    <a:pt x="84681" y="2477598"/>
                  </a:cubicBezTo>
                  <a:lnTo>
                    <a:pt x="84681" y="2477598"/>
                  </a:lnTo>
                  <a:cubicBezTo>
                    <a:pt x="37913" y="2477598"/>
                    <a:pt x="0" y="2439685"/>
                    <a:pt x="0" y="2392917"/>
                  </a:cubicBezTo>
                  <a:lnTo>
                    <a:pt x="0" y="84681"/>
                  </a:lnTo>
                  <a:cubicBezTo>
                    <a:pt x="0" y="37913"/>
                    <a:pt x="37913" y="0"/>
                    <a:pt x="84681" y="0"/>
                  </a:cubicBezTo>
                  <a:close/>
                </a:path>
              </a:pathLst>
            </a:custGeom>
            <a:ln w="19050" cap="rnd">
              <a:solidFill>
                <a:srgbClr val="164B82"/>
              </a:solidFill>
              <a:prstDash val="solid"/>
              <a:round/>
            </a:ln>
          </p:spPr>
        </p:sp>
        <p:sp>
          <p:nvSpPr>
            <p:cNvPr name="TextBox 12" id="12"/>
            <p:cNvSpPr txBox="true"/>
            <p:nvPr/>
          </p:nvSpPr>
          <p:spPr>
            <a:xfrm>
              <a:off x="0" y="-57150"/>
              <a:ext cx="169362" cy="2534748"/>
            </a:xfrm>
            <a:prstGeom prst="rect">
              <a:avLst/>
            </a:prstGeom>
          </p:spPr>
          <p:txBody>
            <a:bodyPr anchor="ctr" rtlCol="false" tIns="50800" lIns="50800" bIns="50800" rIns="50800"/>
            <a:lstStyle/>
            <a:p>
              <a:pPr algn="ctr">
                <a:lnSpc>
                  <a:spcPts val="3639"/>
                </a:lnSpc>
              </a:pPr>
            </a:p>
          </p:txBody>
        </p:sp>
      </p:grpSp>
      <p:sp>
        <p:nvSpPr>
          <p:cNvPr name="TextBox 13" id="13"/>
          <p:cNvSpPr txBox="true"/>
          <p:nvPr/>
        </p:nvSpPr>
        <p:spPr>
          <a:xfrm rot="0">
            <a:off x="992940" y="2326685"/>
            <a:ext cx="17703925" cy="710373"/>
          </a:xfrm>
          <a:prstGeom prst="rect">
            <a:avLst/>
          </a:prstGeom>
        </p:spPr>
        <p:txBody>
          <a:bodyPr anchor="t" rtlCol="false" tIns="0" lIns="0" bIns="0" rIns="0">
            <a:spAutoFit/>
          </a:bodyPr>
          <a:lstStyle/>
          <a:p>
            <a:pPr algn="l">
              <a:lnSpc>
                <a:spcPts val="4927"/>
              </a:lnSpc>
            </a:pPr>
            <a:r>
              <a:rPr lang="en-US" sz="5080" b="true">
                <a:solidFill>
                  <a:srgbClr val="343434"/>
                </a:solidFill>
                <a:latin typeface="Telegraf Bold"/>
                <a:ea typeface="Telegraf Bold"/>
                <a:cs typeface="Telegraf Bold"/>
                <a:sym typeface="Telegraf Bold"/>
              </a:rPr>
              <a:t>CHUYỂN ĐỔI GIÁ THÀNH LỢI NHUẬN</a:t>
            </a:r>
          </a:p>
        </p:txBody>
      </p:sp>
      <p:sp>
        <p:nvSpPr>
          <p:cNvPr name="TextBox 14" id="14"/>
          <p:cNvSpPr txBox="true"/>
          <p:nvPr/>
        </p:nvSpPr>
        <p:spPr>
          <a:xfrm rot="0">
            <a:off x="1409914" y="3232638"/>
            <a:ext cx="13186632" cy="1298575"/>
          </a:xfrm>
          <a:prstGeom prst="rect">
            <a:avLst/>
          </a:prstGeom>
        </p:spPr>
        <p:txBody>
          <a:bodyPr anchor="t" rtlCol="false" tIns="0" lIns="0" bIns="0" rIns="0">
            <a:spAutoFit/>
          </a:bodyPr>
          <a:lstStyle/>
          <a:p>
            <a:pPr algn="l">
              <a:lnSpc>
                <a:spcPts val="3779"/>
              </a:lnSpc>
            </a:pPr>
            <a:r>
              <a:rPr lang="en-US" sz="2699" spc="134" b="true">
                <a:solidFill>
                  <a:srgbClr val="343434"/>
                </a:solidFill>
                <a:latin typeface="Telegraf Bold"/>
                <a:ea typeface="Telegraf Bold"/>
                <a:cs typeface="Telegraf Bold"/>
                <a:sym typeface="Telegraf Bold"/>
              </a:rPr>
              <a:t>Tính Lợi nhuận đơn giản: </a:t>
            </a:r>
          </a:p>
          <a:p>
            <a:pPr algn="l" marL="496569" indent="-248284" lvl="1">
              <a:lnSpc>
                <a:spcPts val="3219"/>
              </a:lnSpc>
              <a:buFont typeface="Arial"/>
              <a:buChar char="•"/>
            </a:pPr>
            <a:r>
              <a:rPr lang="en-US" sz="2299" spc="114">
                <a:solidFill>
                  <a:srgbClr val="343434"/>
                </a:solidFill>
                <a:latin typeface="Telegraf"/>
                <a:ea typeface="Telegraf"/>
                <a:cs typeface="Telegraf"/>
                <a:sym typeface="Telegraf"/>
              </a:rPr>
              <a:t>Sử dụng phương pháp pct_change() của Pandas để tính phần trăm thay đổi giữa các hàng. Lưu ý dữ liệu cần được sắp xếp theo đúng trình tự thời gian (index)</a:t>
            </a:r>
          </a:p>
        </p:txBody>
      </p:sp>
      <p:sp>
        <p:nvSpPr>
          <p:cNvPr name="TextBox 15" id="15"/>
          <p:cNvSpPr txBox="true"/>
          <p:nvPr/>
        </p:nvSpPr>
        <p:spPr>
          <a:xfrm rot="0">
            <a:off x="1445674" y="5134939"/>
            <a:ext cx="13186632" cy="417830"/>
          </a:xfrm>
          <a:prstGeom prst="rect">
            <a:avLst/>
          </a:prstGeom>
        </p:spPr>
        <p:txBody>
          <a:bodyPr anchor="t" rtlCol="false" tIns="0" lIns="0" bIns="0" rIns="0">
            <a:spAutoFit/>
          </a:bodyPr>
          <a:lstStyle/>
          <a:p>
            <a:pPr algn="l" marL="496569" indent="-248284" lvl="1">
              <a:lnSpc>
                <a:spcPts val="3219"/>
              </a:lnSpc>
              <a:buFont typeface="Arial"/>
              <a:buChar char="•"/>
            </a:pPr>
            <a:r>
              <a:rPr lang="en-US" sz="2299" spc="114">
                <a:solidFill>
                  <a:srgbClr val="343434"/>
                </a:solidFill>
                <a:latin typeface="Telegraf"/>
                <a:ea typeface="Telegraf"/>
                <a:cs typeface="Telegraf"/>
                <a:sym typeface="Telegraf"/>
              </a:rPr>
              <a:t>Sử dụng phương pháp shift(1) để tiếp cận giá trị của kỳ trước đó</a:t>
            </a:r>
          </a:p>
        </p:txBody>
      </p:sp>
      <p:sp>
        <p:nvSpPr>
          <p:cNvPr name="TextBox 16" id="16"/>
          <p:cNvSpPr txBox="true"/>
          <p:nvPr/>
        </p:nvSpPr>
        <p:spPr>
          <a:xfrm rot="0">
            <a:off x="1445674" y="5686119"/>
            <a:ext cx="13186632" cy="417830"/>
          </a:xfrm>
          <a:prstGeom prst="rect">
            <a:avLst/>
          </a:prstGeom>
        </p:spPr>
        <p:txBody>
          <a:bodyPr anchor="t" rtlCol="false" tIns="0" lIns="0" bIns="0" rIns="0">
            <a:spAutoFit/>
          </a:bodyPr>
          <a:lstStyle/>
          <a:p>
            <a:pPr algn="l" marL="496569" indent="-248284" lvl="1">
              <a:lnSpc>
                <a:spcPts val="3219"/>
              </a:lnSpc>
              <a:buFont typeface="Arial"/>
              <a:buChar char="•"/>
            </a:pPr>
            <a:r>
              <a:rPr lang="en-US" sz="2299" spc="114">
                <a:solidFill>
                  <a:srgbClr val="343434"/>
                </a:solidFill>
                <a:latin typeface="Telegraf"/>
                <a:ea typeface="Telegraf"/>
                <a:cs typeface="Telegraf"/>
                <a:sym typeface="Telegraf"/>
              </a:rPr>
              <a:t>Áp dụng hàm np.log() trên tỷ lệ giá giữa kỳ này và kỳ trước</a:t>
            </a:r>
          </a:p>
        </p:txBody>
      </p:sp>
      <p:sp>
        <p:nvSpPr>
          <p:cNvPr name="TextBox 17" id="17"/>
          <p:cNvSpPr txBox="true"/>
          <p:nvPr/>
        </p:nvSpPr>
        <p:spPr>
          <a:xfrm rot="0">
            <a:off x="1409914" y="4655038"/>
            <a:ext cx="4113014" cy="493395"/>
          </a:xfrm>
          <a:prstGeom prst="rect">
            <a:avLst/>
          </a:prstGeom>
        </p:spPr>
        <p:txBody>
          <a:bodyPr anchor="t" rtlCol="false" tIns="0" lIns="0" bIns="0" rIns="0">
            <a:spAutoFit/>
          </a:bodyPr>
          <a:lstStyle/>
          <a:p>
            <a:pPr algn="ctr">
              <a:lnSpc>
                <a:spcPts val="3779"/>
              </a:lnSpc>
              <a:spcBef>
                <a:spcPct val="0"/>
              </a:spcBef>
            </a:pPr>
            <a:r>
              <a:rPr lang="en-US" b="true" sz="2699" spc="134">
                <a:solidFill>
                  <a:srgbClr val="000000"/>
                </a:solidFill>
                <a:latin typeface="Telegraf Bold"/>
                <a:ea typeface="Telegraf Bold"/>
                <a:cs typeface="Telegraf Bold"/>
                <a:sym typeface="Telegraf Bold"/>
              </a:rPr>
              <a:t>Tính Lợi nh</a:t>
            </a:r>
            <a:r>
              <a:rPr lang="en-US" b="true" sz="2699" spc="134">
                <a:solidFill>
                  <a:srgbClr val="000000"/>
                </a:solidFill>
                <a:latin typeface="Telegraf Bold"/>
                <a:ea typeface="Telegraf Bold"/>
                <a:cs typeface="Telegraf Bold"/>
                <a:sym typeface="Telegraf Bold"/>
              </a:rPr>
              <a:t>uận Logarit</a:t>
            </a:r>
          </a:p>
        </p:txBody>
      </p:sp>
      <p:sp>
        <p:nvSpPr>
          <p:cNvPr name="TextBox 18" id="18"/>
          <p:cNvSpPr txBox="true"/>
          <p:nvPr/>
        </p:nvSpPr>
        <p:spPr>
          <a:xfrm rot="0">
            <a:off x="1064460" y="7875600"/>
            <a:ext cx="1031319" cy="493395"/>
          </a:xfrm>
          <a:prstGeom prst="rect">
            <a:avLst/>
          </a:prstGeom>
        </p:spPr>
        <p:txBody>
          <a:bodyPr anchor="t" rtlCol="false" tIns="0" lIns="0" bIns="0" rIns="0">
            <a:spAutoFit/>
          </a:bodyPr>
          <a:lstStyle/>
          <a:p>
            <a:pPr algn="ctr">
              <a:lnSpc>
                <a:spcPts val="3779"/>
              </a:lnSpc>
              <a:spcBef>
                <a:spcPct val="0"/>
              </a:spcBef>
            </a:pPr>
            <a:r>
              <a:rPr lang="en-US" b="true" sz="2699" spc="134">
                <a:solidFill>
                  <a:srgbClr val="000000"/>
                </a:solidFill>
                <a:latin typeface="Telegraf Bold"/>
                <a:ea typeface="Telegraf Bold"/>
                <a:cs typeface="Telegraf Bold"/>
                <a:sym typeface="Telegraf Bold"/>
              </a:rPr>
              <a:t>Lưu ý</a:t>
            </a:r>
          </a:p>
        </p:txBody>
      </p:sp>
      <p:sp>
        <p:nvSpPr>
          <p:cNvPr name="TextBox 19" id="19"/>
          <p:cNvSpPr txBox="true"/>
          <p:nvPr/>
        </p:nvSpPr>
        <p:spPr>
          <a:xfrm rot="0">
            <a:off x="1028700" y="8502345"/>
            <a:ext cx="10016941" cy="1217930"/>
          </a:xfrm>
          <a:prstGeom prst="rect">
            <a:avLst/>
          </a:prstGeom>
        </p:spPr>
        <p:txBody>
          <a:bodyPr anchor="t" rtlCol="false" tIns="0" lIns="0" bIns="0" rIns="0">
            <a:spAutoFit/>
          </a:bodyPr>
          <a:lstStyle/>
          <a:p>
            <a:pPr algn="l" marL="496569" indent="-248284" lvl="1">
              <a:lnSpc>
                <a:spcPts val="3219"/>
              </a:lnSpc>
              <a:buFont typeface="Arial"/>
              <a:buChar char="•"/>
            </a:pPr>
            <a:r>
              <a:rPr lang="en-US" sz="2299" spc="114">
                <a:solidFill>
                  <a:srgbClr val="000000"/>
                </a:solidFill>
                <a:latin typeface="Telegraf Extra-Light"/>
                <a:ea typeface="Telegraf Extra-Light"/>
                <a:cs typeface="Telegraf Extra-Light"/>
                <a:sym typeface="Telegraf Extra-Light"/>
              </a:rPr>
              <a:t>Đối với dữ liệu tần suất cao (hàng ngày), sự khác biệt giữa hai loại lợi nhuận là rất nhỏ, nhưng lợi nhuận logarit thường có giá trị nhỏ hơn một chút so với lợi nhuận đơn giản</a:t>
            </a:r>
          </a:p>
        </p:txBody>
      </p:sp>
      <p:sp>
        <p:nvSpPr>
          <p:cNvPr name="TextBox 20" id="20"/>
          <p:cNvSpPr txBox="true"/>
          <p:nvPr/>
        </p:nvSpPr>
        <p:spPr>
          <a:xfrm rot="0">
            <a:off x="1028700" y="6227775"/>
            <a:ext cx="5072181" cy="493395"/>
          </a:xfrm>
          <a:prstGeom prst="rect">
            <a:avLst/>
          </a:prstGeom>
        </p:spPr>
        <p:txBody>
          <a:bodyPr anchor="t" rtlCol="false" tIns="0" lIns="0" bIns="0" rIns="0">
            <a:spAutoFit/>
          </a:bodyPr>
          <a:lstStyle/>
          <a:p>
            <a:pPr algn="l">
              <a:lnSpc>
                <a:spcPts val="3779"/>
              </a:lnSpc>
            </a:pPr>
            <a:r>
              <a:rPr lang="en-US" b="true" sz="2699" spc="134">
                <a:solidFill>
                  <a:srgbClr val="343434"/>
                </a:solidFill>
                <a:latin typeface="Telegraf Bold"/>
                <a:ea typeface="Telegraf Bold"/>
                <a:cs typeface="Telegraf Bold"/>
                <a:sym typeface="Telegraf Bold"/>
              </a:rPr>
              <a:t>Ví dụ:</a:t>
            </a:r>
          </a:p>
        </p:txBody>
      </p:sp>
      <p:sp>
        <p:nvSpPr>
          <p:cNvPr name="Freeform 21" id="21"/>
          <p:cNvSpPr/>
          <p:nvPr/>
        </p:nvSpPr>
        <p:spPr>
          <a:xfrm flipH="false" flipV="false" rot="0">
            <a:off x="2689833" y="6616717"/>
            <a:ext cx="11301259" cy="1087746"/>
          </a:xfrm>
          <a:custGeom>
            <a:avLst/>
            <a:gdLst/>
            <a:ahLst/>
            <a:cxnLst/>
            <a:rect r="r" b="b" t="t" l="l"/>
            <a:pathLst>
              <a:path h="1087746" w="11301259">
                <a:moveTo>
                  <a:pt x="0" y="0"/>
                </a:moveTo>
                <a:lnTo>
                  <a:pt x="11301259" y="0"/>
                </a:lnTo>
                <a:lnTo>
                  <a:pt x="11301259" y="1087746"/>
                </a:lnTo>
                <a:lnTo>
                  <a:pt x="0" y="1087746"/>
                </a:lnTo>
                <a:lnTo>
                  <a:pt x="0" y="0"/>
                </a:lnTo>
                <a:close/>
              </a:path>
            </a:pathLst>
          </a:custGeom>
          <a:blipFill>
            <a:blip r:embed="rId4"/>
            <a:stretch>
              <a:fillRect l="0" t="0" r="0" b="0"/>
            </a:stretch>
          </a:blipFill>
        </p:spPr>
      </p:sp>
    </p:spTree>
  </p:cSld>
  <p:clrMapOvr>
    <a:masterClrMapping/>
  </p:clrMapOvr>
</p:sld>
</file>

<file path=ppt/slides/slide19.xml><?xml version="1.0" encoding="utf-8"?>
<p:sld xmlns:p="http://schemas.openxmlformats.org/presentationml/2006/main" xmlns:a="http://schemas.openxmlformats.org/drawingml/2006/main" xmlns:r="http://schemas.openxmlformats.org/officeDocument/2006/relationships">
  <p:cSld>
    <p:bg>
      <p:bgPr>
        <a:solidFill>
          <a:srgbClr val="F2F7FA"/>
        </a:solidFill>
      </p:bgPr>
    </p:bg>
    <p:spTree>
      <p:nvGrpSpPr>
        <p:cNvPr id="1" name=""/>
        <p:cNvGrpSpPr/>
        <p:nvPr/>
      </p:nvGrpSpPr>
      <p:grpSpPr>
        <a:xfrm>
          <a:off x="0" y="0"/>
          <a:ext cx="0" cy="0"/>
          <a:chOff x="0" y="0"/>
          <a:chExt cx="0" cy="0"/>
        </a:xfrm>
      </p:grpSpPr>
      <p:sp>
        <p:nvSpPr>
          <p:cNvPr name="Freeform 2" id="2"/>
          <p:cNvSpPr/>
          <p:nvPr/>
        </p:nvSpPr>
        <p:spPr>
          <a:xfrm flipH="false" flipV="false" rot="225008">
            <a:off x="-467361" y="-2757747"/>
            <a:ext cx="12701350" cy="5382197"/>
          </a:xfrm>
          <a:custGeom>
            <a:avLst/>
            <a:gdLst/>
            <a:ahLst/>
            <a:cxnLst/>
            <a:rect r="r" b="b" t="t" l="l"/>
            <a:pathLst>
              <a:path h="5382197" w="12701350">
                <a:moveTo>
                  <a:pt x="0" y="0"/>
                </a:moveTo>
                <a:lnTo>
                  <a:pt x="12701349" y="0"/>
                </a:lnTo>
                <a:lnTo>
                  <a:pt x="12701349" y="5382197"/>
                </a:lnTo>
                <a:lnTo>
                  <a:pt x="0" y="5382197"/>
                </a:lnTo>
                <a:lnTo>
                  <a:pt x="0" y="0"/>
                </a:lnTo>
                <a:close/>
              </a:path>
            </a:pathLst>
          </a:custGeom>
          <a:blipFill>
            <a:blip r:embed="rId3"/>
            <a:stretch>
              <a:fillRect l="0" t="0" r="0" b="0"/>
            </a:stretch>
          </a:blipFill>
        </p:spPr>
      </p:sp>
      <p:sp>
        <p:nvSpPr>
          <p:cNvPr name="Freeform 3" id="3"/>
          <p:cNvSpPr/>
          <p:nvPr/>
        </p:nvSpPr>
        <p:spPr>
          <a:xfrm flipH="false" flipV="false" rot="0">
            <a:off x="12220973" y="7306236"/>
            <a:ext cx="11514218" cy="8506128"/>
          </a:xfrm>
          <a:custGeom>
            <a:avLst/>
            <a:gdLst/>
            <a:ahLst/>
            <a:cxnLst/>
            <a:rect r="r" b="b" t="t" l="l"/>
            <a:pathLst>
              <a:path h="8506128" w="11514218">
                <a:moveTo>
                  <a:pt x="0" y="0"/>
                </a:moveTo>
                <a:lnTo>
                  <a:pt x="11514218" y="0"/>
                </a:lnTo>
                <a:lnTo>
                  <a:pt x="11514218" y="8506129"/>
                </a:lnTo>
                <a:lnTo>
                  <a:pt x="0" y="8506129"/>
                </a:lnTo>
                <a:lnTo>
                  <a:pt x="0" y="0"/>
                </a:lnTo>
                <a:close/>
              </a:path>
            </a:pathLst>
          </a:custGeom>
          <a:blipFill>
            <a:blip r:embed="rId4"/>
            <a:stretch>
              <a:fillRect l="0" t="0" r="0" b="0"/>
            </a:stretch>
          </a:blipFill>
        </p:spPr>
      </p:sp>
      <p:grpSp>
        <p:nvGrpSpPr>
          <p:cNvPr name="Group 4" id="4"/>
          <p:cNvGrpSpPr/>
          <p:nvPr/>
        </p:nvGrpSpPr>
        <p:grpSpPr>
          <a:xfrm rot="0">
            <a:off x="17569218" y="-392510"/>
            <a:ext cx="1437565" cy="11072020"/>
            <a:chOff x="0" y="0"/>
            <a:chExt cx="378618" cy="2916088"/>
          </a:xfrm>
        </p:grpSpPr>
        <p:sp>
          <p:nvSpPr>
            <p:cNvPr name="Freeform 5" id="5"/>
            <p:cNvSpPr/>
            <p:nvPr/>
          </p:nvSpPr>
          <p:spPr>
            <a:xfrm flipH="false" flipV="false" rot="0">
              <a:off x="0" y="0"/>
              <a:ext cx="378618" cy="2916088"/>
            </a:xfrm>
            <a:custGeom>
              <a:avLst/>
              <a:gdLst/>
              <a:ahLst/>
              <a:cxnLst/>
              <a:rect r="r" b="b" t="t" l="l"/>
              <a:pathLst>
                <a:path h="2916088" w="378618">
                  <a:moveTo>
                    <a:pt x="0" y="0"/>
                  </a:moveTo>
                  <a:lnTo>
                    <a:pt x="378618" y="0"/>
                  </a:lnTo>
                  <a:lnTo>
                    <a:pt x="378618" y="2916088"/>
                  </a:lnTo>
                  <a:lnTo>
                    <a:pt x="0" y="2916088"/>
                  </a:lnTo>
                  <a:close/>
                </a:path>
              </a:pathLst>
            </a:custGeom>
            <a:gradFill rotWithShape="true">
              <a:gsLst>
                <a:gs pos="0">
                  <a:srgbClr val="E4B795">
                    <a:alpha val="100000"/>
                  </a:srgbClr>
                </a:gs>
                <a:gs pos="50000">
                  <a:srgbClr val="699ACD">
                    <a:alpha val="100000"/>
                  </a:srgbClr>
                </a:gs>
                <a:gs pos="100000">
                  <a:srgbClr val="2F679F">
                    <a:alpha val="100000"/>
                  </a:srgbClr>
                </a:gs>
              </a:gsLst>
              <a:path path="circle">
                <a:fillToRect l="0" r="100000" t="0" b="100000"/>
              </a:path>
              <a:tileRect r="0" l="-100000" b="0" t="-100000"/>
            </a:gradFill>
          </p:spPr>
        </p:sp>
        <p:sp>
          <p:nvSpPr>
            <p:cNvPr name="TextBox 6" id="6"/>
            <p:cNvSpPr txBox="true"/>
            <p:nvPr/>
          </p:nvSpPr>
          <p:spPr>
            <a:xfrm>
              <a:off x="0" y="-57150"/>
              <a:ext cx="378618" cy="2973238"/>
            </a:xfrm>
            <a:prstGeom prst="rect">
              <a:avLst/>
            </a:prstGeom>
          </p:spPr>
          <p:txBody>
            <a:bodyPr anchor="ctr" rtlCol="false" tIns="50800" lIns="50800" bIns="50800" rIns="50800"/>
            <a:lstStyle/>
            <a:p>
              <a:pPr algn="ctr">
                <a:lnSpc>
                  <a:spcPts val="3639"/>
                </a:lnSpc>
              </a:pPr>
            </a:p>
          </p:txBody>
        </p:sp>
      </p:grpSp>
      <p:sp>
        <p:nvSpPr>
          <p:cNvPr name="TextBox 7" id="7"/>
          <p:cNvSpPr txBox="true"/>
          <p:nvPr/>
        </p:nvSpPr>
        <p:spPr>
          <a:xfrm rot="0">
            <a:off x="8021110" y="782737"/>
            <a:ext cx="2492949" cy="351790"/>
          </a:xfrm>
          <a:prstGeom prst="rect">
            <a:avLst/>
          </a:prstGeom>
        </p:spPr>
        <p:txBody>
          <a:bodyPr anchor="t" rtlCol="false" tIns="0" lIns="0" bIns="0" rIns="0">
            <a:spAutoFit/>
          </a:bodyPr>
          <a:lstStyle/>
          <a:p>
            <a:pPr algn="l">
              <a:lnSpc>
                <a:spcPts val="2660"/>
              </a:lnSpc>
              <a:spcBef>
                <a:spcPct val="0"/>
              </a:spcBef>
            </a:pPr>
            <a:r>
              <a:rPr lang="en-US" sz="1900" spc="95">
                <a:solidFill>
                  <a:srgbClr val="164B82"/>
                </a:solidFill>
                <a:latin typeface="Telegraf Extra-Light"/>
                <a:ea typeface="Telegraf Extra-Light"/>
                <a:cs typeface="Telegraf Extra-Light"/>
                <a:sym typeface="Telegraf Extra-Light"/>
              </a:rPr>
              <a:t>Studio Shodwe</a:t>
            </a:r>
          </a:p>
        </p:txBody>
      </p:sp>
      <p:sp>
        <p:nvSpPr>
          <p:cNvPr name="TextBox 8" id="8"/>
          <p:cNvSpPr txBox="true"/>
          <p:nvPr/>
        </p:nvSpPr>
        <p:spPr>
          <a:xfrm rot="0">
            <a:off x="13305333" y="782737"/>
            <a:ext cx="1819999" cy="351790"/>
          </a:xfrm>
          <a:prstGeom prst="rect">
            <a:avLst/>
          </a:prstGeom>
        </p:spPr>
        <p:txBody>
          <a:bodyPr anchor="t" rtlCol="false" tIns="0" lIns="0" bIns="0" rIns="0">
            <a:spAutoFit/>
          </a:bodyPr>
          <a:lstStyle/>
          <a:p>
            <a:pPr algn="r">
              <a:lnSpc>
                <a:spcPts val="2660"/>
              </a:lnSpc>
              <a:spcBef>
                <a:spcPct val="0"/>
              </a:spcBef>
            </a:pPr>
            <a:r>
              <a:rPr lang="en-US" sz="1900" spc="95">
                <a:solidFill>
                  <a:srgbClr val="164B82"/>
                </a:solidFill>
                <a:latin typeface="Telegraf Extra-Light"/>
                <a:ea typeface="Telegraf Extra-Light"/>
                <a:cs typeface="Telegraf Extra-Light"/>
                <a:sym typeface="Telegraf Extra-Light"/>
              </a:rPr>
              <a:t>2024</a:t>
            </a:r>
          </a:p>
        </p:txBody>
      </p:sp>
      <p:sp>
        <p:nvSpPr>
          <p:cNvPr name="TextBox 9" id="9"/>
          <p:cNvSpPr txBox="true"/>
          <p:nvPr/>
        </p:nvSpPr>
        <p:spPr>
          <a:xfrm rot="0">
            <a:off x="11045641" y="782737"/>
            <a:ext cx="1819999" cy="351790"/>
          </a:xfrm>
          <a:prstGeom prst="rect">
            <a:avLst/>
          </a:prstGeom>
        </p:spPr>
        <p:txBody>
          <a:bodyPr anchor="t" rtlCol="false" tIns="0" lIns="0" bIns="0" rIns="0">
            <a:spAutoFit/>
          </a:bodyPr>
          <a:lstStyle/>
          <a:p>
            <a:pPr algn="ctr">
              <a:lnSpc>
                <a:spcPts val="2660"/>
              </a:lnSpc>
              <a:spcBef>
                <a:spcPct val="0"/>
              </a:spcBef>
            </a:pPr>
            <a:r>
              <a:rPr lang="en-US" sz="1900" spc="95">
                <a:solidFill>
                  <a:srgbClr val="164B82"/>
                </a:solidFill>
                <a:latin typeface="Telegraf Extra-Light"/>
                <a:ea typeface="Telegraf Extra-Light"/>
                <a:cs typeface="Telegraf Extra-Light"/>
                <a:sym typeface="Telegraf Extra-Light"/>
              </a:rPr>
              <a:t>Project.</a:t>
            </a:r>
          </a:p>
        </p:txBody>
      </p:sp>
      <p:grpSp>
        <p:nvGrpSpPr>
          <p:cNvPr name="Group 10" id="10"/>
          <p:cNvGrpSpPr/>
          <p:nvPr/>
        </p:nvGrpSpPr>
        <p:grpSpPr>
          <a:xfrm rot="5400000">
            <a:off x="11279340" y="-3711595"/>
            <a:ext cx="643045" cy="9407130"/>
            <a:chOff x="0" y="0"/>
            <a:chExt cx="169362" cy="2477598"/>
          </a:xfrm>
        </p:grpSpPr>
        <p:sp>
          <p:nvSpPr>
            <p:cNvPr name="Freeform 11" id="11"/>
            <p:cNvSpPr/>
            <p:nvPr/>
          </p:nvSpPr>
          <p:spPr>
            <a:xfrm flipH="false" flipV="false" rot="0">
              <a:off x="0" y="0"/>
              <a:ext cx="169362" cy="2477598"/>
            </a:xfrm>
            <a:custGeom>
              <a:avLst/>
              <a:gdLst/>
              <a:ahLst/>
              <a:cxnLst/>
              <a:rect r="r" b="b" t="t" l="l"/>
              <a:pathLst>
                <a:path h="2477598" w="169362">
                  <a:moveTo>
                    <a:pt x="84681" y="0"/>
                  </a:moveTo>
                  <a:lnTo>
                    <a:pt x="84681" y="0"/>
                  </a:lnTo>
                  <a:cubicBezTo>
                    <a:pt x="107140" y="0"/>
                    <a:pt x="128678" y="8922"/>
                    <a:pt x="144559" y="24802"/>
                  </a:cubicBezTo>
                  <a:cubicBezTo>
                    <a:pt x="160440" y="40683"/>
                    <a:pt x="169362" y="62222"/>
                    <a:pt x="169362" y="84681"/>
                  </a:cubicBezTo>
                  <a:lnTo>
                    <a:pt x="169362" y="2392917"/>
                  </a:lnTo>
                  <a:cubicBezTo>
                    <a:pt x="169362" y="2439685"/>
                    <a:pt x="131449" y="2477598"/>
                    <a:pt x="84681" y="2477598"/>
                  </a:cubicBezTo>
                  <a:lnTo>
                    <a:pt x="84681" y="2477598"/>
                  </a:lnTo>
                  <a:cubicBezTo>
                    <a:pt x="37913" y="2477598"/>
                    <a:pt x="0" y="2439685"/>
                    <a:pt x="0" y="2392917"/>
                  </a:cubicBezTo>
                  <a:lnTo>
                    <a:pt x="0" y="84681"/>
                  </a:lnTo>
                  <a:cubicBezTo>
                    <a:pt x="0" y="37913"/>
                    <a:pt x="37913" y="0"/>
                    <a:pt x="84681" y="0"/>
                  </a:cubicBezTo>
                  <a:close/>
                </a:path>
              </a:pathLst>
            </a:custGeom>
            <a:ln w="19050" cap="rnd">
              <a:solidFill>
                <a:srgbClr val="164B82"/>
              </a:solidFill>
              <a:prstDash val="solid"/>
              <a:round/>
            </a:ln>
          </p:spPr>
        </p:sp>
        <p:sp>
          <p:nvSpPr>
            <p:cNvPr name="TextBox 12" id="12"/>
            <p:cNvSpPr txBox="true"/>
            <p:nvPr/>
          </p:nvSpPr>
          <p:spPr>
            <a:xfrm>
              <a:off x="0" y="-57150"/>
              <a:ext cx="169362" cy="2534748"/>
            </a:xfrm>
            <a:prstGeom prst="rect">
              <a:avLst/>
            </a:prstGeom>
          </p:spPr>
          <p:txBody>
            <a:bodyPr anchor="ctr" rtlCol="false" tIns="50800" lIns="50800" bIns="50800" rIns="50800"/>
            <a:lstStyle/>
            <a:p>
              <a:pPr algn="ctr">
                <a:lnSpc>
                  <a:spcPts val="3639"/>
                </a:lnSpc>
              </a:pPr>
            </a:p>
          </p:txBody>
        </p:sp>
      </p:grpSp>
      <p:sp>
        <p:nvSpPr>
          <p:cNvPr name="Freeform 13" id="13"/>
          <p:cNvSpPr/>
          <p:nvPr/>
        </p:nvSpPr>
        <p:spPr>
          <a:xfrm flipH="false" flipV="false" rot="0">
            <a:off x="550245" y="3725793"/>
            <a:ext cx="7366729" cy="1942975"/>
          </a:xfrm>
          <a:custGeom>
            <a:avLst/>
            <a:gdLst/>
            <a:ahLst/>
            <a:cxnLst/>
            <a:rect r="r" b="b" t="t" l="l"/>
            <a:pathLst>
              <a:path h="1942975" w="7366729">
                <a:moveTo>
                  <a:pt x="0" y="0"/>
                </a:moveTo>
                <a:lnTo>
                  <a:pt x="7366729" y="0"/>
                </a:lnTo>
                <a:lnTo>
                  <a:pt x="7366729" y="1942974"/>
                </a:lnTo>
                <a:lnTo>
                  <a:pt x="0" y="1942974"/>
                </a:lnTo>
                <a:lnTo>
                  <a:pt x="0" y="0"/>
                </a:lnTo>
                <a:close/>
              </a:path>
            </a:pathLst>
          </a:custGeom>
          <a:blipFill>
            <a:blip r:embed="rId5"/>
            <a:stretch>
              <a:fillRect l="0" t="0" r="0" b="0"/>
            </a:stretch>
          </a:blipFill>
        </p:spPr>
      </p:sp>
      <p:sp>
        <p:nvSpPr>
          <p:cNvPr name="Freeform 14" id="14"/>
          <p:cNvSpPr/>
          <p:nvPr/>
        </p:nvSpPr>
        <p:spPr>
          <a:xfrm flipH="false" flipV="false" rot="0">
            <a:off x="9453918" y="3779975"/>
            <a:ext cx="8115300" cy="1834609"/>
          </a:xfrm>
          <a:custGeom>
            <a:avLst/>
            <a:gdLst/>
            <a:ahLst/>
            <a:cxnLst/>
            <a:rect r="r" b="b" t="t" l="l"/>
            <a:pathLst>
              <a:path h="1834609" w="8115300">
                <a:moveTo>
                  <a:pt x="0" y="0"/>
                </a:moveTo>
                <a:lnTo>
                  <a:pt x="8115300" y="0"/>
                </a:lnTo>
                <a:lnTo>
                  <a:pt x="8115300" y="1834610"/>
                </a:lnTo>
                <a:lnTo>
                  <a:pt x="0" y="1834610"/>
                </a:lnTo>
                <a:lnTo>
                  <a:pt x="0" y="0"/>
                </a:lnTo>
                <a:close/>
              </a:path>
            </a:pathLst>
          </a:custGeom>
          <a:blipFill>
            <a:blip r:embed="rId6"/>
            <a:stretch>
              <a:fillRect l="-14903" t="-1778" r="0" b="-3687"/>
            </a:stretch>
          </a:blipFill>
        </p:spPr>
      </p:sp>
      <p:sp>
        <p:nvSpPr>
          <p:cNvPr name="Freeform 15" id="15"/>
          <p:cNvSpPr/>
          <p:nvPr/>
        </p:nvSpPr>
        <p:spPr>
          <a:xfrm flipH="false" flipV="false" rot="0">
            <a:off x="468840" y="6108464"/>
            <a:ext cx="7552270" cy="4012143"/>
          </a:xfrm>
          <a:custGeom>
            <a:avLst/>
            <a:gdLst/>
            <a:ahLst/>
            <a:cxnLst/>
            <a:rect r="r" b="b" t="t" l="l"/>
            <a:pathLst>
              <a:path h="4012143" w="7552270">
                <a:moveTo>
                  <a:pt x="0" y="0"/>
                </a:moveTo>
                <a:lnTo>
                  <a:pt x="7552270" y="0"/>
                </a:lnTo>
                <a:lnTo>
                  <a:pt x="7552270" y="4012144"/>
                </a:lnTo>
                <a:lnTo>
                  <a:pt x="0" y="4012144"/>
                </a:lnTo>
                <a:lnTo>
                  <a:pt x="0" y="0"/>
                </a:lnTo>
                <a:close/>
              </a:path>
            </a:pathLst>
          </a:custGeom>
          <a:blipFill>
            <a:blip r:embed="rId7"/>
            <a:stretch>
              <a:fillRect l="0" t="0" r="0" b="0"/>
            </a:stretch>
          </a:blipFill>
        </p:spPr>
      </p:sp>
      <p:sp>
        <p:nvSpPr>
          <p:cNvPr name="Freeform 16" id="16"/>
          <p:cNvSpPr/>
          <p:nvPr/>
        </p:nvSpPr>
        <p:spPr>
          <a:xfrm flipH="false" flipV="false" rot="0">
            <a:off x="9636063" y="6135927"/>
            <a:ext cx="8029583" cy="3984681"/>
          </a:xfrm>
          <a:custGeom>
            <a:avLst/>
            <a:gdLst/>
            <a:ahLst/>
            <a:cxnLst/>
            <a:rect r="r" b="b" t="t" l="l"/>
            <a:pathLst>
              <a:path h="3984681" w="8029583">
                <a:moveTo>
                  <a:pt x="0" y="0"/>
                </a:moveTo>
                <a:lnTo>
                  <a:pt x="8029583" y="0"/>
                </a:lnTo>
                <a:lnTo>
                  <a:pt x="8029583" y="3984681"/>
                </a:lnTo>
                <a:lnTo>
                  <a:pt x="0" y="3984681"/>
                </a:lnTo>
                <a:lnTo>
                  <a:pt x="0" y="0"/>
                </a:lnTo>
                <a:close/>
              </a:path>
            </a:pathLst>
          </a:custGeom>
          <a:blipFill>
            <a:blip r:embed="rId8"/>
            <a:stretch>
              <a:fillRect l="0" t="0" r="0" b="0"/>
            </a:stretch>
          </a:blipFill>
        </p:spPr>
      </p:sp>
      <p:sp>
        <p:nvSpPr>
          <p:cNvPr name="Freeform 17" id="17"/>
          <p:cNvSpPr/>
          <p:nvPr/>
        </p:nvSpPr>
        <p:spPr>
          <a:xfrm flipH="false" flipV="false" rot="0">
            <a:off x="8021110" y="5668767"/>
            <a:ext cx="1322799" cy="952415"/>
          </a:xfrm>
          <a:custGeom>
            <a:avLst/>
            <a:gdLst/>
            <a:ahLst/>
            <a:cxnLst/>
            <a:rect r="r" b="b" t="t" l="l"/>
            <a:pathLst>
              <a:path h="952415" w="1322799">
                <a:moveTo>
                  <a:pt x="0" y="0"/>
                </a:moveTo>
                <a:lnTo>
                  <a:pt x="1322799" y="0"/>
                </a:lnTo>
                <a:lnTo>
                  <a:pt x="1322799" y="952416"/>
                </a:lnTo>
                <a:lnTo>
                  <a:pt x="0" y="952416"/>
                </a:lnTo>
                <a:lnTo>
                  <a:pt x="0" y="0"/>
                </a:lnTo>
                <a:close/>
              </a:path>
            </a:pathLst>
          </a:custGeom>
          <a:blipFill>
            <a:blip r:embed="rId9">
              <a:extLst>
                <a:ext uri="{96DAC541-7B7A-43D3-8B79-37D633B846F1}">
                  <asvg:svgBlip xmlns:asvg="http://schemas.microsoft.com/office/drawing/2016/SVG/main" r:embed="rId10"/>
                </a:ext>
              </a:extLst>
            </a:blip>
            <a:stretch>
              <a:fillRect l="0" t="0" r="0" b="0"/>
            </a:stretch>
          </a:blipFill>
        </p:spPr>
      </p:sp>
      <p:sp>
        <p:nvSpPr>
          <p:cNvPr name="TextBox 18" id="18"/>
          <p:cNvSpPr txBox="true"/>
          <p:nvPr/>
        </p:nvSpPr>
        <p:spPr>
          <a:xfrm rot="0">
            <a:off x="584075" y="1989433"/>
            <a:ext cx="17703925" cy="710373"/>
          </a:xfrm>
          <a:prstGeom prst="rect">
            <a:avLst/>
          </a:prstGeom>
        </p:spPr>
        <p:txBody>
          <a:bodyPr anchor="t" rtlCol="false" tIns="0" lIns="0" bIns="0" rIns="0">
            <a:spAutoFit/>
          </a:bodyPr>
          <a:lstStyle/>
          <a:p>
            <a:pPr algn="l">
              <a:lnSpc>
                <a:spcPts val="4927"/>
              </a:lnSpc>
            </a:pPr>
            <a:r>
              <a:rPr lang="en-US" sz="5080" b="true">
                <a:solidFill>
                  <a:srgbClr val="343434"/>
                </a:solidFill>
                <a:latin typeface="Telegraf Bold"/>
                <a:ea typeface="Telegraf Bold"/>
                <a:cs typeface="Telegraf Bold"/>
                <a:sym typeface="Telegraf Bold"/>
              </a:rPr>
              <a:t>CHUYỂN ĐỔI GIÁ THÀNH LỢI NHUẬN</a:t>
            </a:r>
          </a:p>
        </p:txBody>
      </p:sp>
      <p:sp>
        <p:nvSpPr>
          <p:cNvPr name="TextBox 19" id="19"/>
          <p:cNvSpPr txBox="true"/>
          <p:nvPr/>
        </p:nvSpPr>
        <p:spPr>
          <a:xfrm rot="0">
            <a:off x="688211" y="2698460"/>
            <a:ext cx="7232831" cy="575946"/>
          </a:xfrm>
          <a:prstGeom prst="rect">
            <a:avLst/>
          </a:prstGeom>
        </p:spPr>
        <p:txBody>
          <a:bodyPr anchor="t" rtlCol="false" tIns="0" lIns="0" bIns="0" rIns="0">
            <a:spAutoFit/>
          </a:bodyPr>
          <a:lstStyle/>
          <a:p>
            <a:pPr algn="l" marL="0" indent="0" lvl="1">
              <a:lnSpc>
                <a:spcPts val="4479"/>
              </a:lnSpc>
              <a:spcBef>
                <a:spcPct val="0"/>
              </a:spcBef>
            </a:pPr>
            <a:r>
              <a:rPr lang="en-US" b="true" sz="3199" spc="159">
                <a:solidFill>
                  <a:srgbClr val="343434"/>
                </a:solidFill>
                <a:latin typeface="Telegraf Bold"/>
                <a:ea typeface="Telegraf Bold"/>
                <a:cs typeface="Telegraf Bold"/>
                <a:sym typeface="Telegraf Bold"/>
              </a:rPr>
              <a:t>Trực quan hóa dữ liệu lợi nhuận: </a:t>
            </a:r>
          </a:p>
        </p:txBody>
      </p:sp>
    </p:spTree>
  </p:cSld>
  <p:clrMapOvr>
    <a:masterClrMapping/>
  </p:clrMapOvr>
</p:sld>
</file>

<file path=ppt/slides/slide20.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225008">
            <a:off x="-467361" y="-2757747"/>
            <a:ext cx="12701350" cy="5382197"/>
          </a:xfrm>
          <a:custGeom>
            <a:avLst/>
            <a:gdLst/>
            <a:ahLst/>
            <a:cxnLst/>
            <a:rect r="r" b="b" t="t" l="l"/>
            <a:pathLst>
              <a:path h="5382197" w="12701350">
                <a:moveTo>
                  <a:pt x="0" y="0"/>
                </a:moveTo>
                <a:lnTo>
                  <a:pt x="12701349" y="0"/>
                </a:lnTo>
                <a:lnTo>
                  <a:pt x="12701349" y="5382197"/>
                </a:lnTo>
                <a:lnTo>
                  <a:pt x="0" y="5382197"/>
                </a:lnTo>
                <a:lnTo>
                  <a:pt x="0" y="0"/>
                </a:lnTo>
                <a:close/>
              </a:path>
            </a:pathLst>
          </a:custGeom>
          <a:blipFill>
            <a:blip r:embed="rId2"/>
            <a:stretch>
              <a:fillRect l="0" t="0" r="0" b="0"/>
            </a:stretch>
          </a:blipFill>
        </p:spPr>
      </p:sp>
      <p:sp>
        <p:nvSpPr>
          <p:cNvPr name="Freeform 3" id="3"/>
          <p:cNvSpPr/>
          <p:nvPr/>
        </p:nvSpPr>
        <p:spPr>
          <a:xfrm flipH="false" flipV="false" rot="0">
            <a:off x="12032403" y="7522411"/>
            <a:ext cx="11514218" cy="8506128"/>
          </a:xfrm>
          <a:custGeom>
            <a:avLst/>
            <a:gdLst/>
            <a:ahLst/>
            <a:cxnLst/>
            <a:rect r="r" b="b" t="t" l="l"/>
            <a:pathLst>
              <a:path h="8506128" w="11514218">
                <a:moveTo>
                  <a:pt x="0" y="0"/>
                </a:moveTo>
                <a:lnTo>
                  <a:pt x="11514218" y="0"/>
                </a:lnTo>
                <a:lnTo>
                  <a:pt x="11514218" y="8506129"/>
                </a:lnTo>
                <a:lnTo>
                  <a:pt x="0" y="8506129"/>
                </a:lnTo>
                <a:lnTo>
                  <a:pt x="0" y="0"/>
                </a:lnTo>
                <a:close/>
              </a:path>
            </a:pathLst>
          </a:custGeom>
          <a:blipFill>
            <a:blip r:embed="rId3"/>
            <a:stretch>
              <a:fillRect l="0" t="0" r="0" b="0"/>
            </a:stretch>
          </a:blipFill>
        </p:spPr>
      </p:sp>
      <p:grpSp>
        <p:nvGrpSpPr>
          <p:cNvPr name="Group 4" id="4"/>
          <p:cNvGrpSpPr/>
          <p:nvPr/>
        </p:nvGrpSpPr>
        <p:grpSpPr>
          <a:xfrm rot="0">
            <a:off x="17259300" y="-392510"/>
            <a:ext cx="1437565" cy="11072020"/>
            <a:chOff x="0" y="0"/>
            <a:chExt cx="378618" cy="2916088"/>
          </a:xfrm>
        </p:grpSpPr>
        <p:sp>
          <p:nvSpPr>
            <p:cNvPr name="Freeform 5" id="5"/>
            <p:cNvSpPr/>
            <p:nvPr/>
          </p:nvSpPr>
          <p:spPr>
            <a:xfrm flipH="false" flipV="false" rot="0">
              <a:off x="0" y="0"/>
              <a:ext cx="378618" cy="2916088"/>
            </a:xfrm>
            <a:custGeom>
              <a:avLst/>
              <a:gdLst/>
              <a:ahLst/>
              <a:cxnLst/>
              <a:rect r="r" b="b" t="t" l="l"/>
              <a:pathLst>
                <a:path h="2916088" w="378618">
                  <a:moveTo>
                    <a:pt x="0" y="0"/>
                  </a:moveTo>
                  <a:lnTo>
                    <a:pt x="378618" y="0"/>
                  </a:lnTo>
                  <a:lnTo>
                    <a:pt x="378618" y="2916088"/>
                  </a:lnTo>
                  <a:lnTo>
                    <a:pt x="0" y="2916088"/>
                  </a:lnTo>
                  <a:close/>
                </a:path>
              </a:pathLst>
            </a:custGeom>
            <a:gradFill rotWithShape="true">
              <a:gsLst>
                <a:gs pos="0">
                  <a:srgbClr val="E4B795">
                    <a:alpha val="100000"/>
                  </a:srgbClr>
                </a:gs>
                <a:gs pos="50000">
                  <a:srgbClr val="699ACD">
                    <a:alpha val="100000"/>
                  </a:srgbClr>
                </a:gs>
                <a:gs pos="100000">
                  <a:srgbClr val="2F679F">
                    <a:alpha val="100000"/>
                  </a:srgbClr>
                </a:gs>
              </a:gsLst>
              <a:path path="circle">
                <a:fillToRect l="0" r="100000" t="0" b="100000"/>
              </a:path>
              <a:tileRect r="0" l="-100000" b="0" t="-100000"/>
            </a:gradFill>
          </p:spPr>
        </p:sp>
        <p:sp>
          <p:nvSpPr>
            <p:cNvPr name="TextBox 6" id="6"/>
            <p:cNvSpPr txBox="true"/>
            <p:nvPr/>
          </p:nvSpPr>
          <p:spPr>
            <a:xfrm>
              <a:off x="0" y="-57150"/>
              <a:ext cx="378618" cy="2973238"/>
            </a:xfrm>
            <a:prstGeom prst="rect">
              <a:avLst/>
            </a:prstGeom>
          </p:spPr>
          <p:txBody>
            <a:bodyPr anchor="ctr" rtlCol="false" tIns="50800" lIns="50800" bIns="50800" rIns="50800"/>
            <a:lstStyle/>
            <a:p>
              <a:pPr algn="ctr">
                <a:lnSpc>
                  <a:spcPts val="3639"/>
                </a:lnSpc>
              </a:pPr>
            </a:p>
          </p:txBody>
        </p:sp>
      </p:grpSp>
      <p:sp>
        <p:nvSpPr>
          <p:cNvPr name="TextBox 7" id="7"/>
          <p:cNvSpPr txBox="true"/>
          <p:nvPr/>
        </p:nvSpPr>
        <p:spPr>
          <a:xfrm rot="0">
            <a:off x="8021110" y="782737"/>
            <a:ext cx="2492949" cy="351790"/>
          </a:xfrm>
          <a:prstGeom prst="rect">
            <a:avLst/>
          </a:prstGeom>
        </p:spPr>
        <p:txBody>
          <a:bodyPr anchor="t" rtlCol="false" tIns="0" lIns="0" bIns="0" rIns="0">
            <a:spAutoFit/>
          </a:bodyPr>
          <a:lstStyle/>
          <a:p>
            <a:pPr algn="l">
              <a:lnSpc>
                <a:spcPts val="2660"/>
              </a:lnSpc>
              <a:spcBef>
                <a:spcPct val="0"/>
              </a:spcBef>
            </a:pPr>
            <a:r>
              <a:rPr lang="en-US" sz="1900" spc="95">
                <a:solidFill>
                  <a:srgbClr val="164B82"/>
                </a:solidFill>
                <a:latin typeface="Telegraf Extra-Light"/>
                <a:ea typeface="Telegraf Extra-Light"/>
                <a:cs typeface="Telegraf Extra-Light"/>
                <a:sym typeface="Telegraf Extra-Light"/>
              </a:rPr>
              <a:t>Studio Shodwe</a:t>
            </a:r>
          </a:p>
        </p:txBody>
      </p:sp>
      <p:sp>
        <p:nvSpPr>
          <p:cNvPr name="TextBox 8" id="8"/>
          <p:cNvSpPr txBox="true"/>
          <p:nvPr/>
        </p:nvSpPr>
        <p:spPr>
          <a:xfrm rot="0">
            <a:off x="13305333" y="782737"/>
            <a:ext cx="1819999" cy="351790"/>
          </a:xfrm>
          <a:prstGeom prst="rect">
            <a:avLst/>
          </a:prstGeom>
        </p:spPr>
        <p:txBody>
          <a:bodyPr anchor="t" rtlCol="false" tIns="0" lIns="0" bIns="0" rIns="0">
            <a:spAutoFit/>
          </a:bodyPr>
          <a:lstStyle/>
          <a:p>
            <a:pPr algn="r">
              <a:lnSpc>
                <a:spcPts val="2660"/>
              </a:lnSpc>
              <a:spcBef>
                <a:spcPct val="0"/>
              </a:spcBef>
            </a:pPr>
            <a:r>
              <a:rPr lang="en-US" sz="1900" spc="95">
                <a:solidFill>
                  <a:srgbClr val="164B82"/>
                </a:solidFill>
                <a:latin typeface="Telegraf Extra-Light"/>
                <a:ea typeface="Telegraf Extra-Light"/>
                <a:cs typeface="Telegraf Extra-Light"/>
                <a:sym typeface="Telegraf Extra-Light"/>
              </a:rPr>
              <a:t>2024</a:t>
            </a:r>
          </a:p>
        </p:txBody>
      </p:sp>
      <p:sp>
        <p:nvSpPr>
          <p:cNvPr name="TextBox 9" id="9"/>
          <p:cNvSpPr txBox="true"/>
          <p:nvPr/>
        </p:nvSpPr>
        <p:spPr>
          <a:xfrm rot="0">
            <a:off x="11045641" y="782737"/>
            <a:ext cx="1819999" cy="351790"/>
          </a:xfrm>
          <a:prstGeom prst="rect">
            <a:avLst/>
          </a:prstGeom>
        </p:spPr>
        <p:txBody>
          <a:bodyPr anchor="t" rtlCol="false" tIns="0" lIns="0" bIns="0" rIns="0">
            <a:spAutoFit/>
          </a:bodyPr>
          <a:lstStyle/>
          <a:p>
            <a:pPr algn="ctr">
              <a:lnSpc>
                <a:spcPts val="2660"/>
              </a:lnSpc>
              <a:spcBef>
                <a:spcPct val="0"/>
              </a:spcBef>
            </a:pPr>
            <a:r>
              <a:rPr lang="en-US" sz="1900" spc="95">
                <a:solidFill>
                  <a:srgbClr val="164B82"/>
                </a:solidFill>
                <a:latin typeface="Telegraf Extra-Light"/>
                <a:ea typeface="Telegraf Extra-Light"/>
                <a:cs typeface="Telegraf Extra-Light"/>
                <a:sym typeface="Telegraf Extra-Light"/>
              </a:rPr>
              <a:t>Project.</a:t>
            </a:r>
          </a:p>
        </p:txBody>
      </p:sp>
      <p:grpSp>
        <p:nvGrpSpPr>
          <p:cNvPr name="Group 10" id="10"/>
          <p:cNvGrpSpPr/>
          <p:nvPr/>
        </p:nvGrpSpPr>
        <p:grpSpPr>
          <a:xfrm rot="5400000">
            <a:off x="11279340" y="-3711595"/>
            <a:ext cx="643045" cy="9407130"/>
            <a:chOff x="0" y="0"/>
            <a:chExt cx="169362" cy="2477598"/>
          </a:xfrm>
        </p:grpSpPr>
        <p:sp>
          <p:nvSpPr>
            <p:cNvPr name="Freeform 11" id="11"/>
            <p:cNvSpPr/>
            <p:nvPr/>
          </p:nvSpPr>
          <p:spPr>
            <a:xfrm flipH="false" flipV="false" rot="0">
              <a:off x="0" y="0"/>
              <a:ext cx="169362" cy="2477598"/>
            </a:xfrm>
            <a:custGeom>
              <a:avLst/>
              <a:gdLst/>
              <a:ahLst/>
              <a:cxnLst/>
              <a:rect r="r" b="b" t="t" l="l"/>
              <a:pathLst>
                <a:path h="2477598" w="169362">
                  <a:moveTo>
                    <a:pt x="84681" y="0"/>
                  </a:moveTo>
                  <a:lnTo>
                    <a:pt x="84681" y="0"/>
                  </a:lnTo>
                  <a:cubicBezTo>
                    <a:pt x="107140" y="0"/>
                    <a:pt x="128678" y="8922"/>
                    <a:pt x="144559" y="24802"/>
                  </a:cubicBezTo>
                  <a:cubicBezTo>
                    <a:pt x="160440" y="40683"/>
                    <a:pt x="169362" y="62222"/>
                    <a:pt x="169362" y="84681"/>
                  </a:cubicBezTo>
                  <a:lnTo>
                    <a:pt x="169362" y="2392917"/>
                  </a:lnTo>
                  <a:cubicBezTo>
                    <a:pt x="169362" y="2439685"/>
                    <a:pt x="131449" y="2477598"/>
                    <a:pt x="84681" y="2477598"/>
                  </a:cubicBezTo>
                  <a:lnTo>
                    <a:pt x="84681" y="2477598"/>
                  </a:lnTo>
                  <a:cubicBezTo>
                    <a:pt x="37913" y="2477598"/>
                    <a:pt x="0" y="2439685"/>
                    <a:pt x="0" y="2392917"/>
                  </a:cubicBezTo>
                  <a:lnTo>
                    <a:pt x="0" y="84681"/>
                  </a:lnTo>
                  <a:cubicBezTo>
                    <a:pt x="0" y="37913"/>
                    <a:pt x="37913" y="0"/>
                    <a:pt x="84681" y="0"/>
                  </a:cubicBezTo>
                  <a:close/>
                </a:path>
              </a:pathLst>
            </a:custGeom>
            <a:ln w="19050" cap="rnd">
              <a:solidFill>
                <a:srgbClr val="164B82"/>
              </a:solidFill>
              <a:prstDash val="solid"/>
              <a:round/>
            </a:ln>
          </p:spPr>
        </p:sp>
        <p:sp>
          <p:nvSpPr>
            <p:cNvPr name="TextBox 12" id="12"/>
            <p:cNvSpPr txBox="true"/>
            <p:nvPr/>
          </p:nvSpPr>
          <p:spPr>
            <a:xfrm>
              <a:off x="0" y="-57150"/>
              <a:ext cx="169362" cy="2534748"/>
            </a:xfrm>
            <a:prstGeom prst="rect">
              <a:avLst/>
            </a:prstGeom>
          </p:spPr>
          <p:txBody>
            <a:bodyPr anchor="ctr" rtlCol="false" tIns="50800" lIns="50800" bIns="50800" rIns="50800"/>
            <a:lstStyle/>
            <a:p>
              <a:pPr algn="ctr">
                <a:lnSpc>
                  <a:spcPts val="3639"/>
                </a:lnSpc>
              </a:pPr>
            </a:p>
          </p:txBody>
        </p:sp>
      </p:grpSp>
      <p:sp>
        <p:nvSpPr>
          <p:cNvPr name="Freeform 13" id="13"/>
          <p:cNvSpPr/>
          <p:nvPr/>
        </p:nvSpPr>
        <p:spPr>
          <a:xfrm flipH="false" flipV="false" rot="0">
            <a:off x="12032403" y="3949493"/>
            <a:ext cx="3253404" cy="825491"/>
          </a:xfrm>
          <a:custGeom>
            <a:avLst/>
            <a:gdLst/>
            <a:ahLst/>
            <a:cxnLst/>
            <a:rect r="r" b="b" t="t" l="l"/>
            <a:pathLst>
              <a:path h="825491" w="3253404">
                <a:moveTo>
                  <a:pt x="0" y="0"/>
                </a:moveTo>
                <a:lnTo>
                  <a:pt x="3253405" y="0"/>
                </a:lnTo>
                <a:lnTo>
                  <a:pt x="3253405" y="825491"/>
                </a:lnTo>
                <a:lnTo>
                  <a:pt x="0" y="825491"/>
                </a:lnTo>
                <a:lnTo>
                  <a:pt x="0" y="0"/>
                </a:lnTo>
                <a:close/>
              </a:path>
            </a:pathLst>
          </a:custGeom>
          <a:blipFill>
            <a:blip r:embed="rId4"/>
            <a:stretch>
              <a:fillRect l="0" t="0" r="0" b="0"/>
            </a:stretch>
          </a:blipFill>
        </p:spPr>
      </p:sp>
      <p:sp>
        <p:nvSpPr>
          <p:cNvPr name="TextBox 14" id="14"/>
          <p:cNvSpPr txBox="true"/>
          <p:nvPr/>
        </p:nvSpPr>
        <p:spPr>
          <a:xfrm rot="0">
            <a:off x="651429" y="2554525"/>
            <a:ext cx="16985143" cy="695006"/>
          </a:xfrm>
          <a:prstGeom prst="rect">
            <a:avLst/>
          </a:prstGeom>
        </p:spPr>
        <p:txBody>
          <a:bodyPr anchor="t" rtlCol="false" tIns="0" lIns="0" bIns="0" rIns="0">
            <a:spAutoFit/>
          </a:bodyPr>
          <a:lstStyle/>
          <a:p>
            <a:pPr algn="l">
              <a:lnSpc>
                <a:spcPts val="4733"/>
              </a:lnSpc>
            </a:pPr>
            <a:r>
              <a:rPr lang="en-US" sz="4880" b="true">
                <a:solidFill>
                  <a:srgbClr val="343434"/>
                </a:solidFill>
                <a:latin typeface="Telegraf Bold"/>
                <a:ea typeface="Telegraf Bold"/>
                <a:cs typeface="Telegraf Bold"/>
                <a:sym typeface="Telegraf Bold"/>
              </a:rPr>
              <a:t>ĐIỀU CHỈNH LỢI NHUẬN THỰC TẾ THEO LẠM PHÁT</a:t>
            </a:r>
          </a:p>
        </p:txBody>
      </p:sp>
      <p:sp>
        <p:nvSpPr>
          <p:cNvPr name="TextBox 15" id="15"/>
          <p:cNvSpPr txBox="true"/>
          <p:nvPr/>
        </p:nvSpPr>
        <p:spPr>
          <a:xfrm rot="0">
            <a:off x="1145117" y="3544358"/>
            <a:ext cx="8531454" cy="817880"/>
          </a:xfrm>
          <a:prstGeom prst="rect">
            <a:avLst/>
          </a:prstGeom>
        </p:spPr>
        <p:txBody>
          <a:bodyPr anchor="t" rtlCol="false" tIns="0" lIns="0" bIns="0" rIns="0">
            <a:spAutoFit/>
          </a:bodyPr>
          <a:lstStyle/>
          <a:p>
            <a:pPr algn="l" marL="496567" indent="-248284" lvl="1">
              <a:lnSpc>
                <a:spcPts val="3219"/>
              </a:lnSpc>
              <a:buFont typeface="Arial"/>
              <a:buChar char="•"/>
            </a:pPr>
            <a:r>
              <a:rPr lang="en-US" b="true" sz="2299">
                <a:solidFill>
                  <a:srgbClr val="000000"/>
                </a:solidFill>
                <a:latin typeface="Telegraf Bold"/>
                <a:ea typeface="Telegraf Bold"/>
                <a:cs typeface="Telegraf Bold"/>
                <a:sym typeface="Telegraf Bold"/>
              </a:rPr>
              <a:t>Vấn đề:</a:t>
            </a:r>
            <a:r>
              <a:rPr lang="en-US" sz="2299">
                <a:solidFill>
                  <a:srgbClr val="000000"/>
                </a:solidFill>
                <a:latin typeface="Telegraf"/>
                <a:ea typeface="Telegraf"/>
                <a:cs typeface="Telegraf"/>
                <a:sym typeface="Telegraf"/>
              </a:rPr>
              <a:t> Lạm</a:t>
            </a:r>
            <a:r>
              <a:rPr lang="en-US" sz="2299">
                <a:solidFill>
                  <a:srgbClr val="000000"/>
                </a:solidFill>
                <a:latin typeface="Telegraf"/>
                <a:ea typeface="Telegraf"/>
                <a:cs typeface="Telegraf"/>
                <a:sym typeface="Telegraf"/>
              </a:rPr>
              <a:t> phát làm giảm sức mua của tiền, có thể gây sai lệch khi phân tích dài hạn</a:t>
            </a:r>
          </a:p>
        </p:txBody>
      </p:sp>
      <p:pic>
        <p:nvPicPr>
          <p:cNvPr name="Picture 16" id="16"/>
          <p:cNvPicPr>
            <a:picLocks noChangeAspect="true"/>
          </p:cNvPicPr>
          <p:nvPr/>
        </p:nvPicPr>
        <p:blipFill>
          <a:blip r:embed="rId5"/>
          <a:stretch>
            <a:fillRect/>
          </a:stretch>
        </p:blipFill>
        <p:spPr>
          <a:xfrm rot="0">
            <a:off x="11723672" y="5822074"/>
            <a:ext cx="617462" cy="537829"/>
          </a:xfrm>
          <a:prstGeom prst="rect">
            <a:avLst/>
          </a:prstGeom>
        </p:spPr>
      </p:pic>
      <p:sp>
        <p:nvSpPr>
          <p:cNvPr name="TextBox 17" id="17"/>
          <p:cNvSpPr txBox="true"/>
          <p:nvPr/>
        </p:nvSpPr>
        <p:spPr>
          <a:xfrm rot="0">
            <a:off x="12330637" y="5841088"/>
            <a:ext cx="2346841" cy="394335"/>
          </a:xfrm>
          <a:prstGeom prst="rect">
            <a:avLst/>
          </a:prstGeom>
        </p:spPr>
        <p:txBody>
          <a:bodyPr anchor="t" rtlCol="false" tIns="0" lIns="0" bIns="0" rIns="0">
            <a:spAutoFit/>
          </a:bodyPr>
          <a:lstStyle/>
          <a:p>
            <a:pPr algn="l">
              <a:lnSpc>
                <a:spcPts val="2939"/>
              </a:lnSpc>
            </a:pPr>
            <a:r>
              <a:rPr lang="en-US" sz="2099">
                <a:solidFill>
                  <a:srgbClr val="000000"/>
                </a:solidFill>
                <a:latin typeface="Telegraf"/>
                <a:ea typeface="Telegraf"/>
                <a:cs typeface="Telegraf"/>
                <a:sym typeface="Telegraf"/>
              </a:rPr>
              <a:t>là lợi nhuận thực tế</a:t>
            </a:r>
          </a:p>
        </p:txBody>
      </p:sp>
      <p:pic>
        <p:nvPicPr>
          <p:cNvPr name="Picture 18" id="18"/>
          <p:cNvPicPr>
            <a:picLocks noChangeAspect="true"/>
          </p:cNvPicPr>
          <p:nvPr/>
        </p:nvPicPr>
        <p:blipFill>
          <a:blip r:embed="rId6"/>
          <a:stretch>
            <a:fillRect/>
          </a:stretch>
        </p:blipFill>
        <p:spPr>
          <a:xfrm rot="0">
            <a:off x="11723672" y="6704668"/>
            <a:ext cx="617462" cy="497723"/>
          </a:xfrm>
          <a:prstGeom prst="rect">
            <a:avLst/>
          </a:prstGeom>
        </p:spPr>
      </p:pic>
      <p:sp>
        <p:nvSpPr>
          <p:cNvPr name="TextBox 19" id="19"/>
          <p:cNvSpPr txBox="true"/>
          <p:nvPr/>
        </p:nvSpPr>
        <p:spPr>
          <a:xfrm rot="0">
            <a:off x="12330637" y="6683576"/>
            <a:ext cx="3902631" cy="394335"/>
          </a:xfrm>
          <a:prstGeom prst="rect">
            <a:avLst/>
          </a:prstGeom>
        </p:spPr>
        <p:txBody>
          <a:bodyPr anchor="t" rtlCol="false" tIns="0" lIns="0" bIns="0" rIns="0">
            <a:spAutoFit/>
          </a:bodyPr>
          <a:lstStyle/>
          <a:p>
            <a:pPr algn="l">
              <a:lnSpc>
                <a:spcPts val="2939"/>
              </a:lnSpc>
            </a:pPr>
            <a:r>
              <a:rPr lang="en-US" sz="2099">
                <a:solidFill>
                  <a:srgbClr val="000000"/>
                </a:solidFill>
                <a:latin typeface="Telegraf"/>
                <a:ea typeface="Telegraf"/>
                <a:cs typeface="Telegraf"/>
                <a:sym typeface="Telegraf"/>
              </a:rPr>
              <a:t>là thời gian t là lợi nhuận cơ bản </a:t>
            </a:r>
          </a:p>
        </p:txBody>
      </p:sp>
      <p:pic>
        <p:nvPicPr>
          <p:cNvPr name="Picture 20" id="20"/>
          <p:cNvPicPr>
            <a:picLocks noChangeAspect="true"/>
          </p:cNvPicPr>
          <p:nvPr/>
        </p:nvPicPr>
        <p:blipFill>
          <a:blip r:embed="rId7"/>
          <a:stretch>
            <a:fillRect/>
          </a:stretch>
        </p:blipFill>
        <p:spPr>
          <a:xfrm rot="0">
            <a:off x="11670206" y="7466095"/>
            <a:ext cx="675790" cy="475271"/>
          </a:xfrm>
          <a:prstGeom prst="rect">
            <a:avLst/>
          </a:prstGeom>
        </p:spPr>
      </p:pic>
      <p:sp>
        <p:nvSpPr>
          <p:cNvPr name="TextBox 21" id="21"/>
          <p:cNvSpPr txBox="true"/>
          <p:nvPr/>
        </p:nvSpPr>
        <p:spPr>
          <a:xfrm rot="0">
            <a:off x="12330637" y="7446211"/>
            <a:ext cx="3265170" cy="394335"/>
          </a:xfrm>
          <a:prstGeom prst="rect">
            <a:avLst/>
          </a:prstGeom>
        </p:spPr>
        <p:txBody>
          <a:bodyPr anchor="t" rtlCol="false" tIns="0" lIns="0" bIns="0" rIns="0">
            <a:spAutoFit/>
          </a:bodyPr>
          <a:lstStyle/>
          <a:p>
            <a:pPr algn="ctr">
              <a:lnSpc>
                <a:spcPts val="2939"/>
              </a:lnSpc>
              <a:spcBef>
                <a:spcPct val="0"/>
              </a:spcBef>
            </a:pPr>
            <a:r>
              <a:rPr lang="en-US" sz="2099">
                <a:solidFill>
                  <a:srgbClr val="000000"/>
                </a:solidFill>
                <a:latin typeface="Telegraf"/>
                <a:ea typeface="Telegraf"/>
                <a:cs typeface="Telegraf"/>
                <a:sym typeface="Telegraf"/>
              </a:rPr>
              <a:t>được gán với tỉ lệ lạm phát</a:t>
            </a:r>
          </a:p>
        </p:txBody>
      </p:sp>
      <p:sp>
        <p:nvSpPr>
          <p:cNvPr name="TextBox 22" id="22"/>
          <p:cNvSpPr txBox="true"/>
          <p:nvPr/>
        </p:nvSpPr>
        <p:spPr>
          <a:xfrm rot="0">
            <a:off x="1145117" y="5218031"/>
            <a:ext cx="8287491" cy="817880"/>
          </a:xfrm>
          <a:prstGeom prst="rect">
            <a:avLst/>
          </a:prstGeom>
        </p:spPr>
        <p:txBody>
          <a:bodyPr anchor="t" rtlCol="false" tIns="0" lIns="0" bIns="0" rIns="0">
            <a:spAutoFit/>
          </a:bodyPr>
          <a:lstStyle/>
          <a:p>
            <a:pPr algn="l" marL="496567" indent="-248284" lvl="1">
              <a:lnSpc>
                <a:spcPts val="3219"/>
              </a:lnSpc>
              <a:buFont typeface="Arial"/>
              <a:buChar char="•"/>
            </a:pPr>
            <a:r>
              <a:rPr lang="en-US" b="true" sz="2299">
                <a:solidFill>
                  <a:srgbClr val="000000"/>
                </a:solidFill>
                <a:latin typeface="Telegraf Bold"/>
                <a:ea typeface="Telegraf Bold"/>
                <a:cs typeface="Telegraf Bold"/>
                <a:sym typeface="Telegraf Bold"/>
              </a:rPr>
              <a:t>Ý nghĩa</a:t>
            </a:r>
            <a:r>
              <a:rPr lang="en-US" sz="2299">
                <a:solidFill>
                  <a:srgbClr val="000000"/>
                </a:solidFill>
                <a:latin typeface="Telegraf"/>
                <a:ea typeface="Telegraf"/>
                <a:cs typeface="Telegraf"/>
                <a:sym typeface="Telegraf"/>
              </a:rPr>
              <a:t>: Tách biệt sự tăng trưởng thực sự của doanh nghiệp khỏi sự tăng giá do mất giá tiền tệ</a:t>
            </a:r>
          </a:p>
        </p:txBody>
      </p:sp>
      <p:sp>
        <p:nvSpPr>
          <p:cNvPr name="TextBox 23" id="23"/>
          <p:cNvSpPr txBox="true"/>
          <p:nvPr/>
        </p:nvSpPr>
        <p:spPr>
          <a:xfrm rot="0">
            <a:off x="1145117" y="4390720"/>
            <a:ext cx="8120438" cy="791845"/>
          </a:xfrm>
          <a:prstGeom prst="rect">
            <a:avLst/>
          </a:prstGeom>
        </p:spPr>
        <p:txBody>
          <a:bodyPr anchor="t" rtlCol="false" tIns="0" lIns="0" bIns="0" rIns="0">
            <a:spAutoFit/>
          </a:bodyPr>
          <a:lstStyle/>
          <a:p>
            <a:pPr algn="l" marL="474979" indent="-237490" lvl="1">
              <a:lnSpc>
                <a:spcPts val="3079"/>
              </a:lnSpc>
              <a:buFont typeface="Arial"/>
              <a:buChar char="•"/>
            </a:pPr>
            <a:r>
              <a:rPr lang="en-US" b="true" sz="2199" spc="109">
                <a:solidFill>
                  <a:srgbClr val="000000"/>
                </a:solidFill>
                <a:latin typeface="Telegraf Bold"/>
                <a:ea typeface="Telegraf Bold"/>
                <a:cs typeface="Telegraf Bold"/>
                <a:sym typeface="Telegraf Bold"/>
              </a:rPr>
              <a:t>Mục đích</a:t>
            </a:r>
            <a:r>
              <a:rPr lang="en-US" sz="2199" spc="109">
                <a:solidFill>
                  <a:srgbClr val="000000"/>
                </a:solidFill>
                <a:latin typeface="Telegraf Extra-Light"/>
                <a:ea typeface="Telegraf Extra-Light"/>
                <a:cs typeface="Telegraf Extra-Light"/>
                <a:sym typeface="Telegraf Extra-Light"/>
              </a:rPr>
              <a:t>: Tách biệt sự tăng trưởng thực tế của tài sản khỏi sự sụt giảm sức mua của tiền tệ do lạm phát</a:t>
            </a:r>
          </a:p>
        </p:txBody>
      </p:sp>
      <p:sp>
        <p:nvSpPr>
          <p:cNvPr name="TextBox 24" id="24"/>
          <p:cNvSpPr txBox="true"/>
          <p:nvPr/>
        </p:nvSpPr>
        <p:spPr>
          <a:xfrm rot="0">
            <a:off x="1028700" y="6357739"/>
            <a:ext cx="3486031" cy="476885"/>
          </a:xfrm>
          <a:prstGeom prst="rect">
            <a:avLst/>
          </a:prstGeom>
        </p:spPr>
        <p:txBody>
          <a:bodyPr anchor="t" rtlCol="false" tIns="0" lIns="0" bIns="0" rIns="0">
            <a:spAutoFit/>
          </a:bodyPr>
          <a:lstStyle/>
          <a:p>
            <a:pPr algn="ctr">
              <a:lnSpc>
                <a:spcPts val="3639"/>
              </a:lnSpc>
              <a:spcBef>
                <a:spcPct val="0"/>
              </a:spcBef>
            </a:pPr>
            <a:r>
              <a:rPr lang="en-US" b="true" sz="2599" spc="129">
                <a:solidFill>
                  <a:srgbClr val="000000"/>
                </a:solidFill>
                <a:latin typeface="Telegraf Bold"/>
                <a:ea typeface="Telegraf Bold"/>
                <a:cs typeface="Telegraf Bold"/>
                <a:sym typeface="Telegraf Bold"/>
              </a:rPr>
              <a:t>Quy trình thực hiện</a:t>
            </a:r>
          </a:p>
        </p:txBody>
      </p:sp>
      <p:sp>
        <p:nvSpPr>
          <p:cNvPr name="TextBox 25" id="25"/>
          <p:cNvSpPr txBox="true"/>
          <p:nvPr/>
        </p:nvSpPr>
        <p:spPr>
          <a:xfrm rot="0">
            <a:off x="1028700" y="7053699"/>
            <a:ext cx="10016941" cy="1655317"/>
          </a:xfrm>
          <a:prstGeom prst="rect">
            <a:avLst/>
          </a:prstGeom>
        </p:spPr>
        <p:txBody>
          <a:bodyPr anchor="t" rtlCol="false" tIns="0" lIns="0" bIns="0" rIns="0">
            <a:spAutoFit/>
          </a:bodyPr>
          <a:lstStyle/>
          <a:p>
            <a:pPr algn="l" marL="503056" indent="-251528" lvl="1">
              <a:lnSpc>
                <a:spcPts val="3262"/>
              </a:lnSpc>
              <a:buAutoNum type="arabicPeriod" startAt="1"/>
            </a:pPr>
            <a:r>
              <a:rPr lang="en-US" sz="2330" spc="116">
                <a:solidFill>
                  <a:srgbClr val="000000"/>
                </a:solidFill>
                <a:latin typeface="Telegraf Extra-Light"/>
                <a:ea typeface="Telegraf Extra-Light"/>
                <a:cs typeface="Telegraf Extra-Light"/>
                <a:sym typeface="Telegraf Extra-Light"/>
              </a:rPr>
              <a:t>Tải dữ liệu giá cổ phiếu và chỉ số giá tiêu dùng (CPI) hàng tháng.</a:t>
            </a:r>
          </a:p>
          <a:p>
            <a:pPr algn="l" marL="503056" indent="-251528" lvl="1">
              <a:lnSpc>
                <a:spcPts val="3262"/>
              </a:lnSpc>
              <a:buAutoNum type="arabicPeriod" startAt="1"/>
            </a:pPr>
            <a:r>
              <a:rPr lang="en-US" sz="2330" spc="116">
                <a:solidFill>
                  <a:srgbClr val="000000"/>
                </a:solidFill>
                <a:latin typeface="Telegraf Extra-Light"/>
                <a:ea typeface="Telegraf Extra-Light"/>
                <a:cs typeface="Telegraf Extra-Light"/>
                <a:sym typeface="Telegraf Extra-Light"/>
              </a:rPr>
              <a:t>Sử dụng phép nối trái (Left Join) để ghép bộ dữ liệu giá và CPI theo thời gian.</a:t>
            </a:r>
          </a:p>
          <a:p>
            <a:pPr algn="l" marL="503056" indent="-251528" lvl="1">
              <a:lnSpc>
                <a:spcPts val="3262"/>
              </a:lnSpc>
              <a:buAutoNum type="arabicPeriod" startAt="1"/>
            </a:pPr>
            <a:r>
              <a:rPr lang="en-US" sz="2330" spc="116">
                <a:solidFill>
                  <a:srgbClr val="000000"/>
                </a:solidFill>
                <a:latin typeface="Telegraf Extra-Light"/>
                <a:ea typeface="Telegraf Extra-Light"/>
                <a:cs typeface="Telegraf Extra-Light"/>
                <a:sym typeface="Telegraf Extra-Light"/>
              </a:rPr>
              <a:t>Tính lợi nhuận đơn giản của tài sản và tỷ lệ lạm phát</a:t>
            </a:r>
          </a:p>
        </p:txBody>
      </p:sp>
    </p:spTree>
  </p:cSld>
  <p:clrMapOvr>
    <a:masterClrMapping/>
  </p:clrMapOvr>
</p:sld>
</file>

<file path=ppt/slides/slide21.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225008">
            <a:off x="-467361" y="-2757747"/>
            <a:ext cx="12701350" cy="5382197"/>
          </a:xfrm>
          <a:custGeom>
            <a:avLst/>
            <a:gdLst/>
            <a:ahLst/>
            <a:cxnLst/>
            <a:rect r="r" b="b" t="t" l="l"/>
            <a:pathLst>
              <a:path h="5382197" w="12701350">
                <a:moveTo>
                  <a:pt x="0" y="0"/>
                </a:moveTo>
                <a:lnTo>
                  <a:pt x="12701349" y="0"/>
                </a:lnTo>
                <a:lnTo>
                  <a:pt x="12701349" y="5382197"/>
                </a:lnTo>
                <a:lnTo>
                  <a:pt x="0" y="5382197"/>
                </a:lnTo>
                <a:lnTo>
                  <a:pt x="0" y="0"/>
                </a:lnTo>
                <a:close/>
              </a:path>
            </a:pathLst>
          </a:custGeom>
          <a:blipFill>
            <a:blip r:embed="rId2"/>
            <a:stretch>
              <a:fillRect l="0" t="0" r="0" b="0"/>
            </a:stretch>
          </a:blipFill>
        </p:spPr>
      </p:sp>
      <p:sp>
        <p:nvSpPr>
          <p:cNvPr name="Freeform 3" id="3"/>
          <p:cNvSpPr/>
          <p:nvPr/>
        </p:nvSpPr>
        <p:spPr>
          <a:xfrm flipH="false" flipV="false" rot="0">
            <a:off x="12032403" y="7522411"/>
            <a:ext cx="11514218" cy="8506128"/>
          </a:xfrm>
          <a:custGeom>
            <a:avLst/>
            <a:gdLst/>
            <a:ahLst/>
            <a:cxnLst/>
            <a:rect r="r" b="b" t="t" l="l"/>
            <a:pathLst>
              <a:path h="8506128" w="11514218">
                <a:moveTo>
                  <a:pt x="0" y="0"/>
                </a:moveTo>
                <a:lnTo>
                  <a:pt x="11514218" y="0"/>
                </a:lnTo>
                <a:lnTo>
                  <a:pt x="11514218" y="8506129"/>
                </a:lnTo>
                <a:lnTo>
                  <a:pt x="0" y="8506129"/>
                </a:lnTo>
                <a:lnTo>
                  <a:pt x="0" y="0"/>
                </a:lnTo>
                <a:close/>
              </a:path>
            </a:pathLst>
          </a:custGeom>
          <a:blipFill>
            <a:blip r:embed="rId3"/>
            <a:stretch>
              <a:fillRect l="0" t="0" r="0" b="0"/>
            </a:stretch>
          </a:blipFill>
        </p:spPr>
      </p:sp>
      <p:grpSp>
        <p:nvGrpSpPr>
          <p:cNvPr name="Group 4" id="4"/>
          <p:cNvGrpSpPr/>
          <p:nvPr/>
        </p:nvGrpSpPr>
        <p:grpSpPr>
          <a:xfrm rot="0">
            <a:off x="17259300" y="-392510"/>
            <a:ext cx="1437565" cy="11072020"/>
            <a:chOff x="0" y="0"/>
            <a:chExt cx="378618" cy="2916088"/>
          </a:xfrm>
        </p:grpSpPr>
        <p:sp>
          <p:nvSpPr>
            <p:cNvPr name="Freeform 5" id="5"/>
            <p:cNvSpPr/>
            <p:nvPr/>
          </p:nvSpPr>
          <p:spPr>
            <a:xfrm flipH="false" flipV="false" rot="0">
              <a:off x="0" y="0"/>
              <a:ext cx="378618" cy="2916088"/>
            </a:xfrm>
            <a:custGeom>
              <a:avLst/>
              <a:gdLst/>
              <a:ahLst/>
              <a:cxnLst/>
              <a:rect r="r" b="b" t="t" l="l"/>
              <a:pathLst>
                <a:path h="2916088" w="378618">
                  <a:moveTo>
                    <a:pt x="0" y="0"/>
                  </a:moveTo>
                  <a:lnTo>
                    <a:pt x="378618" y="0"/>
                  </a:lnTo>
                  <a:lnTo>
                    <a:pt x="378618" y="2916088"/>
                  </a:lnTo>
                  <a:lnTo>
                    <a:pt x="0" y="2916088"/>
                  </a:lnTo>
                  <a:close/>
                </a:path>
              </a:pathLst>
            </a:custGeom>
            <a:gradFill rotWithShape="true">
              <a:gsLst>
                <a:gs pos="0">
                  <a:srgbClr val="E4B795">
                    <a:alpha val="100000"/>
                  </a:srgbClr>
                </a:gs>
                <a:gs pos="50000">
                  <a:srgbClr val="699ACD">
                    <a:alpha val="100000"/>
                  </a:srgbClr>
                </a:gs>
                <a:gs pos="100000">
                  <a:srgbClr val="2F679F">
                    <a:alpha val="100000"/>
                  </a:srgbClr>
                </a:gs>
              </a:gsLst>
              <a:path path="circle">
                <a:fillToRect l="0" r="100000" t="0" b="100000"/>
              </a:path>
              <a:tileRect r="0" l="-100000" b="0" t="-100000"/>
            </a:gradFill>
          </p:spPr>
        </p:sp>
        <p:sp>
          <p:nvSpPr>
            <p:cNvPr name="TextBox 6" id="6"/>
            <p:cNvSpPr txBox="true"/>
            <p:nvPr/>
          </p:nvSpPr>
          <p:spPr>
            <a:xfrm>
              <a:off x="0" y="-57150"/>
              <a:ext cx="378618" cy="2973238"/>
            </a:xfrm>
            <a:prstGeom prst="rect">
              <a:avLst/>
            </a:prstGeom>
          </p:spPr>
          <p:txBody>
            <a:bodyPr anchor="ctr" rtlCol="false" tIns="50800" lIns="50800" bIns="50800" rIns="50800"/>
            <a:lstStyle/>
            <a:p>
              <a:pPr algn="ctr">
                <a:lnSpc>
                  <a:spcPts val="3639"/>
                </a:lnSpc>
              </a:pPr>
            </a:p>
          </p:txBody>
        </p:sp>
      </p:grpSp>
      <p:sp>
        <p:nvSpPr>
          <p:cNvPr name="TextBox 7" id="7"/>
          <p:cNvSpPr txBox="true"/>
          <p:nvPr/>
        </p:nvSpPr>
        <p:spPr>
          <a:xfrm rot="0">
            <a:off x="8021110" y="782737"/>
            <a:ext cx="2492949" cy="351790"/>
          </a:xfrm>
          <a:prstGeom prst="rect">
            <a:avLst/>
          </a:prstGeom>
        </p:spPr>
        <p:txBody>
          <a:bodyPr anchor="t" rtlCol="false" tIns="0" lIns="0" bIns="0" rIns="0">
            <a:spAutoFit/>
          </a:bodyPr>
          <a:lstStyle/>
          <a:p>
            <a:pPr algn="l">
              <a:lnSpc>
                <a:spcPts val="2660"/>
              </a:lnSpc>
              <a:spcBef>
                <a:spcPct val="0"/>
              </a:spcBef>
            </a:pPr>
            <a:r>
              <a:rPr lang="en-US" sz="1900" spc="95">
                <a:solidFill>
                  <a:srgbClr val="164B82"/>
                </a:solidFill>
                <a:latin typeface="Telegraf Extra-Light"/>
                <a:ea typeface="Telegraf Extra-Light"/>
                <a:cs typeface="Telegraf Extra-Light"/>
                <a:sym typeface="Telegraf Extra-Light"/>
              </a:rPr>
              <a:t>Studio Shodwe</a:t>
            </a:r>
          </a:p>
        </p:txBody>
      </p:sp>
      <p:sp>
        <p:nvSpPr>
          <p:cNvPr name="TextBox 8" id="8"/>
          <p:cNvSpPr txBox="true"/>
          <p:nvPr/>
        </p:nvSpPr>
        <p:spPr>
          <a:xfrm rot="0">
            <a:off x="13305333" y="782737"/>
            <a:ext cx="1819999" cy="351790"/>
          </a:xfrm>
          <a:prstGeom prst="rect">
            <a:avLst/>
          </a:prstGeom>
        </p:spPr>
        <p:txBody>
          <a:bodyPr anchor="t" rtlCol="false" tIns="0" lIns="0" bIns="0" rIns="0">
            <a:spAutoFit/>
          </a:bodyPr>
          <a:lstStyle/>
          <a:p>
            <a:pPr algn="r">
              <a:lnSpc>
                <a:spcPts val="2660"/>
              </a:lnSpc>
              <a:spcBef>
                <a:spcPct val="0"/>
              </a:spcBef>
            </a:pPr>
            <a:r>
              <a:rPr lang="en-US" sz="1900" spc="95">
                <a:solidFill>
                  <a:srgbClr val="164B82"/>
                </a:solidFill>
                <a:latin typeface="Telegraf Extra-Light"/>
                <a:ea typeface="Telegraf Extra-Light"/>
                <a:cs typeface="Telegraf Extra-Light"/>
                <a:sym typeface="Telegraf Extra-Light"/>
              </a:rPr>
              <a:t>2024</a:t>
            </a:r>
          </a:p>
        </p:txBody>
      </p:sp>
      <p:sp>
        <p:nvSpPr>
          <p:cNvPr name="TextBox 9" id="9"/>
          <p:cNvSpPr txBox="true"/>
          <p:nvPr/>
        </p:nvSpPr>
        <p:spPr>
          <a:xfrm rot="0">
            <a:off x="11045641" y="782737"/>
            <a:ext cx="1819999" cy="351790"/>
          </a:xfrm>
          <a:prstGeom prst="rect">
            <a:avLst/>
          </a:prstGeom>
        </p:spPr>
        <p:txBody>
          <a:bodyPr anchor="t" rtlCol="false" tIns="0" lIns="0" bIns="0" rIns="0">
            <a:spAutoFit/>
          </a:bodyPr>
          <a:lstStyle/>
          <a:p>
            <a:pPr algn="ctr">
              <a:lnSpc>
                <a:spcPts val="2660"/>
              </a:lnSpc>
              <a:spcBef>
                <a:spcPct val="0"/>
              </a:spcBef>
            </a:pPr>
            <a:r>
              <a:rPr lang="en-US" sz="1900" spc="95">
                <a:solidFill>
                  <a:srgbClr val="164B82"/>
                </a:solidFill>
                <a:latin typeface="Telegraf Extra-Light"/>
                <a:ea typeface="Telegraf Extra-Light"/>
                <a:cs typeface="Telegraf Extra-Light"/>
                <a:sym typeface="Telegraf Extra-Light"/>
              </a:rPr>
              <a:t>Project.</a:t>
            </a:r>
          </a:p>
        </p:txBody>
      </p:sp>
      <p:grpSp>
        <p:nvGrpSpPr>
          <p:cNvPr name="Group 10" id="10"/>
          <p:cNvGrpSpPr/>
          <p:nvPr/>
        </p:nvGrpSpPr>
        <p:grpSpPr>
          <a:xfrm rot="5400000">
            <a:off x="11279340" y="-3711595"/>
            <a:ext cx="643045" cy="9407130"/>
            <a:chOff x="0" y="0"/>
            <a:chExt cx="169362" cy="2477598"/>
          </a:xfrm>
        </p:grpSpPr>
        <p:sp>
          <p:nvSpPr>
            <p:cNvPr name="Freeform 11" id="11"/>
            <p:cNvSpPr/>
            <p:nvPr/>
          </p:nvSpPr>
          <p:spPr>
            <a:xfrm flipH="false" flipV="false" rot="0">
              <a:off x="0" y="0"/>
              <a:ext cx="169362" cy="2477598"/>
            </a:xfrm>
            <a:custGeom>
              <a:avLst/>
              <a:gdLst/>
              <a:ahLst/>
              <a:cxnLst/>
              <a:rect r="r" b="b" t="t" l="l"/>
              <a:pathLst>
                <a:path h="2477598" w="169362">
                  <a:moveTo>
                    <a:pt x="84681" y="0"/>
                  </a:moveTo>
                  <a:lnTo>
                    <a:pt x="84681" y="0"/>
                  </a:lnTo>
                  <a:cubicBezTo>
                    <a:pt x="107140" y="0"/>
                    <a:pt x="128678" y="8922"/>
                    <a:pt x="144559" y="24802"/>
                  </a:cubicBezTo>
                  <a:cubicBezTo>
                    <a:pt x="160440" y="40683"/>
                    <a:pt x="169362" y="62222"/>
                    <a:pt x="169362" y="84681"/>
                  </a:cubicBezTo>
                  <a:lnTo>
                    <a:pt x="169362" y="2392917"/>
                  </a:lnTo>
                  <a:cubicBezTo>
                    <a:pt x="169362" y="2439685"/>
                    <a:pt x="131449" y="2477598"/>
                    <a:pt x="84681" y="2477598"/>
                  </a:cubicBezTo>
                  <a:lnTo>
                    <a:pt x="84681" y="2477598"/>
                  </a:lnTo>
                  <a:cubicBezTo>
                    <a:pt x="37913" y="2477598"/>
                    <a:pt x="0" y="2439685"/>
                    <a:pt x="0" y="2392917"/>
                  </a:cubicBezTo>
                  <a:lnTo>
                    <a:pt x="0" y="84681"/>
                  </a:lnTo>
                  <a:cubicBezTo>
                    <a:pt x="0" y="37913"/>
                    <a:pt x="37913" y="0"/>
                    <a:pt x="84681" y="0"/>
                  </a:cubicBezTo>
                  <a:close/>
                </a:path>
              </a:pathLst>
            </a:custGeom>
            <a:ln w="19050" cap="rnd">
              <a:solidFill>
                <a:srgbClr val="164B82"/>
              </a:solidFill>
              <a:prstDash val="solid"/>
              <a:round/>
            </a:ln>
          </p:spPr>
        </p:sp>
        <p:sp>
          <p:nvSpPr>
            <p:cNvPr name="TextBox 12" id="12"/>
            <p:cNvSpPr txBox="true"/>
            <p:nvPr/>
          </p:nvSpPr>
          <p:spPr>
            <a:xfrm>
              <a:off x="0" y="-57150"/>
              <a:ext cx="169362" cy="2534748"/>
            </a:xfrm>
            <a:prstGeom prst="rect">
              <a:avLst/>
            </a:prstGeom>
          </p:spPr>
          <p:txBody>
            <a:bodyPr anchor="ctr" rtlCol="false" tIns="50800" lIns="50800" bIns="50800" rIns="50800"/>
            <a:lstStyle/>
            <a:p>
              <a:pPr algn="ctr">
                <a:lnSpc>
                  <a:spcPts val="3639"/>
                </a:lnSpc>
              </a:pPr>
            </a:p>
          </p:txBody>
        </p:sp>
      </p:grpSp>
      <p:sp>
        <p:nvSpPr>
          <p:cNvPr name="Freeform 13" id="13"/>
          <p:cNvSpPr/>
          <p:nvPr/>
        </p:nvSpPr>
        <p:spPr>
          <a:xfrm flipH="false" flipV="false" rot="0">
            <a:off x="474272" y="3850717"/>
            <a:ext cx="8669728" cy="3671694"/>
          </a:xfrm>
          <a:custGeom>
            <a:avLst/>
            <a:gdLst/>
            <a:ahLst/>
            <a:cxnLst/>
            <a:rect r="r" b="b" t="t" l="l"/>
            <a:pathLst>
              <a:path h="3671694" w="8669728">
                <a:moveTo>
                  <a:pt x="0" y="0"/>
                </a:moveTo>
                <a:lnTo>
                  <a:pt x="8669728" y="0"/>
                </a:lnTo>
                <a:lnTo>
                  <a:pt x="8669728" y="3671694"/>
                </a:lnTo>
                <a:lnTo>
                  <a:pt x="0" y="3671694"/>
                </a:lnTo>
                <a:lnTo>
                  <a:pt x="0" y="0"/>
                </a:lnTo>
                <a:close/>
              </a:path>
            </a:pathLst>
          </a:custGeom>
          <a:blipFill>
            <a:blip r:embed="rId4"/>
            <a:stretch>
              <a:fillRect l="0" t="0" r="0" b="0"/>
            </a:stretch>
          </a:blipFill>
        </p:spPr>
      </p:sp>
      <p:sp>
        <p:nvSpPr>
          <p:cNvPr name="Freeform 14" id="14"/>
          <p:cNvSpPr/>
          <p:nvPr/>
        </p:nvSpPr>
        <p:spPr>
          <a:xfrm flipH="false" flipV="false" rot="0">
            <a:off x="9489007" y="3850717"/>
            <a:ext cx="7770293" cy="4201870"/>
          </a:xfrm>
          <a:custGeom>
            <a:avLst/>
            <a:gdLst/>
            <a:ahLst/>
            <a:cxnLst/>
            <a:rect r="r" b="b" t="t" l="l"/>
            <a:pathLst>
              <a:path h="4201870" w="7770293">
                <a:moveTo>
                  <a:pt x="0" y="0"/>
                </a:moveTo>
                <a:lnTo>
                  <a:pt x="7770293" y="0"/>
                </a:lnTo>
                <a:lnTo>
                  <a:pt x="7770293" y="4201870"/>
                </a:lnTo>
                <a:lnTo>
                  <a:pt x="0" y="4201870"/>
                </a:lnTo>
                <a:lnTo>
                  <a:pt x="0" y="0"/>
                </a:lnTo>
                <a:close/>
              </a:path>
            </a:pathLst>
          </a:custGeom>
          <a:blipFill>
            <a:blip r:embed="rId5"/>
            <a:stretch>
              <a:fillRect l="0" t="0" r="0" b="0"/>
            </a:stretch>
          </a:blipFill>
        </p:spPr>
      </p:sp>
      <p:sp>
        <p:nvSpPr>
          <p:cNvPr name="TextBox 15" id="15"/>
          <p:cNvSpPr txBox="true"/>
          <p:nvPr/>
        </p:nvSpPr>
        <p:spPr>
          <a:xfrm rot="0">
            <a:off x="651429" y="1993925"/>
            <a:ext cx="16985143" cy="695006"/>
          </a:xfrm>
          <a:prstGeom prst="rect">
            <a:avLst/>
          </a:prstGeom>
        </p:spPr>
        <p:txBody>
          <a:bodyPr anchor="t" rtlCol="false" tIns="0" lIns="0" bIns="0" rIns="0">
            <a:spAutoFit/>
          </a:bodyPr>
          <a:lstStyle/>
          <a:p>
            <a:pPr algn="l">
              <a:lnSpc>
                <a:spcPts val="4733"/>
              </a:lnSpc>
            </a:pPr>
            <a:r>
              <a:rPr lang="en-US" sz="4880" b="true">
                <a:solidFill>
                  <a:srgbClr val="343434"/>
                </a:solidFill>
                <a:latin typeface="Telegraf Bold"/>
                <a:ea typeface="Telegraf Bold"/>
                <a:cs typeface="Telegraf Bold"/>
                <a:sym typeface="Telegraf Bold"/>
              </a:rPr>
              <a:t>ĐIỀU CHỈNH LỢI NHUẬN THỰC TẾ THEO LẠM PHÁT</a:t>
            </a:r>
          </a:p>
        </p:txBody>
      </p:sp>
      <p:sp>
        <p:nvSpPr>
          <p:cNvPr name="TextBox 16" id="16"/>
          <p:cNvSpPr txBox="true"/>
          <p:nvPr/>
        </p:nvSpPr>
        <p:spPr>
          <a:xfrm rot="0">
            <a:off x="1028700" y="2698460"/>
            <a:ext cx="5808086" cy="575946"/>
          </a:xfrm>
          <a:prstGeom prst="rect">
            <a:avLst/>
          </a:prstGeom>
        </p:spPr>
        <p:txBody>
          <a:bodyPr anchor="t" rtlCol="false" tIns="0" lIns="0" bIns="0" rIns="0">
            <a:spAutoFit/>
          </a:bodyPr>
          <a:lstStyle/>
          <a:p>
            <a:pPr algn="l" marL="0" indent="0" lvl="1">
              <a:lnSpc>
                <a:spcPts val="4479"/>
              </a:lnSpc>
              <a:spcBef>
                <a:spcPct val="0"/>
              </a:spcBef>
            </a:pPr>
            <a:r>
              <a:rPr lang="en-US" b="true" sz="3199" spc="159">
                <a:solidFill>
                  <a:srgbClr val="343434"/>
                </a:solidFill>
                <a:latin typeface="Telegraf Bold"/>
                <a:ea typeface="Telegraf Bold"/>
                <a:cs typeface="Telegraf Bold"/>
                <a:sym typeface="Telegraf Bold"/>
              </a:rPr>
              <a:t>Triền khai mã lệnh Python:</a:t>
            </a:r>
          </a:p>
        </p:txBody>
      </p:sp>
    </p:spTree>
  </p:cSld>
  <p:clrMapOvr>
    <a:masterClrMapping/>
  </p:clrMapOvr>
</p:sld>
</file>

<file path=ppt/slides/slide22.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225008">
            <a:off x="-467361" y="-2757747"/>
            <a:ext cx="12701350" cy="5382197"/>
          </a:xfrm>
          <a:custGeom>
            <a:avLst/>
            <a:gdLst/>
            <a:ahLst/>
            <a:cxnLst/>
            <a:rect r="r" b="b" t="t" l="l"/>
            <a:pathLst>
              <a:path h="5382197" w="12701350">
                <a:moveTo>
                  <a:pt x="0" y="0"/>
                </a:moveTo>
                <a:lnTo>
                  <a:pt x="12701349" y="0"/>
                </a:lnTo>
                <a:lnTo>
                  <a:pt x="12701349" y="5382197"/>
                </a:lnTo>
                <a:lnTo>
                  <a:pt x="0" y="5382197"/>
                </a:lnTo>
                <a:lnTo>
                  <a:pt x="0" y="0"/>
                </a:lnTo>
                <a:close/>
              </a:path>
            </a:pathLst>
          </a:custGeom>
          <a:blipFill>
            <a:blip r:embed="rId2"/>
            <a:stretch>
              <a:fillRect l="0" t="0" r="0" b="0"/>
            </a:stretch>
          </a:blipFill>
        </p:spPr>
      </p:sp>
      <p:sp>
        <p:nvSpPr>
          <p:cNvPr name="Freeform 3" id="3"/>
          <p:cNvSpPr/>
          <p:nvPr/>
        </p:nvSpPr>
        <p:spPr>
          <a:xfrm flipH="false" flipV="false" rot="0">
            <a:off x="12032403" y="7522411"/>
            <a:ext cx="11514218" cy="8506128"/>
          </a:xfrm>
          <a:custGeom>
            <a:avLst/>
            <a:gdLst/>
            <a:ahLst/>
            <a:cxnLst/>
            <a:rect r="r" b="b" t="t" l="l"/>
            <a:pathLst>
              <a:path h="8506128" w="11514218">
                <a:moveTo>
                  <a:pt x="0" y="0"/>
                </a:moveTo>
                <a:lnTo>
                  <a:pt x="11514218" y="0"/>
                </a:lnTo>
                <a:lnTo>
                  <a:pt x="11514218" y="8506129"/>
                </a:lnTo>
                <a:lnTo>
                  <a:pt x="0" y="8506129"/>
                </a:lnTo>
                <a:lnTo>
                  <a:pt x="0" y="0"/>
                </a:lnTo>
                <a:close/>
              </a:path>
            </a:pathLst>
          </a:custGeom>
          <a:blipFill>
            <a:blip r:embed="rId3"/>
            <a:stretch>
              <a:fillRect l="0" t="0" r="0" b="0"/>
            </a:stretch>
          </a:blipFill>
        </p:spPr>
      </p:sp>
      <p:grpSp>
        <p:nvGrpSpPr>
          <p:cNvPr name="Group 4" id="4"/>
          <p:cNvGrpSpPr/>
          <p:nvPr/>
        </p:nvGrpSpPr>
        <p:grpSpPr>
          <a:xfrm rot="0">
            <a:off x="17259300" y="-392510"/>
            <a:ext cx="1437565" cy="11072020"/>
            <a:chOff x="0" y="0"/>
            <a:chExt cx="378618" cy="2916088"/>
          </a:xfrm>
        </p:grpSpPr>
        <p:sp>
          <p:nvSpPr>
            <p:cNvPr name="Freeform 5" id="5"/>
            <p:cNvSpPr/>
            <p:nvPr/>
          </p:nvSpPr>
          <p:spPr>
            <a:xfrm flipH="false" flipV="false" rot="0">
              <a:off x="0" y="0"/>
              <a:ext cx="378618" cy="2916088"/>
            </a:xfrm>
            <a:custGeom>
              <a:avLst/>
              <a:gdLst/>
              <a:ahLst/>
              <a:cxnLst/>
              <a:rect r="r" b="b" t="t" l="l"/>
              <a:pathLst>
                <a:path h="2916088" w="378618">
                  <a:moveTo>
                    <a:pt x="0" y="0"/>
                  </a:moveTo>
                  <a:lnTo>
                    <a:pt x="378618" y="0"/>
                  </a:lnTo>
                  <a:lnTo>
                    <a:pt x="378618" y="2916088"/>
                  </a:lnTo>
                  <a:lnTo>
                    <a:pt x="0" y="2916088"/>
                  </a:lnTo>
                  <a:close/>
                </a:path>
              </a:pathLst>
            </a:custGeom>
            <a:gradFill rotWithShape="true">
              <a:gsLst>
                <a:gs pos="0">
                  <a:srgbClr val="E4B795">
                    <a:alpha val="100000"/>
                  </a:srgbClr>
                </a:gs>
                <a:gs pos="50000">
                  <a:srgbClr val="699ACD">
                    <a:alpha val="100000"/>
                  </a:srgbClr>
                </a:gs>
                <a:gs pos="100000">
                  <a:srgbClr val="2F679F">
                    <a:alpha val="100000"/>
                  </a:srgbClr>
                </a:gs>
              </a:gsLst>
              <a:path path="circle">
                <a:fillToRect l="0" r="100000" t="0" b="100000"/>
              </a:path>
              <a:tileRect r="0" l="-100000" b="0" t="-100000"/>
            </a:gradFill>
          </p:spPr>
        </p:sp>
        <p:sp>
          <p:nvSpPr>
            <p:cNvPr name="TextBox 6" id="6"/>
            <p:cNvSpPr txBox="true"/>
            <p:nvPr/>
          </p:nvSpPr>
          <p:spPr>
            <a:xfrm>
              <a:off x="0" y="-57150"/>
              <a:ext cx="378618" cy="2973238"/>
            </a:xfrm>
            <a:prstGeom prst="rect">
              <a:avLst/>
            </a:prstGeom>
          </p:spPr>
          <p:txBody>
            <a:bodyPr anchor="ctr" rtlCol="false" tIns="50800" lIns="50800" bIns="50800" rIns="50800"/>
            <a:lstStyle/>
            <a:p>
              <a:pPr algn="ctr">
                <a:lnSpc>
                  <a:spcPts val="3639"/>
                </a:lnSpc>
              </a:pPr>
            </a:p>
          </p:txBody>
        </p:sp>
      </p:grpSp>
      <p:sp>
        <p:nvSpPr>
          <p:cNvPr name="TextBox 7" id="7"/>
          <p:cNvSpPr txBox="true"/>
          <p:nvPr/>
        </p:nvSpPr>
        <p:spPr>
          <a:xfrm rot="0">
            <a:off x="8021110" y="782737"/>
            <a:ext cx="2492949" cy="351790"/>
          </a:xfrm>
          <a:prstGeom prst="rect">
            <a:avLst/>
          </a:prstGeom>
        </p:spPr>
        <p:txBody>
          <a:bodyPr anchor="t" rtlCol="false" tIns="0" lIns="0" bIns="0" rIns="0">
            <a:spAutoFit/>
          </a:bodyPr>
          <a:lstStyle/>
          <a:p>
            <a:pPr algn="l">
              <a:lnSpc>
                <a:spcPts val="2660"/>
              </a:lnSpc>
              <a:spcBef>
                <a:spcPct val="0"/>
              </a:spcBef>
            </a:pPr>
            <a:r>
              <a:rPr lang="en-US" sz="1900" spc="95">
                <a:solidFill>
                  <a:srgbClr val="164B82"/>
                </a:solidFill>
                <a:latin typeface="Telegraf Extra-Light"/>
                <a:ea typeface="Telegraf Extra-Light"/>
                <a:cs typeface="Telegraf Extra-Light"/>
                <a:sym typeface="Telegraf Extra-Light"/>
              </a:rPr>
              <a:t>Studio Shodwe</a:t>
            </a:r>
          </a:p>
        </p:txBody>
      </p:sp>
      <p:sp>
        <p:nvSpPr>
          <p:cNvPr name="TextBox 8" id="8"/>
          <p:cNvSpPr txBox="true"/>
          <p:nvPr/>
        </p:nvSpPr>
        <p:spPr>
          <a:xfrm rot="0">
            <a:off x="13305333" y="782737"/>
            <a:ext cx="1819999" cy="351790"/>
          </a:xfrm>
          <a:prstGeom prst="rect">
            <a:avLst/>
          </a:prstGeom>
        </p:spPr>
        <p:txBody>
          <a:bodyPr anchor="t" rtlCol="false" tIns="0" lIns="0" bIns="0" rIns="0">
            <a:spAutoFit/>
          </a:bodyPr>
          <a:lstStyle/>
          <a:p>
            <a:pPr algn="r">
              <a:lnSpc>
                <a:spcPts val="2660"/>
              </a:lnSpc>
              <a:spcBef>
                <a:spcPct val="0"/>
              </a:spcBef>
            </a:pPr>
            <a:r>
              <a:rPr lang="en-US" sz="1900" spc="95">
                <a:solidFill>
                  <a:srgbClr val="164B82"/>
                </a:solidFill>
                <a:latin typeface="Telegraf Extra-Light"/>
                <a:ea typeface="Telegraf Extra-Light"/>
                <a:cs typeface="Telegraf Extra-Light"/>
                <a:sym typeface="Telegraf Extra-Light"/>
              </a:rPr>
              <a:t>2024</a:t>
            </a:r>
          </a:p>
        </p:txBody>
      </p:sp>
      <p:sp>
        <p:nvSpPr>
          <p:cNvPr name="TextBox 9" id="9"/>
          <p:cNvSpPr txBox="true"/>
          <p:nvPr/>
        </p:nvSpPr>
        <p:spPr>
          <a:xfrm rot="0">
            <a:off x="11045641" y="782737"/>
            <a:ext cx="1819999" cy="351790"/>
          </a:xfrm>
          <a:prstGeom prst="rect">
            <a:avLst/>
          </a:prstGeom>
        </p:spPr>
        <p:txBody>
          <a:bodyPr anchor="t" rtlCol="false" tIns="0" lIns="0" bIns="0" rIns="0">
            <a:spAutoFit/>
          </a:bodyPr>
          <a:lstStyle/>
          <a:p>
            <a:pPr algn="ctr">
              <a:lnSpc>
                <a:spcPts val="2660"/>
              </a:lnSpc>
              <a:spcBef>
                <a:spcPct val="0"/>
              </a:spcBef>
            </a:pPr>
            <a:r>
              <a:rPr lang="en-US" sz="1900" spc="95">
                <a:solidFill>
                  <a:srgbClr val="164B82"/>
                </a:solidFill>
                <a:latin typeface="Telegraf Extra-Light"/>
                <a:ea typeface="Telegraf Extra-Light"/>
                <a:cs typeface="Telegraf Extra-Light"/>
                <a:sym typeface="Telegraf Extra-Light"/>
              </a:rPr>
              <a:t>Project.</a:t>
            </a:r>
          </a:p>
        </p:txBody>
      </p:sp>
      <p:grpSp>
        <p:nvGrpSpPr>
          <p:cNvPr name="Group 10" id="10"/>
          <p:cNvGrpSpPr/>
          <p:nvPr/>
        </p:nvGrpSpPr>
        <p:grpSpPr>
          <a:xfrm rot="5400000">
            <a:off x="11279340" y="-3711595"/>
            <a:ext cx="643045" cy="9407130"/>
            <a:chOff x="0" y="0"/>
            <a:chExt cx="169362" cy="2477598"/>
          </a:xfrm>
        </p:grpSpPr>
        <p:sp>
          <p:nvSpPr>
            <p:cNvPr name="Freeform 11" id="11"/>
            <p:cNvSpPr/>
            <p:nvPr/>
          </p:nvSpPr>
          <p:spPr>
            <a:xfrm flipH="false" flipV="false" rot="0">
              <a:off x="0" y="0"/>
              <a:ext cx="169362" cy="2477598"/>
            </a:xfrm>
            <a:custGeom>
              <a:avLst/>
              <a:gdLst/>
              <a:ahLst/>
              <a:cxnLst/>
              <a:rect r="r" b="b" t="t" l="l"/>
              <a:pathLst>
                <a:path h="2477598" w="169362">
                  <a:moveTo>
                    <a:pt x="84681" y="0"/>
                  </a:moveTo>
                  <a:lnTo>
                    <a:pt x="84681" y="0"/>
                  </a:lnTo>
                  <a:cubicBezTo>
                    <a:pt x="107140" y="0"/>
                    <a:pt x="128678" y="8922"/>
                    <a:pt x="144559" y="24802"/>
                  </a:cubicBezTo>
                  <a:cubicBezTo>
                    <a:pt x="160440" y="40683"/>
                    <a:pt x="169362" y="62222"/>
                    <a:pt x="169362" y="84681"/>
                  </a:cubicBezTo>
                  <a:lnTo>
                    <a:pt x="169362" y="2392917"/>
                  </a:lnTo>
                  <a:cubicBezTo>
                    <a:pt x="169362" y="2439685"/>
                    <a:pt x="131449" y="2477598"/>
                    <a:pt x="84681" y="2477598"/>
                  </a:cubicBezTo>
                  <a:lnTo>
                    <a:pt x="84681" y="2477598"/>
                  </a:lnTo>
                  <a:cubicBezTo>
                    <a:pt x="37913" y="2477598"/>
                    <a:pt x="0" y="2439685"/>
                    <a:pt x="0" y="2392917"/>
                  </a:cubicBezTo>
                  <a:lnTo>
                    <a:pt x="0" y="84681"/>
                  </a:lnTo>
                  <a:cubicBezTo>
                    <a:pt x="0" y="37913"/>
                    <a:pt x="37913" y="0"/>
                    <a:pt x="84681" y="0"/>
                  </a:cubicBezTo>
                  <a:close/>
                </a:path>
              </a:pathLst>
            </a:custGeom>
            <a:ln w="19050" cap="rnd">
              <a:solidFill>
                <a:srgbClr val="164B82"/>
              </a:solidFill>
              <a:prstDash val="solid"/>
              <a:round/>
            </a:ln>
          </p:spPr>
        </p:sp>
        <p:sp>
          <p:nvSpPr>
            <p:cNvPr name="TextBox 12" id="12"/>
            <p:cNvSpPr txBox="true"/>
            <p:nvPr/>
          </p:nvSpPr>
          <p:spPr>
            <a:xfrm>
              <a:off x="0" y="-57150"/>
              <a:ext cx="169362" cy="2534748"/>
            </a:xfrm>
            <a:prstGeom prst="rect">
              <a:avLst/>
            </a:prstGeom>
          </p:spPr>
          <p:txBody>
            <a:bodyPr anchor="ctr" rtlCol="false" tIns="50800" lIns="50800" bIns="50800" rIns="50800"/>
            <a:lstStyle/>
            <a:p>
              <a:pPr algn="ctr">
                <a:lnSpc>
                  <a:spcPts val="3639"/>
                </a:lnSpc>
              </a:pPr>
            </a:p>
          </p:txBody>
        </p:sp>
      </p:grpSp>
      <p:sp>
        <p:nvSpPr>
          <p:cNvPr name="Freeform 13" id="13"/>
          <p:cNvSpPr/>
          <p:nvPr/>
        </p:nvSpPr>
        <p:spPr>
          <a:xfrm flipH="false" flipV="false" rot="0">
            <a:off x="2770963" y="7510237"/>
            <a:ext cx="11769275" cy="2456836"/>
          </a:xfrm>
          <a:custGeom>
            <a:avLst/>
            <a:gdLst/>
            <a:ahLst/>
            <a:cxnLst/>
            <a:rect r="r" b="b" t="t" l="l"/>
            <a:pathLst>
              <a:path h="2456836" w="11769275">
                <a:moveTo>
                  <a:pt x="0" y="0"/>
                </a:moveTo>
                <a:lnTo>
                  <a:pt x="11769275" y="0"/>
                </a:lnTo>
                <a:lnTo>
                  <a:pt x="11769275" y="2456836"/>
                </a:lnTo>
                <a:lnTo>
                  <a:pt x="0" y="2456836"/>
                </a:lnTo>
                <a:lnTo>
                  <a:pt x="0" y="0"/>
                </a:lnTo>
                <a:close/>
              </a:path>
            </a:pathLst>
          </a:custGeom>
          <a:blipFill>
            <a:blip r:embed="rId4"/>
            <a:stretch>
              <a:fillRect l="0" t="0" r="0" b="0"/>
            </a:stretch>
          </a:blipFill>
        </p:spPr>
      </p:sp>
      <p:sp>
        <p:nvSpPr>
          <p:cNvPr name="Freeform 14" id="14"/>
          <p:cNvSpPr/>
          <p:nvPr/>
        </p:nvSpPr>
        <p:spPr>
          <a:xfrm flipH="false" flipV="false" rot="0">
            <a:off x="5023514" y="3379181"/>
            <a:ext cx="7264174" cy="3904493"/>
          </a:xfrm>
          <a:custGeom>
            <a:avLst/>
            <a:gdLst/>
            <a:ahLst/>
            <a:cxnLst/>
            <a:rect r="r" b="b" t="t" l="l"/>
            <a:pathLst>
              <a:path h="3904493" w="7264174">
                <a:moveTo>
                  <a:pt x="0" y="0"/>
                </a:moveTo>
                <a:lnTo>
                  <a:pt x="7264174" y="0"/>
                </a:lnTo>
                <a:lnTo>
                  <a:pt x="7264174" y="3904494"/>
                </a:lnTo>
                <a:lnTo>
                  <a:pt x="0" y="3904494"/>
                </a:lnTo>
                <a:lnTo>
                  <a:pt x="0" y="0"/>
                </a:lnTo>
                <a:close/>
              </a:path>
            </a:pathLst>
          </a:custGeom>
          <a:blipFill>
            <a:blip r:embed="rId5"/>
            <a:stretch>
              <a:fillRect l="0" t="0" r="0" b="0"/>
            </a:stretch>
          </a:blipFill>
        </p:spPr>
      </p:sp>
      <p:sp>
        <p:nvSpPr>
          <p:cNvPr name="TextBox 15" id="15"/>
          <p:cNvSpPr txBox="true"/>
          <p:nvPr/>
        </p:nvSpPr>
        <p:spPr>
          <a:xfrm rot="0">
            <a:off x="651429" y="1993925"/>
            <a:ext cx="16985143" cy="695006"/>
          </a:xfrm>
          <a:prstGeom prst="rect">
            <a:avLst/>
          </a:prstGeom>
        </p:spPr>
        <p:txBody>
          <a:bodyPr anchor="t" rtlCol="false" tIns="0" lIns="0" bIns="0" rIns="0">
            <a:spAutoFit/>
          </a:bodyPr>
          <a:lstStyle/>
          <a:p>
            <a:pPr algn="l">
              <a:lnSpc>
                <a:spcPts val="4733"/>
              </a:lnSpc>
            </a:pPr>
            <a:r>
              <a:rPr lang="en-US" sz="4880" b="true">
                <a:solidFill>
                  <a:srgbClr val="343434"/>
                </a:solidFill>
                <a:latin typeface="Telegraf Bold"/>
                <a:ea typeface="Telegraf Bold"/>
                <a:cs typeface="Telegraf Bold"/>
                <a:sym typeface="Telegraf Bold"/>
              </a:rPr>
              <a:t>ĐIỀU CHỈNH LỢI NHUẬN THỰC TẾ THEO LẠM PHÁT</a:t>
            </a:r>
          </a:p>
        </p:txBody>
      </p:sp>
      <p:sp>
        <p:nvSpPr>
          <p:cNvPr name="TextBox 16" id="16"/>
          <p:cNvSpPr txBox="true"/>
          <p:nvPr/>
        </p:nvSpPr>
        <p:spPr>
          <a:xfrm rot="0">
            <a:off x="1028700" y="2698460"/>
            <a:ext cx="7224712" cy="575946"/>
          </a:xfrm>
          <a:prstGeom prst="rect">
            <a:avLst/>
          </a:prstGeom>
        </p:spPr>
        <p:txBody>
          <a:bodyPr anchor="t" rtlCol="false" tIns="0" lIns="0" bIns="0" rIns="0">
            <a:spAutoFit/>
          </a:bodyPr>
          <a:lstStyle/>
          <a:p>
            <a:pPr algn="l" marL="0" indent="0" lvl="1">
              <a:lnSpc>
                <a:spcPts val="4479"/>
              </a:lnSpc>
              <a:spcBef>
                <a:spcPct val="0"/>
              </a:spcBef>
            </a:pPr>
            <a:r>
              <a:rPr lang="en-US" b="true" sz="3199" spc="159">
                <a:solidFill>
                  <a:srgbClr val="343434"/>
                </a:solidFill>
                <a:latin typeface="Telegraf Bold"/>
                <a:ea typeface="Telegraf Bold"/>
                <a:cs typeface="Telegraf Bold"/>
                <a:sym typeface="Telegraf Bold"/>
              </a:rPr>
              <a:t>Trực quan hóa lợi nhuận thực tế:</a:t>
            </a:r>
          </a:p>
        </p:txBody>
      </p:sp>
    </p:spTree>
  </p:cSld>
  <p:clrMapOvr>
    <a:masterClrMapping/>
  </p:clrMapOvr>
</p:sld>
</file>

<file path=ppt/slides/slide23.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225008">
            <a:off x="-467361" y="-2757747"/>
            <a:ext cx="12701350" cy="5382197"/>
          </a:xfrm>
          <a:custGeom>
            <a:avLst/>
            <a:gdLst/>
            <a:ahLst/>
            <a:cxnLst/>
            <a:rect r="r" b="b" t="t" l="l"/>
            <a:pathLst>
              <a:path h="5382197" w="12701350">
                <a:moveTo>
                  <a:pt x="0" y="0"/>
                </a:moveTo>
                <a:lnTo>
                  <a:pt x="12701349" y="0"/>
                </a:lnTo>
                <a:lnTo>
                  <a:pt x="12701349" y="5382197"/>
                </a:lnTo>
                <a:lnTo>
                  <a:pt x="0" y="5382197"/>
                </a:lnTo>
                <a:lnTo>
                  <a:pt x="0" y="0"/>
                </a:lnTo>
                <a:close/>
              </a:path>
            </a:pathLst>
          </a:custGeom>
          <a:blipFill>
            <a:blip r:embed="rId2"/>
            <a:stretch>
              <a:fillRect l="0" t="0" r="0" b="0"/>
            </a:stretch>
          </a:blipFill>
        </p:spPr>
      </p:sp>
      <p:sp>
        <p:nvSpPr>
          <p:cNvPr name="Freeform 3" id="3"/>
          <p:cNvSpPr/>
          <p:nvPr/>
        </p:nvSpPr>
        <p:spPr>
          <a:xfrm flipH="false" flipV="false" rot="0">
            <a:off x="14417314" y="7193047"/>
            <a:ext cx="11514218" cy="8506128"/>
          </a:xfrm>
          <a:custGeom>
            <a:avLst/>
            <a:gdLst/>
            <a:ahLst/>
            <a:cxnLst/>
            <a:rect r="r" b="b" t="t" l="l"/>
            <a:pathLst>
              <a:path h="8506128" w="11514218">
                <a:moveTo>
                  <a:pt x="0" y="0"/>
                </a:moveTo>
                <a:lnTo>
                  <a:pt x="11514218" y="0"/>
                </a:lnTo>
                <a:lnTo>
                  <a:pt x="11514218" y="8506129"/>
                </a:lnTo>
                <a:lnTo>
                  <a:pt x="0" y="8506129"/>
                </a:lnTo>
                <a:lnTo>
                  <a:pt x="0" y="0"/>
                </a:lnTo>
                <a:close/>
              </a:path>
            </a:pathLst>
          </a:custGeom>
          <a:blipFill>
            <a:blip r:embed="rId3"/>
            <a:stretch>
              <a:fillRect l="0" t="0" r="0" b="0"/>
            </a:stretch>
          </a:blipFill>
        </p:spPr>
      </p:sp>
      <p:grpSp>
        <p:nvGrpSpPr>
          <p:cNvPr name="Group 4" id="4"/>
          <p:cNvGrpSpPr/>
          <p:nvPr/>
        </p:nvGrpSpPr>
        <p:grpSpPr>
          <a:xfrm rot="0">
            <a:off x="17259300" y="-392510"/>
            <a:ext cx="1437565" cy="11072020"/>
            <a:chOff x="0" y="0"/>
            <a:chExt cx="378618" cy="2916088"/>
          </a:xfrm>
        </p:grpSpPr>
        <p:sp>
          <p:nvSpPr>
            <p:cNvPr name="Freeform 5" id="5"/>
            <p:cNvSpPr/>
            <p:nvPr/>
          </p:nvSpPr>
          <p:spPr>
            <a:xfrm flipH="false" flipV="false" rot="0">
              <a:off x="0" y="0"/>
              <a:ext cx="378618" cy="2916088"/>
            </a:xfrm>
            <a:custGeom>
              <a:avLst/>
              <a:gdLst/>
              <a:ahLst/>
              <a:cxnLst/>
              <a:rect r="r" b="b" t="t" l="l"/>
              <a:pathLst>
                <a:path h="2916088" w="378618">
                  <a:moveTo>
                    <a:pt x="0" y="0"/>
                  </a:moveTo>
                  <a:lnTo>
                    <a:pt x="378618" y="0"/>
                  </a:lnTo>
                  <a:lnTo>
                    <a:pt x="378618" y="2916088"/>
                  </a:lnTo>
                  <a:lnTo>
                    <a:pt x="0" y="2916088"/>
                  </a:lnTo>
                  <a:close/>
                </a:path>
              </a:pathLst>
            </a:custGeom>
            <a:gradFill rotWithShape="true">
              <a:gsLst>
                <a:gs pos="0">
                  <a:srgbClr val="E4B795">
                    <a:alpha val="100000"/>
                  </a:srgbClr>
                </a:gs>
                <a:gs pos="50000">
                  <a:srgbClr val="699ACD">
                    <a:alpha val="100000"/>
                  </a:srgbClr>
                </a:gs>
                <a:gs pos="100000">
                  <a:srgbClr val="2F679F">
                    <a:alpha val="100000"/>
                  </a:srgbClr>
                </a:gs>
              </a:gsLst>
              <a:path path="circle">
                <a:fillToRect l="0" r="100000" t="0" b="100000"/>
              </a:path>
              <a:tileRect r="0" l="-100000" b="0" t="-100000"/>
            </a:gradFill>
          </p:spPr>
        </p:sp>
        <p:sp>
          <p:nvSpPr>
            <p:cNvPr name="TextBox 6" id="6"/>
            <p:cNvSpPr txBox="true"/>
            <p:nvPr/>
          </p:nvSpPr>
          <p:spPr>
            <a:xfrm>
              <a:off x="0" y="-57150"/>
              <a:ext cx="378618" cy="2973238"/>
            </a:xfrm>
            <a:prstGeom prst="rect">
              <a:avLst/>
            </a:prstGeom>
          </p:spPr>
          <p:txBody>
            <a:bodyPr anchor="ctr" rtlCol="false" tIns="50800" lIns="50800" bIns="50800" rIns="50800"/>
            <a:lstStyle/>
            <a:p>
              <a:pPr algn="ctr">
                <a:lnSpc>
                  <a:spcPts val="3639"/>
                </a:lnSpc>
              </a:pPr>
            </a:p>
          </p:txBody>
        </p:sp>
      </p:grpSp>
      <p:sp>
        <p:nvSpPr>
          <p:cNvPr name="TextBox 7" id="7"/>
          <p:cNvSpPr txBox="true"/>
          <p:nvPr/>
        </p:nvSpPr>
        <p:spPr>
          <a:xfrm rot="0">
            <a:off x="8021110" y="782737"/>
            <a:ext cx="2492949" cy="351790"/>
          </a:xfrm>
          <a:prstGeom prst="rect">
            <a:avLst/>
          </a:prstGeom>
        </p:spPr>
        <p:txBody>
          <a:bodyPr anchor="t" rtlCol="false" tIns="0" lIns="0" bIns="0" rIns="0">
            <a:spAutoFit/>
          </a:bodyPr>
          <a:lstStyle/>
          <a:p>
            <a:pPr algn="l">
              <a:lnSpc>
                <a:spcPts val="2660"/>
              </a:lnSpc>
              <a:spcBef>
                <a:spcPct val="0"/>
              </a:spcBef>
            </a:pPr>
            <a:r>
              <a:rPr lang="en-US" sz="1900" spc="95">
                <a:solidFill>
                  <a:srgbClr val="164B82"/>
                </a:solidFill>
                <a:latin typeface="Telegraf Extra-Light"/>
                <a:ea typeface="Telegraf Extra-Light"/>
                <a:cs typeface="Telegraf Extra-Light"/>
                <a:sym typeface="Telegraf Extra-Light"/>
              </a:rPr>
              <a:t>Studio Shodwe</a:t>
            </a:r>
          </a:p>
        </p:txBody>
      </p:sp>
      <p:sp>
        <p:nvSpPr>
          <p:cNvPr name="TextBox 8" id="8"/>
          <p:cNvSpPr txBox="true"/>
          <p:nvPr/>
        </p:nvSpPr>
        <p:spPr>
          <a:xfrm rot="0">
            <a:off x="13305333" y="782737"/>
            <a:ext cx="1819999" cy="351790"/>
          </a:xfrm>
          <a:prstGeom prst="rect">
            <a:avLst/>
          </a:prstGeom>
        </p:spPr>
        <p:txBody>
          <a:bodyPr anchor="t" rtlCol="false" tIns="0" lIns="0" bIns="0" rIns="0">
            <a:spAutoFit/>
          </a:bodyPr>
          <a:lstStyle/>
          <a:p>
            <a:pPr algn="r">
              <a:lnSpc>
                <a:spcPts val="2660"/>
              </a:lnSpc>
              <a:spcBef>
                <a:spcPct val="0"/>
              </a:spcBef>
            </a:pPr>
            <a:r>
              <a:rPr lang="en-US" sz="1900" spc="95">
                <a:solidFill>
                  <a:srgbClr val="164B82"/>
                </a:solidFill>
                <a:latin typeface="Telegraf Extra-Light"/>
                <a:ea typeface="Telegraf Extra-Light"/>
                <a:cs typeface="Telegraf Extra-Light"/>
                <a:sym typeface="Telegraf Extra-Light"/>
              </a:rPr>
              <a:t>2024</a:t>
            </a:r>
          </a:p>
        </p:txBody>
      </p:sp>
      <p:sp>
        <p:nvSpPr>
          <p:cNvPr name="TextBox 9" id="9"/>
          <p:cNvSpPr txBox="true"/>
          <p:nvPr/>
        </p:nvSpPr>
        <p:spPr>
          <a:xfrm rot="0">
            <a:off x="11045641" y="782737"/>
            <a:ext cx="1819999" cy="351790"/>
          </a:xfrm>
          <a:prstGeom prst="rect">
            <a:avLst/>
          </a:prstGeom>
        </p:spPr>
        <p:txBody>
          <a:bodyPr anchor="t" rtlCol="false" tIns="0" lIns="0" bIns="0" rIns="0">
            <a:spAutoFit/>
          </a:bodyPr>
          <a:lstStyle/>
          <a:p>
            <a:pPr algn="ctr">
              <a:lnSpc>
                <a:spcPts val="2660"/>
              </a:lnSpc>
              <a:spcBef>
                <a:spcPct val="0"/>
              </a:spcBef>
            </a:pPr>
            <a:r>
              <a:rPr lang="en-US" sz="1900" spc="95">
                <a:solidFill>
                  <a:srgbClr val="164B82"/>
                </a:solidFill>
                <a:latin typeface="Telegraf Extra-Light"/>
                <a:ea typeface="Telegraf Extra-Light"/>
                <a:cs typeface="Telegraf Extra-Light"/>
                <a:sym typeface="Telegraf Extra-Light"/>
              </a:rPr>
              <a:t>Project.</a:t>
            </a:r>
          </a:p>
        </p:txBody>
      </p:sp>
      <p:grpSp>
        <p:nvGrpSpPr>
          <p:cNvPr name="Group 10" id="10"/>
          <p:cNvGrpSpPr/>
          <p:nvPr/>
        </p:nvGrpSpPr>
        <p:grpSpPr>
          <a:xfrm rot="5400000">
            <a:off x="11279340" y="-3711595"/>
            <a:ext cx="643045" cy="9407130"/>
            <a:chOff x="0" y="0"/>
            <a:chExt cx="169362" cy="2477598"/>
          </a:xfrm>
        </p:grpSpPr>
        <p:sp>
          <p:nvSpPr>
            <p:cNvPr name="Freeform 11" id="11"/>
            <p:cNvSpPr/>
            <p:nvPr/>
          </p:nvSpPr>
          <p:spPr>
            <a:xfrm flipH="false" flipV="false" rot="0">
              <a:off x="0" y="0"/>
              <a:ext cx="169362" cy="2477598"/>
            </a:xfrm>
            <a:custGeom>
              <a:avLst/>
              <a:gdLst/>
              <a:ahLst/>
              <a:cxnLst/>
              <a:rect r="r" b="b" t="t" l="l"/>
              <a:pathLst>
                <a:path h="2477598" w="169362">
                  <a:moveTo>
                    <a:pt x="84681" y="0"/>
                  </a:moveTo>
                  <a:lnTo>
                    <a:pt x="84681" y="0"/>
                  </a:lnTo>
                  <a:cubicBezTo>
                    <a:pt x="107140" y="0"/>
                    <a:pt x="128678" y="8922"/>
                    <a:pt x="144559" y="24802"/>
                  </a:cubicBezTo>
                  <a:cubicBezTo>
                    <a:pt x="160440" y="40683"/>
                    <a:pt x="169362" y="62222"/>
                    <a:pt x="169362" y="84681"/>
                  </a:cubicBezTo>
                  <a:lnTo>
                    <a:pt x="169362" y="2392917"/>
                  </a:lnTo>
                  <a:cubicBezTo>
                    <a:pt x="169362" y="2439685"/>
                    <a:pt x="131449" y="2477598"/>
                    <a:pt x="84681" y="2477598"/>
                  </a:cubicBezTo>
                  <a:lnTo>
                    <a:pt x="84681" y="2477598"/>
                  </a:lnTo>
                  <a:cubicBezTo>
                    <a:pt x="37913" y="2477598"/>
                    <a:pt x="0" y="2439685"/>
                    <a:pt x="0" y="2392917"/>
                  </a:cubicBezTo>
                  <a:lnTo>
                    <a:pt x="0" y="84681"/>
                  </a:lnTo>
                  <a:cubicBezTo>
                    <a:pt x="0" y="37913"/>
                    <a:pt x="37913" y="0"/>
                    <a:pt x="84681" y="0"/>
                  </a:cubicBezTo>
                  <a:close/>
                </a:path>
              </a:pathLst>
            </a:custGeom>
            <a:ln w="19050" cap="rnd">
              <a:solidFill>
                <a:srgbClr val="164B82"/>
              </a:solidFill>
              <a:prstDash val="solid"/>
              <a:round/>
            </a:ln>
          </p:spPr>
        </p:sp>
        <p:sp>
          <p:nvSpPr>
            <p:cNvPr name="TextBox 12" id="12"/>
            <p:cNvSpPr txBox="true"/>
            <p:nvPr/>
          </p:nvSpPr>
          <p:spPr>
            <a:xfrm>
              <a:off x="0" y="-57150"/>
              <a:ext cx="169362" cy="2534748"/>
            </a:xfrm>
            <a:prstGeom prst="rect">
              <a:avLst/>
            </a:prstGeom>
          </p:spPr>
          <p:txBody>
            <a:bodyPr anchor="ctr" rtlCol="false" tIns="50800" lIns="50800" bIns="50800" rIns="50800"/>
            <a:lstStyle/>
            <a:p>
              <a:pPr algn="ctr">
                <a:lnSpc>
                  <a:spcPts val="3639"/>
                </a:lnSpc>
              </a:pPr>
            </a:p>
          </p:txBody>
        </p:sp>
      </p:grpSp>
      <p:sp>
        <p:nvSpPr>
          <p:cNvPr name="Freeform 13" id="13"/>
          <p:cNvSpPr/>
          <p:nvPr/>
        </p:nvSpPr>
        <p:spPr>
          <a:xfrm flipH="false" flipV="false" rot="0">
            <a:off x="12330015" y="3559218"/>
            <a:ext cx="2547024" cy="2028468"/>
          </a:xfrm>
          <a:custGeom>
            <a:avLst/>
            <a:gdLst/>
            <a:ahLst/>
            <a:cxnLst/>
            <a:rect r="r" b="b" t="t" l="l"/>
            <a:pathLst>
              <a:path h="2028468" w="2547024">
                <a:moveTo>
                  <a:pt x="0" y="0"/>
                </a:moveTo>
                <a:lnTo>
                  <a:pt x="2547024" y="0"/>
                </a:lnTo>
                <a:lnTo>
                  <a:pt x="2547024" y="2028468"/>
                </a:lnTo>
                <a:lnTo>
                  <a:pt x="0" y="2028468"/>
                </a:lnTo>
                <a:lnTo>
                  <a:pt x="0" y="0"/>
                </a:lnTo>
                <a:close/>
              </a:path>
            </a:pathLst>
          </a:custGeom>
          <a:blipFill>
            <a:blip r:embed="rId4"/>
            <a:stretch>
              <a:fillRect l="0" t="0" r="0" b="0"/>
            </a:stretch>
          </a:blipFill>
        </p:spPr>
      </p:sp>
      <p:sp>
        <p:nvSpPr>
          <p:cNvPr name="Freeform 14" id="14"/>
          <p:cNvSpPr/>
          <p:nvPr/>
        </p:nvSpPr>
        <p:spPr>
          <a:xfrm flipH="false" flipV="false" rot="0">
            <a:off x="11600862" y="6201942"/>
            <a:ext cx="803034" cy="713808"/>
          </a:xfrm>
          <a:custGeom>
            <a:avLst/>
            <a:gdLst/>
            <a:ahLst/>
            <a:cxnLst/>
            <a:rect r="r" b="b" t="t" l="l"/>
            <a:pathLst>
              <a:path h="713808" w="803034">
                <a:moveTo>
                  <a:pt x="0" y="0"/>
                </a:moveTo>
                <a:lnTo>
                  <a:pt x="803034" y="0"/>
                </a:lnTo>
                <a:lnTo>
                  <a:pt x="803034" y="713808"/>
                </a:lnTo>
                <a:lnTo>
                  <a:pt x="0" y="713808"/>
                </a:lnTo>
                <a:lnTo>
                  <a:pt x="0" y="0"/>
                </a:lnTo>
                <a:close/>
              </a:path>
            </a:pathLst>
          </a:custGeom>
          <a:blipFill>
            <a:blip r:embed="rId5"/>
            <a:stretch>
              <a:fillRect l="0" t="0" r="0" b="0"/>
            </a:stretch>
          </a:blipFill>
        </p:spPr>
      </p:sp>
      <p:sp>
        <p:nvSpPr>
          <p:cNvPr name="Freeform 15" id="15"/>
          <p:cNvSpPr/>
          <p:nvPr/>
        </p:nvSpPr>
        <p:spPr>
          <a:xfrm flipH="false" flipV="false" rot="0">
            <a:off x="11702767" y="7355646"/>
            <a:ext cx="599225" cy="645319"/>
          </a:xfrm>
          <a:custGeom>
            <a:avLst/>
            <a:gdLst/>
            <a:ahLst/>
            <a:cxnLst/>
            <a:rect r="r" b="b" t="t" l="l"/>
            <a:pathLst>
              <a:path h="645319" w="599225">
                <a:moveTo>
                  <a:pt x="0" y="0"/>
                </a:moveTo>
                <a:lnTo>
                  <a:pt x="599225" y="0"/>
                </a:lnTo>
                <a:lnTo>
                  <a:pt x="599225" y="645319"/>
                </a:lnTo>
                <a:lnTo>
                  <a:pt x="0" y="645319"/>
                </a:lnTo>
                <a:lnTo>
                  <a:pt x="0" y="0"/>
                </a:lnTo>
                <a:close/>
              </a:path>
            </a:pathLst>
          </a:custGeom>
          <a:blipFill>
            <a:blip r:embed="rId6"/>
            <a:stretch>
              <a:fillRect l="0" t="0" r="0" b="0"/>
            </a:stretch>
          </a:blipFill>
        </p:spPr>
      </p:sp>
      <p:sp>
        <p:nvSpPr>
          <p:cNvPr name="TextBox 16" id="16"/>
          <p:cNvSpPr txBox="true"/>
          <p:nvPr/>
        </p:nvSpPr>
        <p:spPr>
          <a:xfrm rot="0">
            <a:off x="1028700" y="2058777"/>
            <a:ext cx="16985143" cy="695006"/>
          </a:xfrm>
          <a:prstGeom prst="rect">
            <a:avLst/>
          </a:prstGeom>
        </p:spPr>
        <p:txBody>
          <a:bodyPr anchor="t" rtlCol="false" tIns="0" lIns="0" bIns="0" rIns="0">
            <a:spAutoFit/>
          </a:bodyPr>
          <a:lstStyle/>
          <a:p>
            <a:pPr algn="l">
              <a:lnSpc>
                <a:spcPts val="4733"/>
              </a:lnSpc>
            </a:pPr>
            <a:r>
              <a:rPr lang="en-US" sz="4880" b="true">
                <a:solidFill>
                  <a:srgbClr val="343434"/>
                </a:solidFill>
                <a:latin typeface="Telegraf Bold"/>
                <a:ea typeface="Telegraf Bold"/>
                <a:cs typeface="Telegraf Bold"/>
                <a:sym typeface="Telegraf Bold"/>
              </a:rPr>
              <a:t>THAY ĐỔI TẦN SUẤT DỮ LIỆU</a:t>
            </a:r>
          </a:p>
        </p:txBody>
      </p:sp>
      <p:sp>
        <p:nvSpPr>
          <p:cNvPr name="TextBox 17" id="17"/>
          <p:cNvSpPr txBox="true"/>
          <p:nvPr/>
        </p:nvSpPr>
        <p:spPr>
          <a:xfrm rot="0">
            <a:off x="1310718" y="2912152"/>
            <a:ext cx="8625325" cy="1217930"/>
          </a:xfrm>
          <a:prstGeom prst="rect">
            <a:avLst/>
          </a:prstGeom>
        </p:spPr>
        <p:txBody>
          <a:bodyPr anchor="t" rtlCol="false" tIns="0" lIns="0" bIns="0" rIns="0">
            <a:spAutoFit/>
          </a:bodyPr>
          <a:lstStyle/>
          <a:p>
            <a:pPr algn="l">
              <a:lnSpc>
                <a:spcPts val="3219"/>
              </a:lnSpc>
            </a:pPr>
            <a:r>
              <a:rPr lang="en-US" b="true" sz="2299">
                <a:solidFill>
                  <a:srgbClr val="000000"/>
                </a:solidFill>
                <a:latin typeface="Telegraf Bold"/>
                <a:ea typeface="Telegraf Bold"/>
                <a:cs typeface="Telegraf Bold"/>
                <a:sym typeface="Telegraf Bold"/>
              </a:rPr>
              <a:t>Nguyên lý: </a:t>
            </a:r>
            <a:r>
              <a:rPr lang="en-US" sz="2299">
                <a:solidFill>
                  <a:srgbClr val="000000"/>
                </a:solidFill>
                <a:latin typeface="Telegraf"/>
                <a:ea typeface="Telegraf"/>
                <a:cs typeface="Telegraf"/>
                <a:sym typeface="Telegraf"/>
              </a:rPr>
              <a:t>C</a:t>
            </a:r>
            <a:r>
              <a:rPr lang="en-US" sz="2299">
                <a:solidFill>
                  <a:srgbClr val="000000"/>
                </a:solidFill>
                <a:latin typeface="Telegraf"/>
                <a:ea typeface="Telegraf"/>
                <a:cs typeface="Telegraf"/>
                <a:sym typeface="Telegraf"/>
              </a:rPr>
              <a:t>huyển đổi dữ liệu từ tần suất cao (ví dụ: ngày) sang tần suất thấp hơn (ví dụ: tháng) hoặc ngược lại để đồng bộ hóa các bộ dữ liệu khác nhau</a:t>
            </a:r>
          </a:p>
        </p:txBody>
      </p:sp>
      <p:sp>
        <p:nvSpPr>
          <p:cNvPr name="TextBox 18" id="18"/>
          <p:cNvSpPr txBox="true"/>
          <p:nvPr/>
        </p:nvSpPr>
        <p:spPr>
          <a:xfrm rot="0">
            <a:off x="1028700" y="4272958"/>
            <a:ext cx="7634489" cy="542926"/>
          </a:xfrm>
          <a:prstGeom prst="rect">
            <a:avLst/>
          </a:prstGeom>
        </p:spPr>
        <p:txBody>
          <a:bodyPr anchor="t" rtlCol="false" tIns="0" lIns="0" bIns="0" rIns="0">
            <a:spAutoFit/>
          </a:bodyPr>
          <a:lstStyle/>
          <a:p>
            <a:pPr algn="ctr">
              <a:lnSpc>
                <a:spcPts val="4199"/>
              </a:lnSpc>
              <a:spcBef>
                <a:spcPct val="0"/>
              </a:spcBef>
            </a:pPr>
            <a:r>
              <a:rPr lang="en-US" b="true" sz="2999" spc="149">
                <a:solidFill>
                  <a:srgbClr val="000000"/>
                </a:solidFill>
                <a:latin typeface="Telegraf Bold"/>
                <a:ea typeface="Telegraf Bold"/>
                <a:cs typeface="Telegraf Bold"/>
                <a:sym typeface="Telegraf Bold"/>
              </a:rPr>
              <a:t>Quy luật căn bậc hai của thời gian</a:t>
            </a:r>
          </a:p>
        </p:txBody>
      </p:sp>
      <p:sp>
        <p:nvSpPr>
          <p:cNvPr name="TextBox 19" id="19"/>
          <p:cNvSpPr txBox="true"/>
          <p:nvPr/>
        </p:nvSpPr>
        <p:spPr>
          <a:xfrm rot="0">
            <a:off x="1280980" y="5067300"/>
            <a:ext cx="7986604" cy="417830"/>
          </a:xfrm>
          <a:prstGeom prst="rect">
            <a:avLst/>
          </a:prstGeom>
        </p:spPr>
        <p:txBody>
          <a:bodyPr anchor="t" rtlCol="false" tIns="0" lIns="0" bIns="0" rIns="0">
            <a:spAutoFit/>
          </a:bodyPr>
          <a:lstStyle/>
          <a:p>
            <a:pPr algn="l" marL="496567" indent="-248284" lvl="1">
              <a:lnSpc>
                <a:spcPts val="3219"/>
              </a:lnSpc>
              <a:spcBef>
                <a:spcPct val="0"/>
              </a:spcBef>
              <a:buFont typeface="Arial"/>
              <a:buChar char="•"/>
            </a:pPr>
            <a:r>
              <a:rPr lang="en-US" sz="2299" strike="noStrike" u="none">
                <a:solidFill>
                  <a:srgbClr val="000000"/>
                </a:solidFill>
                <a:latin typeface="Telegraf"/>
                <a:ea typeface="Telegraf"/>
                <a:cs typeface="Telegraf"/>
                <a:sym typeface="Telegraf"/>
              </a:rPr>
              <a:t>Phương sai của lợi nhuận logarit tỷ lệ thuận với thời gian</a:t>
            </a:r>
          </a:p>
        </p:txBody>
      </p:sp>
      <p:sp>
        <p:nvSpPr>
          <p:cNvPr name="TextBox 20" id="20"/>
          <p:cNvSpPr txBox="true"/>
          <p:nvPr/>
        </p:nvSpPr>
        <p:spPr>
          <a:xfrm rot="0">
            <a:off x="1280980" y="5732780"/>
            <a:ext cx="8135904" cy="817880"/>
          </a:xfrm>
          <a:prstGeom prst="rect">
            <a:avLst/>
          </a:prstGeom>
        </p:spPr>
        <p:txBody>
          <a:bodyPr anchor="t" rtlCol="false" tIns="0" lIns="0" bIns="0" rIns="0">
            <a:spAutoFit/>
          </a:bodyPr>
          <a:lstStyle/>
          <a:p>
            <a:pPr algn="l" marL="496567" indent="-248284" lvl="1">
              <a:lnSpc>
                <a:spcPts val="3219"/>
              </a:lnSpc>
              <a:spcBef>
                <a:spcPct val="0"/>
              </a:spcBef>
              <a:buFont typeface="Arial"/>
              <a:buChar char="•"/>
            </a:pPr>
            <a:r>
              <a:rPr lang="en-US" sz="2299" strike="noStrike" u="none">
                <a:solidFill>
                  <a:srgbClr val="000000"/>
                </a:solidFill>
                <a:latin typeface="Telegraf"/>
                <a:ea typeface="Telegraf"/>
                <a:cs typeface="Telegraf"/>
                <a:sym typeface="Telegraf"/>
              </a:rPr>
              <a:t>Độ lệch chuẩn (Biến động - Volatility) tỷ lệ thuận với căn bậc hai của thời gian</a:t>
            </a:r>
          </a:p>
        </p:txBody>
      </p:sp>
      <p:sp>
        <p:nvSpPr>
          <p:cNvPr name="TextBox 21" id="21"/>
          <p:cNvSpPr txBox="true"/>
          <p:nvPr/>
        </p:nvSpPr>
        <p:spPr>
          <a:xfrm rot="0">
            <a:off x="11600862" y="2910616"/>
            <a:ext cx="7634489" cy="542926"/>
          </a:xfrm>
          <a:prstGeom prst="rect">
            <a:avLst/>
          </a:prstGeom>
        </p:spPr>
        <p:txBody>
          <a:bodyPr anchor="t" rtlCol="false" tIns="0" lIns="0" bIns="0" rIns="0">
            <a:spAutoFit/>
          </a:bodyPr>
          <a:lstStyle/>
          <a:p>
            <a:pPr algn="l">
              <a:lnSpc>
                <a:spcPts val="4199"/>
              </a:lnSpc>
              <a:spcBef>
                <a:spcPct val="0"/>
              </a:spcBef>
            </a:pPr>
            <a:r>
              <a:rPr lang="en-US" b="true" sz="2999" spc="149">
                <a:solidFill>
                  <a:srgbClr val="000000"/>
                </a:solidFill>
                <a:latin typeface="Telegraf Bold"/>
                <a:ea typeface="Telegraf Bold"/>
                <a:cs typeface="Telegraf Bold"/>
                <a:sym typeface="Telegraf Bold"/>
              </a:rPr>
              <a:t>Công thức</a:t>
            </a:r>
          </a:p>
        </p:txBody>
      </p:sp>
      <p:sp>
        <p:nvSpPr>
          <p:cNvPr name="TextBox 22" id="22"/>
          <p:cNvSpPr txBox="true"/>
          <p:nvPr/>
        </p:nvSpPr>
        <p:spPr>
          <a:xfrm rot="0">
            <a:off x="12453792" y="6387786"/>
            <a:ext cx="2423247" cy="417830"/>
          </a:xfrm>
          <a:prstGeom prst="rect">
            <a:avLst/>
          </a:prstGeom>
        </p:spPr>
        <p:txBody>
          <a:bodyPr anchor="t" rtlCol="false" tIns="0" lIns="0" bIns="0" rIns="0">
            <a:spAutoFit/>
          </a:bodyPr>
          <a:lstStyle/>
          <a:p>
            <a:pPr algn="l" marL="0" indent="0" lvl="1">
              <a:lnSpc>
                <a:spcPts val="3219"/>
              </a:lnSpc>
              <a:spcBef>
                <a:spcPct val="0"/>
              </a:spcBef>
            </a:pPr>
            <a:r>
              <a:rPr lang="en-US" sz="2299" strike="noStrike" u="none">
                <a:solidFill>
                  <a:srgbClr val="000000"/>
                </a:solidFill>
                <a:latin typeface="Telegraf"/>
                <a:ea typeface="Telegraf"/>
                <a:cs typeface="Telegraf"/>
                <a:sym typeface="Telegraf"/>
              </a:rPr>
              <a:t>Biến động thực tế</a:t>
            </a:r>
          </a:p>
        </p:txBody>
      </p:sp>
      <p:sp>
        <p:nvSpPr>
          <p:cNvPr name="TextBox 23" id="23"/>
          <p:cNvSpPr txBox="true"/>
          <p:nvPr/>
        </p:nvSpPr>
        <p:spPr>
          <a:xfrm rot="0">
            <a:off x="12403896" y="7444704"/>
            <a:ext cx="3384406" cy="417830"/>
          </a:xfrm>
          <a:prstGeom prst="rect">
            <a:avLst/>
          </a:prstGeom>
        </p:spPr>
        <p:txBody>
          <a:bodyPr anchor="t" rtlCol="false" tIns="0" lIns="0" bIns="0" rIns="0">
            <a:spAutoFit/>
          </a:bodyPr>
          <a:lstStyle/>
          <a:p>
            <a:pPr algn="l" marL="0" indent="0" lvl="1">
              <a:lnSpc>
                <a:spcPts val="3219"/>
              </a:lnSpc>
              <a:spcBef>
                <a:spcPct val="0"/>
              </a:spcBef>
            </a:pPr>
            <a:r>
              <a:rPr lang="en-US" sz="2299" strike="noStrike" u="none">
                <a:solidFill>
                  <a:srgbClr val="000000"/>
                </a:solidFill>
                <a:latin typeface="Telegraf"/>
                <a:ea typeface="Telegraf"/>
                <a:cs typeface="Telegraf"/>
                <a:sym typeface="Telegraf"/>
              </a:rPr>
              <a:t>lợi suất log tại thời điểm t</a:t>
            </a:r>
          </a:p>
        </p:txBody>
      </p:sp>
      <p:sp>
        <p:nvSpPr>
          <p:cNvPr name="TextBox 24" id="24"/>
          <p:cNvSpPr txBox="true"/>
          <p:nvPr/>
        </p:nvSpPr>
        <p:spPr>
          <a:xfrm rot="0">
            <a:off x="1310718" y="6650122"/>
            <a:ext cx="5175864" cy="542926"/>
          </a:xfrm>
          <a:prstGeom prst="rect">
            <a:avLst/>
          </a:prstGeom>
        </p:spPr>
        <p:txBody>
          <a:bodyPr anchor="t" rtlCol="false" tIns="0" lIns="0" bIns="0" rIns="0">
            <a:spAutoFit/>
          </a:bodyPr>
          <a:lstStyle/>
          <a:p>
            <a:pPr algn="ctr" marL="0" indent="0" lvl="0">
              <a:lnSpc>
                <a:spcPts val="4199"/>
              </a:lnSpc>
              <a:spcBef>
                <a:spcPct val="0"/>
              </a:spcBef>
            </a:pPr>
            <a:r>
              <a:rPr lang="en-US" b="true" sz="2999" spc="149" strike="noStrike" u="none">
                <a:solidFill>
                  <a:srgbClr val="000000"/>
                </a:solidFill>
                <a:latin typeface="Telegraf Bold"/>
                <a:ea typeface="Telegraf Bold"/>
                <a:cs typeface="Telegraf Bold"/>
                <a:sym typeface="Telegraf Bold"/>
              </a:rPr>
              <a:t>Công thức hàng năm hóa</a:t>
            </a:r>
          </a:p>
        </p:txBody>
      </p:sp>
      <p:sp>
        <p:nvSpPr>
          <p:cNvPr name="TextBox 25" id="25"/>
          <p:cNvSpPr txBox="true"/>
          <p:nvPr/>
        </p:nvSpPr>
        <p:spPr>
          <a:xfrm rot="0">
            <a:off x="1161419" y="7335922"/>
            <a:ext cx="9352641" cy="1217930"/>
          </a:xfrm>
          <a:prstGeom prst="rect">
            <a:avLst/>
          </a:prstGeom>
        </p:spPr>
        <p:txBody>
          <a:bodyPr anchor="t" rtlCol="false" tIns="0" lIns="0" bIns="0" rIns="0">
            <a:spAutoFit/>
          </a:bodyPr>
          <a:lstStyle/>
          <a:p>
            <a:pPr algn="l" marL="496567" indent="-248284" lvl="1">
              <a:lnSpc>
                <a:spcPts val="3219"/>
              </a:lnSpc>
              <a:spcBef>
                <a:spcPct val="0"/>
              </a:spcBef>
              <a:buFont typeface="Arial"/>
              <a:buChar char="•"/>
            </a:pPr>
            <a:r>
              <a:rPr lang="en-US" sz="2299" strike="noStrike" u="none">
                <a:solidFill>
                  <a:srgbClr val="000000"/>
                </a:solidFill>
                <a:latin typeface="Telegraf"/>
                <a:ea typeface="Telegraf"/>
                <a:cs typeface="Telegraf"/>
                <a:sym typeface="Telegraf"/>
              </a:rPr>
              <a:t>Để chuyển đổi biến động từ một tần suất thấp hơn sang tần suất năm, bạn cần nhân giá trị RV với căn bậc hai của số kỳ hạn trong một năm</a:t>
            </a:r>
          </a:p>
        </p:txBody>
      </p:sp>
      <p:sp>
        <p:nvSpPr>
          <p:cNvPr name="TextBox 26" id="26"/>
          <p:cNvSpPr txBox="true"/>
          <p:nvPr/>
        </p:nvSpPr>
        <p:spPr>
          <a:xfrm rot="0">
            <a:off x="1161419" y="8630053"/>
            <a:ext cx="10536491" cy="417830"/>
          </a:xfrm>
          <a:prstGeom prst="rect">
            <a:avLst/>
          </a:prstGeom>
        </p:spPr>
        <p:txBody>
          <a:bodyPr anchor="t" rtlCol="false" tIns="0" lIns="0" bIns="0" rIns="0">
            <a:spAutoFit/>
          </a:bodyPr>
          <a:lstStyle/>
          <a:p>
            <a:pPr algn="l" marL="496567" indent="-248284" lvl="1">
              <a:lnSpc>
                <a:spcPts val="3219"/>
              </a:lnSpc>
              <a:spcBef>
                <a:spcPct val="0"/>
              </a:spcBef>
              <a:buFont typeface="Arial"/>
              <a:buChar char="•"/>
            </a:pPr>
            <a:r>
              <a:rPr lang="en-US" sz="2299" strike="noStrike" u="none">
                <a:solidFill>
                  <a:srgbClr val="000000"/>
                </a:solidFill>
                <a:latin typeface="Telegraf"/>
                <a:ea typeface="Telegraf"/>
                <a:cs typeface="Telegraf"/>
                <a:sym typeface="Telegraf"/>
              </a:rPr>
              <a:t>Nếu có biến động thực tế theo tháng, để hàng năm hóa, nhân RV với căn 12</a:t>
            </a:r>
          </a:p>
        </p:txBody>
      </p:sp>
      <p:sp>
        <p:nvSpPr>
          <p:cNvPr name="TextBox 27" id="27"/>
          <p:cNvSpPr txBox="true"/>
          <p:nvPr/>
        </p:nvSpPr>
        <p:spPr>
          <a:xfrm rot="0">
            <a:off x="1161419" y="9171708"/>
            <a:ext cx="14626884" cy="817880"/>
          </a:xfrm>
          <a:prstGeom prst="rect">
            <a:avLst/>
          </a:prstGeom>
        </p:spPr>
        <p:txBody>
          <a:bodyPr anchor="t" rtlCol="false" tIns="0" lIns="0" bIns="0" rIns="0">
            <a:spAutoFit/>
          </a:bodyPr>
          <a:lstStyle/>
          <a:p>
            <a:pPr algn="l" marL="496567" indent="-248284" lvl="1">
              <a:lnSpc>
                <a:spcPts val="3219"/>
              </a:lnSpc>
              <a:spcBef>
                <a:spcPct val="0"/>
              </a:spcBef>
              <a:buFont typeface="Arial"/>
              <a:buChar char="•"/>
            </a:pPr>
            <a:r>
              <a:rPr lang="en-US" sz="2299" strike="noStrike" u="none">
                <a:solidFill>
                  <a:srgbClr val="000000"/>
                </a:solidFill>
                <a:latin typeface="Telegraf"/>
                <a:ea typeface="Telegraf"/>
                <a:cs typeface="Telegraf"/>
                <a:sym typeface="Telegraf"/>
              </a:rPr>
              <a:t>Nếu có biến động thực tế theo ngày, để hàng năm hóa, nhân RV với căn 252​ (đại diện cho số ngày giao dịch trung bình trong một năm)</a:t>
            </a:r>
          </a:p>
        </p:txBody>
      </p:sp>
    </p:spTree>
  </p:cSld>
  <p:clrMapOvr>
    <a:masterClrMapping/>
  </p:clrMapOvr>
</p:sld>
</file>

<file path=ppt/slides/slide24.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225008">
            <a:off x="10908625" y="-2218036"/>
            <a:ext cx="12701350" cy="5382197"/>
          </a:xfrm>
          <a:custGeom>
            <a:avLst/>
            <a:gdLst/>
            <a:ahLst/>
            <a:cxnLst/>
            <a:rect r="r" b="b" t="t" l="l"/>
            <a:pathLst>
              <a:path h="5382197" w="12701350">
                <a:moveTo>
                  <a:pt x="0" y="0"/>
                </a:moveTo>
                <a:lnTo>
                  <a:pt x="12701350" y="0"/>
                </a:lnTo>
                <a:lnTo>
                  <a:pt x="12701350" y="5382197"/>
                </a:lnTo>
                <a:lnTo>
                  <a:pt x="0" y="5382197"/>
                </a:lnTo>
                <a:lnTo>
                  <a:pt x="0" y="0"/>
                </a:lnTo>
                <a:close/>
              </a:path>
            </a:pathLst>
          </a:custGeom>
          <a:blipFill>
            <a:blip r:embed="rId2"/>
            <a:stretch>
              <a:fillRect l="0" t="0" r="0" b="0"/>
            </a:stretch>
          </a:blipFill>
        </p:spPr>
      </p:sp>
      <p:sp>
        <p:nvSpPr>
          <p:cNvPr name="Freeform 3" id="3"/>
          <p:cNvSpPr/>
          <p:nvPr/>
        </p:nvSpPr>
        <p:spPr>
          <a:xfrm flipH="false" flipV="false" rot="0">
            <a:off x="-4085690" y="6624649"/>
            <a:ext cx="11514218" cy="8506128"/>
          </a:xfrm>
          <a:custGeom>
            <a:avLst/>
            <a:gdLst/>
            <a:ahLst/>
            <a:cxnLst/>
            <a:rect r="r" b="b" t="t" l="l"/>
            <a:pathLst>
              <a:path h="8506128" w="11514218">
                <a:moveTo>
                  <a:pt x="0" y="0"/>
                </a:moveTo>
                <a:lnTo>
                  <a:pt x="11514218" y="0"/>
                </a:lnTo>
                <a:lnTo>
                  <a:pt x="11514218" y="8506129"/>
                </a:lnTo>
                <a:lnTo>
                  <a:pt x="0" y="8506129"/>
                </a:lnTo>
                <a:lnTo>
                  <a:pt x="0" y="0"/>
                </a:lnTo>
                <a:close/>
              </a:path>
            </a:pathLst>
          </a:custGeom>
          <a:blipFill>
            <a:blip r:embed="rId3"/>
            <a:stretch>
              <a:fillRect l="0" t="0" r="0" b="0"/>
            </a:stretch>
          </a:blipFill>
        </p:spPr>
      </p:sp>
      <p:grpSp>
        <p:nvGrpSpPr>
          <p:cNvPr name="Group 4" id="4"/>
          <p:cNvGrpSpPr/>
          <p:nvPr/>
        </p:nvGrpSpPr>
        <p:grpSpPr>
          <a:xfrm rot="0">
            <a:off x="17566604" y="-392510"/>
            <a:ext cx="1437565" cy="11072020"/>
            <a:chOff x="0" y="0"/>
            <a:chExt cx="378618" cy="2916088"/>
          </a:xfrm>
        </p:grpSpPr>
        <p:sp>
          <p:nvSpPr>
            <p:cNvPr name="Freeform 5" id="5"/>
            <p:cNvSpPr/>
            <p:nvPr/>
          </p:nvSpPr>
          <p:spPr>
            <a:xfrm flipH="false" flipV="false" rot="0">
              <a:off x="0" y="0"/>
              <a:ext cx="378618" cy="2916088"/>
            </a:xfrm>
            <a:custGeom>
              <a:avLst/>
              <a:gdLst/>
              <a:ahLst/>
              <a:cxnLst/>
              <a:rect r="r" b="b" t="t" l="l"/>
              <a:pathLst>
                <a:path h="2916088" w="378618">
                  <a:moveTo>
                    <a:pt x="0" y="0"/>
                  </a:moveTo>
                  <a:lnTo>
                    <a:pt x="378618" y="0"/>
                  </a:lnTo>
                  <a:lnTo>
                    <a:pt x="378618" y="2916088"/>
                  </a:lnTo>
                  <a:lnTo>
                    <a:pt x="0" y="2916088"/>
                  </a:lnTo>
                  <a:close/>
                </a:path>
              </a:pathLst>
            </a:custGeom>
            <a:gradFill rotWithShape="true">
              <a:gsLst>
                <a:gs pos="0">
                  <a:srgbClr val="E4B795">
                    <a:alpha val="100000"/>
                  </a:srgbClr>
                </a:gs>
                <a:gs pos="50000">
                  <a:srgbClr val="699ACD">
                    <a:alpha val="100000"/>
                  </a:srgbClr>
                </a:gs>
                <a:gs pos="100000">
                  <a:srgbClr val="2F679F">
                    <a:alpha val="100000"/>
                  </a:srgbClr>
                </a:gs>
              </a:gsLst>
              <a:path path="circle">
                <a:fillToRect l="0" r="100000" t="0" b="100000"/>
              </a:path>
              <a:tileRect r="0" l="-100000" b="0" t="-100000"/>
            </a:gradFill>
          </p:spPr>
        </p:sp>
        <p:sp>
          <p:nvSpPr>
            <p:cNvPr name="TextBox 6" id="6"/>
            <p:cNvSpPr txBox="true"/>
            <p:nvPr/>
          </p:nvSpPr>
          <p:spPr>
            <a:xfrm>
              <a:off x="0" y="-57150"/>
              <a:ext cx="378618" cy="2973238"/>
            </a:xfrm>
            <a:prstGeom prst="rect">
              <a:avLst/>
            </a:prstGeom>
          </p:spPr>
          <p:txBody>
            <a:bodyPr anchor="ctr" rtlCol="false" tIns="50800" lIns="50800" bIns="50800" rIns="50800"/>
            <a:lstStyle/>
            <a:p>
              <a:pPr algn="ctr">
                <a:lnSpc>
                  <a:spcPts val="3639"/>
                </a:lnSpc>
              </a:pPr>
            </a:p>
          </p:txBody>
        </p:sp>
      </p:grpSp>
      <p:sp>
        <p:nvSpPr>
          <p:cNvPr name="Freeform 7" id="7"/>
          <p:cNvSpPr/>
          <p:nvPr/>
        </p:nvSpPr>
        <p:spPr>
          <a:xfrm flipH="false" flipV="false" rot="0">
            <a:off x="2394276" y="6367146"/>
            <a:ext cx="13453913" cy="1547200"/>
          </a:xfrm>
          <a:custGeom>
            <a:avLst/>
            <a:gdLst/>
            <a:ahLst/>
            <a:cxnLst/>
            <a:rect r="r" b="b" t="t" l="l"/>
            <a:pathLst>
              <a:path h="1547200" w="13453913">
                <a:moveTo>
                  <a:pt x="0" y="0"/>
                </a:moveTo>
                <a:lnTo>
                  <a:pt x="13453913" y="0"/>
                </a:lnTo>
                <a:lnTo>
                  <a:pt x="13453913" y="1547200"/>
                </a:lnTo>
                <a:lnTo>
                  <a:pt x="0" y="1547200"/>
                </a:lnTo>
                <a:lnTo>
                  <a:pt x="0" y="0"/>
                </a:lnTo>
                <a:close/>
              </a:path>
            </a:pathLst>
          </a:custGeom>
          <a:blipFill>
            <a:blip r:embed="rId4"/>
            <a:stretch>
              <a:fillRect l="0" t="0" r="0" b="0"/>
            </a:stretch>
          </a:blipFill>
        </p:spPr>
      </p:sp>
      <p:sp>
        <p:nvSpPr>
          <p:cNvPr name="TextBox 8" id="8"/>
          <p:cNvSpPr txBox="true"/>
          <p:nvPr/>
        </p:nvSpPr>
        <p:spPr>
          <a:xfrm rot="0">
            <a:off x="992940" y="1423526"/>
            <a:ext cx="16985143" cy="695006"/>
          </a:xfrm>
          <a:prstGeom prst="rect">
            <a:avLst/>
          </a:prstGeom>
        </p:spPr>
        <p:txBody>
          <a:bodyPr anchor="t" rtlCol="false" tIns="0" lIns="0" bIns="0" rIns="0">
            <a:spAutoFit/>
          </a:bodyPr>
          <a:lstStyle/>
          <a:p>
            <a:pPr algn="l">
              <a:lnSpc>
                <a:spcPts val="4733"/>
              </a:lnSpc>
            </a:pPr>
            <a:r>
              <a:rPr lang="en-US" sz="4880" b="true">
                <a:solidFill>
                  <a:srgbClr val="343434"/>
                </a:solidFill>
                <a:latin typeface="Telegraf Bold"/>
                <a:ea typeface="Telegraf Bold"/>
                <a:cs typeface="Telegraf Bold"/>
                <a:sym typeface="Telegraf Bold"/>
              </a:rPr>
              <a:t>THAY ĐỔI TẦN SUẤT DỮ LIỆU</a:t>
            </a:r>
          </a:p>
        </p:txBody>
      </p:sp>
      <p:sp>
        <p:nvSpPr>
          <p:cNvPr name="TextBox 9" id="9"/>
          <p:cNvSpPr txBox="true"/>
          <p:nvPr/>
        </p:nvSpPr>
        <p:spPr>
          <a:xfrm rot="0">
            <a:off x="1502388" y="3155939"/>
            <a:ext cx="11005156" cy="417830"/>
          </a:xfrm>
          <a:prstGeom prst="rect">
            <a:avLst/>
          </a:prstGeom>
        </p:spPr>
        <p:txBody>
          <a:bodyPr anchor="t" rtlCol="false" tIns="0" lIns="0" bIns="0" rIns="0">
            <a:spAutoFit/>
          </a:bodyPr>
          <a:lstStyle/>
          <a:p>
            <a:pPr algn="l" marL="0" indent="0" lvl="1">
              <a:lnSpc>
                <a:spcPts val="3219"/>
              </a:lnSpc>
              <a:spcBef>
                <a:spcPct val="0"/>
              </a:spcBef>
            </a:pPr>
            <a:r>
              <a:rPr lang="en-US" b="true" sz="2299" strike="noStrike" u="none">
                <a:solidFill>
                  <a:srgbClr val="000000"/>
                </a:solidFill>
                <a:latin typeface="Telegraf Bold"/>
                <a:ea typeface="Telegraf Bold"/>
                <a:cs typeface="Telegraf Bold"/>
                <a:sym typeface="Telegraf Bold"/>
              </a:rPr>
              <a:t>Kỹ thuật Resample:</a:t>
            </a:r>
            <a:r>
              <a:rPr lang="en-US" sz="2299" strike="noStrike" u="none">
                <a:solidFill>
                  <a:srgbClr val="000000"/>
                </a:solidFill>
                <a:latin typeface="Telegraf"/>
                <a:ea typeface="Telegraf"/>
                <a:cs typeface="Telegraf"/>
                <a:sym typeface="Telegraf"/>
              </a:rPr>
              <a:t> Sử dụng resample trong Pandas để chuyển đổi dữ liệu </a:t>
            </a:r>
          </a:p>
        </p:txBody>
      </p:sp>
      <p:sp>
        <p:nvSpPr>
          <p:cNvPr name="TextBox 10" id="10"/>
          <p:cNvSpPr txBox="true"/>
          <p:nvPr/>
        </p:nvSpPr>
        <p:spPr>
          <a:xfrm rot="0">
            <a:off x="1502388" y="3726169"/>
            <a:ext cx="15237690" cy="817880"/>
          </a:xfrm>
          <a:prstGeom prst="rect">
            <a:avLst/>
          </a:prstGeom>
        </p:spPr>
        <p:txBody>
          <a:bodyPr anchor="t" rtlCol="false" tIns="0" lIns="0" bIns="0" rIns="0">
            <a:spAutoFit/>
          </a:bodyPr>
          <a:lstStyle/>
          <a:p>
            <a:pPr algn="l" marL="0" indent="0" lvl="1">
              <a:lnSpc>
                <a:spcPts val="3219"/>
              </a:lnSpc>
              <a:spcBef>
                <a:spcPct val="0"/>
              </a:spcBef>
            </a:pPr>
            <a:r>
              <a:rPr lang="en-US" sz="2299">
                <a:solidFill>
                  <a:srgbClr val="000000"/>
                </a:solidFill>
                <a:latin typeface="Telegraf"/>
                <a:ea typeface="Telegraf"/>
                <a:cs typeface="Telegraf"/>
                <a:sym typeface="Telegraf"/>
              </a:rPr>
              <a:t>P</a:t>
            </a:r>
            <a:r>
              <a:rPr lang="en-US" sz="2299" strike="noStrike" u="none">
                <a:solidFill>
                  <a:srgbClr val="000000"/>
                </a:solidFill>
                <a:latin typeface="Telegraf"/>
                <a:ea typeface="Telegraf"/>
                <a:cs typeface="Telegraf"/>
                <a:sym typeface="Telegraf"/>
              </a:rPr>
              <a:t>hương thức </a:t>
            </a:r>
            <a:r>
              <a:rPr lang="en-US" sz="2299" strike="noStrike" u="none">
                <a:solidFill>
                  <a:srgbClr val="000000"/>
                </a:solidFill>
                <a:latin typeface="Telegraf"/>
                <a:ea typeface="Telegraf"/>
                <a:cs typeface="Telegraf"/>
                <a:sym typeface="Telegraf"/>
              </a:rPr>
              <a:t>này</a:t>
            </a:r>
            <a:r>
              <a:rPr lang="en-US" sz="2299" strike="noStrike" u="none">
                <a:solidFill>
                  <a:srgbClr val="000000"/>
                </a:solidFill>
                <a:latin typeface="Telegraf"/>
                <a:ea typeface="Telegraf"/>
                <a:cs typeface="Telegraf"/>
                <a:sym typeface="Telegraf"/>
              </a:rPr>
              <a:t> </a:t>
            </a:r>
            <a:r>
              <a:rPr lang="en-US" sz="2299" strike="noStrike" u="none">
                <a:solidFill>
                  <a:srgbClr val="000000"/>
                </a:solidFill>
                <a:latin typeface="Telegraf"/>
                <a:ea typeface="Telegraf"/>
                <a:cs typeface="Telegraf"/>
                <a:sym typeface="Telegraf"/>
              </a:rPr>
              <a:t>hoạt</a:t>
            </a:r>
            <a:r>
              <a:rPr lang="en-US" sz="2299" strike="noStrike" u="none">
                <a:solidFill>
                  <a:srgbClr val="000000"/>
                </a:solidFill>
                <a:latin typeface="Telegraf"/>
                <a:ea typeface="Telegraf"/>
                <a:cs typeface="Telegraf"/>
                <a:sym typeface="Telegraf"/>
              </a:rPr>
              <a:t> </a:t>
            </a:r>
            <a:r>
              <a:rPr lang="en-US" sz="2299" strike="noStrike" u="none">
                <a:solidFill>
                  <a:srgbClr val="000000"/>
                </a:solidFill>
                <a:latin typeface="Telegraf"/>
                <a:ea typeface="Telegraf"/>
                <a:cs typeface="Telegraf"/>
                <a:sym typeface="Telegraf"/>
              </a:rPr>
              <a:t>độ</a:t>
            </a:r>
            <a:r>
              <a:rPr lang="en-US" sz="2299" strike="noStrike" u="none">
                <a:solidFill>
                  <a:srgbClr val="000000"/>
                </a:solidFill>
                <a:latin typeface="Telegraf"/>
                <a:ea typeface="Telegraf"/>
                <a:cs typeface="Telegraf"/>
                <a:sym typeface="Telegraf"/>
              </a:rPr>
              <a:t>n</a:t>
            </a:r>
            <a:r>
              <a:rPr lang="en-US" sz="2299" strike="noStrike" u="none">
                <a:solidFill>
                  <a:srgbClr val="000000"/>
                </a:solidFill>
                <a:latin typeface="Telegraf"/>
                <a:ea typeface="Telegraf"/>
                <a:cs typeface="Telegraf"/>
                <a:sym typeface="Telegraf"/>
              </a:rPr>
              <a:t>g</a:t>
            </a:r>
            <a:r>
              <a:rPr lang="en-US" sz="2299" strike="noStrike" u="none">
                <a:solidFill>
                  <a:srgbClr val="000000"/>
                </a:solidFill>
                <a:latin typeface="Telegraf"/>
                <a:ea typeface="Telegraf"/>
                <a:cs typeface="Telegraf"/>
                <a:sym typeface="Telegraf"/>
              </a:rPr>
              <a:t> </a:t>
            </a:r>
            <a:r>
              <a:rPr lang="en-US" sz="2299" strike="noStrike" u="none">
                <a:solidFill>
                  <a:srgbClr val="000000"/>
                </a:solidFill>
                <a:latin typeface="Telegraf"/>
                <a:ea typeface="Telegraf"/>
                <a:cs typeface="Telegraf"/>
                <a:sym typeface="Telegraf"/>
              </a:rPr>
              <a:t>rấ</a:t>
            </a:r>
            <a:r>
              <a:rPr lang="en-US" sz="2299" strike="noStrike" u="none">
                <a:solidFill>
                  <a:srgbClr val="000000"/>
                </a:solidFill>
                <a:latin typeface="Telegraf"/>
                <a:ea typeface="Telegraf"/>
                <a:cs typeface="Telegraf"/>
                <a:sym typeface="Telegraf"/>
              </a:rPr>
              <a:t>t </a:t>
            </a:r>
            <a:r>
              <a:rPr lang="en-US" sz="2299" strike="noStrike" u="none">
                <a:solidFill>
                  <a:srgbClr val="000000"/>
                </a:solidFill>
                <a:latin typeface="Telegraf"/>
                <a:ea typeface="Telegraf"/>
                <a:cs typeface="Telegraf"/>
                <a:sym typeface="Telegraf"/>
              </a:rPr>
              <a:t>tốt</a:t>
            </a:r>
            <a:r>
              <a:rPr lang="en-US" sz="2299" strike="noStrike" u="none">
                <a:solidFill>
                  <a:srgbClr val="000000"/>
                </a:solidFill>
                <a:latin typeface="Telegraf"/>
                <a:ea typeface="Telegraf"/>
                <a:cs typeface="Telegraf"/>
                <a:sym typeface="Telegraf"/>
              </a:rPr>
              <a:t> với các hàm nh</a:t>
            </a:r>
            <a:r>
              <a:rPr lang="en-US" sz="2299" strike="noStrike" u="none">
                <a:solidFill>
                  <a:srgbClr val="000000"/>
                </a:solidFill>
                <a:latin typeface="Telegraf"/>
                <a:ea typeface="Telegraf"/>
                <a:cs typeface="Telegraf"/>
                <a:sym typeface="Telegraf"/>
              </a:rPr>
              <a:t>ư</a:t>
            </a:r>
            <a:r>
              <a:rPr lang="en-US" sz="2299" strike="noStrike" u="none">
                <a:solidFill>
                  <a:srgbClr val="000000"/>
                </a:solidFill>
                <a:latin typeface="Telegraf"/>
                <a:ea typeface="Telegraf"/>
                <a:cs typeface="Telegraf"/>
                <a:sym typeface="Telegraf"/>
              </a:rPr>
              <a:t> mean</a:t>
            </a:r>
            <a:r>
              <a:rPr lang="en-US" sz="2299" strike="noStrike" u="none">
                <a:solidFill>
                  <a:srgbClr val="000000"/>
                </a:solidFill>
                <a:latin typeface="Telegraf"/>
                <a:ea typeface="Telegraf"/>
                <a:cs typeface="Telegraf"/>
                <a:sym typeface="Telegraf"/>
              </a:rPr>
              <a:t>() (trung bình)</a:t>
            </a:r>
            <a:r>
              <a:rPr lang="en-US" sz="2299" strike="noStrike" u="none">
                <a:solidFill>
                  <a:srgbClr val="000000"/>
                </a:solidFill>
                <a:latin typeface="Telegraf"/>
                <a:ea typeface="Telegraf"/>
                <a:cs typeface="Telegraf"/>
                <a:sym typeface="Telegraf"/>
              </a:rPr>
              <a:t>, sum</a:t>
            </a:r>
            <a:r>
              <a:rPr lang="en-US" sz="2299" strike="noStrike" u="none">
                <a:solidFill>
                  <a:srgbClr val="000000"/>
                </a:solidFill>
                <a:latin typeface="Telegraf"/>
                <a:ea typeface="Telegraf"/>
                <a:cs typeface="Telegraf"/>
                <a:sym typeface="Telegraf"/>
              </a:rPr>
              <a:t>() (tổng)</a:t>
            </a:r>
            <a:r>
              <a:rPr lang="en-US" sz="2299" strike="noStrike" u="none">
                <a:solidFill>
                  <a:srgbClr val="000000"/>
                </a:solidFill>
                <a:latin typeface="Telegraf"/>
                <a:ea typeface="Telegraf"/>
                <a:cs typeface="Telegraf"/>
                <a:sym typeface="Telegraf"/>
              </a:rPr>
              <a:t>, min</a:t>
            </a:r>
            <a:r>
              <a:rPr lang="en-US" sz="2299" strike="noStrike" u="none">
                <a:solidFill>
                  <a:srgbClr val="000000"/>
                </a:solidFill>
                <a:latin typeface="Telegraf"/>
                <a:ea typeface="Telegraf"/>
                <a:cs typeface="Telegraf"/>
                <a:sym typeface="Telegraf"/>
              </a:rPr>
              <a:t>() (nhỏ nhất) hay</a:t>
            </a:r>
            <a:r>
              <a:rPr lang="en-US" sz="2299" strike="noStrike" u="none">
                <a:solidFill>
                  <a:srgbClr val="000000"/>
                </a:solidFill>
                <a:latin typeface="Telegraf"/>
                <a:ea typeface="Telegraf"/>
                <a:cs typeface="Telegraf"/>
                <a:sym typeface="Telegraf"/>
              </a:rPr>
              <a:t> max</a:t>
            </a:r>
            <a:r>
              <a:rPr lang="en-US" sz="2299" strike="noStrike" u="none">
                <a:solidFill>
                  <a:srgbClr val="000000"/>
                </a:solidFill>
                <a:latin typeface="Telegraf"/>
                <a:ea typeface="Telegraf"/>
                <a:cs typeface="Telegraf"/>
                <a:sym typeface="Telegraf"/>
              </a:rPr>
              <a:t>() (lớn nhất</a:t>
            </a:r>
            <a:r>
              <a:rPr lang="en-US" sz="2299" strike="noStrike" u="none">
                <a:solidFill>
                  <a:srgbClr val="000000"/>
                </a:solidFill>
                <a:latin typeface="Telegraf"/>
                <a:ea typeface="Telegraf"/>
                <a:cs typeface="Telegraf"/>
                <a:sym typeface="Telegraf"/>
              </a:rPr>
              <a:t>)</a:t>
            </a:r>
          </a:p>
        </p:txBody>
      </p:sp>
      <p:sp>
        <p:nvSpPr>
          <p:cNvPr name="TextBox 11" id="11"/>
          <p:cNvSpPr txBox="true"/>
          <p:nvPr/>
        </p:nvSpPr>
        <p:spPr>
          <a:xfrm rot="0">
            <a:off x="1196880" y="2248232"/>
            <a:ext cx="5804669" cy="575983"/>
          </a:xfrm>
          <a:prstGeom prst="rect">
            <a:avLst/>
          </a:prstGeom>
        </p:spPr>
        <p:txBody>
          <a:bodyPr anchor="t" rtlCol="false" tIns="0" lIns="0" bIns="0" rIns="0">
            <a:spAutoFit/>
          </a:bodyPr>
          <a:lstStyle/>
          <a:p>
            <a:pPr algn="l" marL="0" indent="0" lvl="1">
              <a:lnSpc>
                <a:spcPts val="4479"/>
              </a:lnSpc>
              <a:spcBef>
                <a:spcPct val="0"/>
              </a:spcBef>
            </a:pPr>
            <a:r>
              <a:rPr lang="en-US" b="true" sz="3199" spc="159">
                <a:solidFill>
                  <a:srgbClr val="343434"/>
                </a:solidFill>
                <a:latin typeface="Telegraf Bold"/>
                <a:ea typeface="Telegraf Bold"/>
                <a:cs typeface="Telegraf Bold"/>
                <a:sym typeface="Telegraf Bold"/>
              </a:rPr>
              <a:t>Triển khai mã lệnh Python:</a:t>
            </a:r>
          </a:p>
        </p:txBody>
      </p:sp>
      <p:sp>
        <p:nvSpPr>
          <p:cNvPr name="TextBox 12" id="12"/>
          <p:cNvSpPr txBox="true"/>
          <p:nvPr/>
        </p:nvSpPr>
        <p:spPr>
          <a:xfrm rot="0">
            <a:off x="1502388" y="4725670"/>
            <a:ext cx="13453913" cy="417830"/>
          </a:xfrm>
          <a:prstGeom prst="rect">
            <a:avLst/>
          </a:prstGeom>
        </p:spPr>
        <p:txBody>
          <a:bodyPr anchor="t" rtlCol="false" tIns="0" lIns="0" bIns="0" rIns="0">
            <a:spAutoFit/>
          </a:bodyPr>
          <a:lstStyle/>
          <a:p>
            <a:pPr algn="l" marL="0" indent="0" lvl="1">
              <a:lnSpc>
                <a:spcPts val="3219"/>
              </a:lnSpc>
              <a:spcBef>
                <a:spcPct val="0"/>
              </a:spcBef>
            </a:pPr>
            <a:r>
              <a:rPr lang="en-US" sz="2299" strike="noStrike" u="none">
                <a:solidFill>
                  <a:srgbClr val="000000"/>
                </a:solidFill>
                <a:latin typeface="Telegraf"/>
                <a:ea typeface="Telegraf"/>
                <a:cs typeface="Telegraf"/>
                <a:sym typeface="Telegraf"/>
              </a:rPr>
              <a:t>Ngoài ra cũng có thể sử dụng phương thức apply để sử dụng các hàm custom để xử lý dữ liệu</a:t>
            </a:r>
          </a:p>
        </p:txBody>
      </p:sp>
      <p:sp>
        <p:nvSpPr>
          <p:cNvPr name="TextBox 13" id="13"/>
          <p:cNvSpPr txBox="true"/>
          <p:nvPr/>
        </p:nvSpPr>
        <p:spPr>
          <a:xfrm rot="0">
            <a:off x="1671419" y="5381625"/>
            <a:ext cx="5808086" cy="575946"/>
          </a:xfrm>
          <a:prstGeom prst="rect">
            <a:avLst/>
          </a:prstGeom>
        </p:spPr>
        <p:txBody>
          <a:bodyPr anchor="t" rtlCol="false" tIns="0" lIns="0" bIns="0" rIns="0">
            <a:spAutoFit/>
          </a:bodyPr>
          <a:lstStyle/>
          <a:p>
            <a:pPr algn="l" marL="0" indent="0" lvl="1">
              <a:lnSpc>
                <a:spcPts val="4479"/>
              </a:lnSpc>
              <a:spcBef>
                <a:spcPct val="0"/>
              </a:spcBef>
            </a:pPr>
            <a:r>
              <a:rPr lang="en-US" b="true" sz="3199" spc="159" strike="noStrike" u="none">
                <a:solidFill>
                  <a:srgbClr val="343434"/>
                </a:solidFill>
                <a:latin typeface="Telegraf Bold"/>
                <a:ea typeface="Telegraf Bold"/>
                <a:cs typeface="Telegraf Bold"/>
                <a:sym typeface="Telegraf Bold"/>
              </a:rPr>
              <a:t>Ví dụ</a:t>
            </a:r>
          </a:p>
        </p:txBody>
      </p:sp>
    </p:spTree>
  </p:cSld>
  <p:clrMapOvr>
    <a:masterClrMapping/>
  </p:clrMapOvr>
</p:sld>
</file>

<file path=ppt/slides/slide25.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225008">
            <a:off x="2261567" y="-3083608"/>
            <a:ext cx="12701350" cy="5382197"/>
          </a:xfrm>
          <a:custGeom>
            <a:avLst/>
            <a:gdLst/>
            <a:ahLst/>
            <a:cxnLst/>
            <a:rect r="r" b="b" t="t" l="l"/>
            <a:pathLst>
              <a:path h="5382197" w="12701350">
                <a:moveTo>
                  <a:pt x="0" y="0"/>
                </a:moveTo>
                <a:lnTo>
                  <a:pt x="12701350" y="0"/>
                </a:lnTo>
                <a:lnTo>
                  <a:pt x="12701350" y="5382196"/>
                </a:lnTo>
                <a:lnTo>
                  <a:pt x="0" y="5382196"/>
                </a:lnTo>
                <a:lnTo>
                  <a:pt x="0" y="0"/>
                </a:lnTo>
                <a:close/>
              </a:path>
            </a:pathLst>
          </a:custGeom>
          <a:blipFill>
            <a:blip r:embed="rId2"/>
            <a:stretch>
              <a:fillRect l="0" t="0" r="0" b="0"/>
            </a:stretch>
          </a:blipFill>
        </p:spPr>
      </p:sp>
      <p:sp>
        <p:nvSpPr>
          <p:cNvPr name="Freeform 3" id="3"/>
          <p:cNvSpPr/>
          <p:nvPr/>
        </p:nvSpPr>
        <p:spPr>
          <a:xfrm flipH="false" flipV="false" rot="0">
            <a:off x="3611114" y="7170592"/>
            <a:ext cx="11514218" cy="8506128"/>
          </a:xfrm>
          <a:custGeom>
            <a:avLst/>
            <a:gdLst/>
            <a:ahLst/>
            <a:cxnLst/>
            <a:rect r="r" b="b" t="t" l="l"/>
            <a:pathLst>
              <a:path h="8506128" w="11514218">
                <a:moveTo>
                  <a:pt x="0" y="0"/>
                </a:moveTo>
                <a:lnTo>
                  <a:pt x="11514218" y="0"/>
                </a:lnTo>
                <a:lnTo>
                  <a:pt x="11514218" y="8506128"/>
                </a:lnTo>
                <a:lnTo>
                  <a:pt x="0" y="8506128"/>
                </a:lnTo>
                <a:lnTo>
                  <a:pt x="0" y="0"/>
                </a:lnTo>
                <a:close/>
              </a:path>
            </a:pathLst>
          </a:custGeom>
          <a:blipFill>
            <a:blip r:embed="rId3"/>
            <a:stretch>
              <a:fillRect l="0" t="0" r="0" b="0"/>
            </a:stretch>
          </a:blipFill>
        </p:spPr>
      </p:sp>
      <p:grpSp>
        <p:nvGrpSpPr>
          <p:cNvPr name="Group 4" id="4"/>
          <p:cNvGrpSpPr/>
          <p:nvPr/>
        </p:nvGrpSpPr>
        <p:grpSpPr>
          <a:xfrm rot="0">
            <a:off x="17566604" y="-392510"/>
            <a:ext cx="1437565" cy="11072020"/>
            <a:chOff x="0" y="0"/>
            <a:chExt cx="378618" cy="2916088"/>
          </a:xfrm>
        </p:grpSpPr>
        <p:sp>
          <p:nvSpPr>
            <p:cNvPr name="Freeform 5" id="5"/>
            <p:cNvSpPr/>
            <p:nvPr/>
          </p:nvSpPr>
          <p:spPr>
            <a:xfrm flipH="false" flipV="false" rot="0">
              <a:off x="0" y="0"/>
              <a:ext cx="378618" cy="2916088"/>
            </a:xfrm>
            <a:custGeom>
              <a:avLst/>
              <a:gdLst/>
              <a:ahLst/>
              <a:cxnLst/>
              <a:rect r="r" b="b" t="t" l="l"/>
              <a:pathLst>
                <a:path h="2916088" w="378618">
                  <a:moveTo>
                    <a:pt x="0" y="0"/>
                  </a:moveTo>
                  <a:lnTo>
                    <a:pt x="378618" y="0"/>
                  </a:lnTo>
                  <a:lnTo>
                    <a:pt x="378618" y="2916088"/>
                  </a:lnTo>
                  <a:lnTo>
                    <a:pt x="0" y="2916088"/>
                  </a:lnTo>
                  <a:close/>
                </a:path>
              </a:pathLst>
            </a:custGeom>
            <a:gradFill rotWithShape="true">
              <a:gsLst>
                <a:gs pos="0">
                  <a:srgbClr val="E4B795">
                    <a:alpha val="100000"/>
                  </a:srgbClr>
                </a:gs>
                <a:gs pos="50000">
                  <a:srgbClr val="699ACD">
                    <a:alpha val="100000"/>
                  </a:srgbClr>
                </a:gs>
                <a:gs pos="100000">
                  <a:srgbClr val="2F679F">
                    <a:alpha val="100000"/>
                  </a:srgbClr>
                </a:gs>
              </a:gsLst>
              <a:path path="circle">
                <a:fillToRect l="0" r="100000" t="0" b="100000"/>
              </a:path>
              <a:tileRect r="0" l="-100000" b="0" t="-100000"/>
            </a:gradFill>
          </p:spPr>
        </p:sp>
        <p:sp>
          <p:nvSpPr>
            <p:cNvPr name="TextBox 6" id="6"/>
            <p:cNvSpPr txBox="true"/>
            <p:nvPr/>
          </p:nvSpPr>
          <p:spPr>
            <a:xfrm>
              <a:off x="0" y="-57150"/>
              <a:ext cx="378618" cy="2973238"/>
            </a:xfrm>
            <a:prstGeom prst="rect">
              <a:avLst/>
            </a:prstGeom>
          </p:spPr>
          <p:txBody>
            <a:bodyPr anchor="ctr" rtlCol="false" tIns="50800" lIns="50800" bIns="50800" rIns="50800"/>
            <a:lstStyle/>
            <a:p>
              <a:pPr algn="ctr">
                <a:lnSpc>
                  <a:spcPts val="3639"/>
                </a:lnSpc>
              </a:pPr>
            </a:p>
          </p:txBody>
        </p:sp>
      </p:grpSp>
      <p:sp>
        <p:nvSpPr>
          <p:cNvPr name="Freeform 7" id="7"/>
          <p:cNvSpPr/>
          <p:nvPr/>
        </p:nvSpPr>
        <p:spPr>
          <a:xfrm flipH="false" flipV="false" rot="0">
            <a:off x="1196880" y="4944442"/>
            <a:ext cx="8645741" cy="5106073"/>
          </a:xfrm>
          <a:custGeom>
            <a:avLst/>
            <a:gdLst/>
            <a:ahLst/>
            <a:cxnLst/>
            <a:rect r="r" b="b" t="t" l="l"/>
            <a:pathLst>
              <a:path h="5106073" w="8645741">
                <a:moveTo>
                  <a:pt x="0" y="0"/>
                </a:moveTo>
                <a:lnTo>
                  <a:pt x="8645741" y="0"/>
                </a:lnTo>
                <a:lnTo>
                  <a:pt x="8645741" y="5106073"/>
                </a:lnTo>
                <a:lnTo>
                  <a:pt x="0" y="5106073"/>
                </a:lnTo>
                <a:lnTo>
                  <a:pt x="0" y="0"/>
                </a:lnTo>
                <a:close/>
              </a:path>
            </a:pathLst>
          </a:custGeom>
          <a:blipFill>
            <a:blip r:embed="rId4"/>
            <a:stretch>
              <a:fillRect l="0" t="0" r="0" b="0"/>
            </a:stretch>
          </a:blipFill>
        </p:spPr>
      </p:sp>
      <p:sp>
        <p:nvSpPr>
          <p:cNvPr name="TextBox 8" id="8"/>
          <p:cNvSpPr txBox="true"/>
          <p:nvPr/>
        </p:nvSpPr>
        <p:spPr>
          <a:xfrm rot="0">
            <a:off x="992940" y="1423526"/>
            <a:ext cx="16985143" cy="695006"/>
          </a:xfrm>
          <a:prstGeom prst="rect">
            <a:avLst/>
          </a:prstGeom>
        </p:spPr>
        <p:txBody>
          <a:bodyPr anchor="t" rtlCol="false" tIns="0" lIns="0" bIns="0" rIns="0">
            <a:spAutoFit/>
          </a:bodyPr>
          <a:lstStyle/>
          <a:p>
            <a:pPr algn="l">
              <a:lnSpc>
                <a:spcPts val="4733"/>
              </a:lnSpc>
            </a:pPr>
            <a:r>
              <a:rPr lang="en-US" sz="4880" b="true">
                <a:solidFill>
                  <a:srgbClr val="343434"/>
                </a:solidFill>
                <a:latin typeface="Telegraf Bold"/>
                <a:ea typeface="Telegraf Bold"/>
                <a:cs typeface="Telegraf Bold"/>
                <a:sym typeface="Telegraf Bold"/>
              </a:rPr>
              <a:t>THAY ĐỔI TẦN SUẤT DỮ LIỆU</a:t>
            </a:r>
          </a:p>
        </p:txBody>
      </p:sp>
      <p:sp>
        <p:nvSpPr>
          <p:cNvPr name="TextBox 9" id="9"/>
          <p:cNvSpPr txBox="true"/>
          <p:nvPr/>
        </p:nvSpPr>
        <p:spPr>
          <a:xfrm rot="0">
            <a:off x="10062374" y="5057775"/>
            <a:ext cx="7504230" cy="1848486"/>
          </a:xfrm>
          <a:prstGeom prst="rect">
            <a:avLst/>
          </a:prstGeom>
        </p:spPr>
        <p:txBody>
          <a:bodyPr anchor="t" rtlCol="false" tIns="0" lIns="0" bIns="0" rIns="0">
            <a:spAutoFit/>
          </a:bodyPr>
          <a:lstStyle/>
          <a:p>
            <a:pPr algn="l" marL="0" indent="0" lvl="1">
              <a:lnSpc>
                <a:spcPts val="3639"/>
              </a:lnSpc>
              <a:spcBef>
                <a:spcPct val="0"/>
              </a:spcBef>
            </a:pPr>
            <a:r>
              <a:rPr lang="en-US" sz="2599" strike="noStrike" u="none">
                <a:solidFill>
                  <a:srgbClr val="000000"/>
                </a:solidFill>
                <a:latin typeface="Telegraf"/>
                <a:ea typeface="Telegraf"/>
                <a:cs typeface="Telegraf"/>
                <a:sym typeface="Telegraf"/>
              </a:rPr>
              <a:t>Để tính biến động hàng tháng từ lợi suất ngày, ta đã định nghĩa một hàm riêng (realized_volatility) và sau đó gộp nhóm bằng pd.Grouper(freq="M") rồi mới dùng .apply() để áp dụng hàm đó</a:t>
            </a:r>
          </a:p>
        </p:txBody>
      </p:sp>
      <p:sp>
        <p:nvSpPr>
          <p:cNvPr name="TextBox 10" id="10"/>
          <p:cNvSpPr txBox="true"/>
          <p:nvPr/>
        </p:nvSpPr>
        <p:spPr>
          <a:xfrm rot="0">
            <a:off x="1196880" y="2248232"/>
            <a:ext cx="5804669" cy="575983"/>
          </a:xfrm>
          <a:prstGeom prst="rect">
            <a:avLst/>
          </a:prstGeom>
        </p:spPr>
        <p:txBody>
          <a:bodyPr anchor="t" rtlCol="false" tIns="0" lIns="0" bIns="0" rIns="0">
            <a:spAutoFit/>
          </a:bodyPr>
          <a:lstStyle/>
          <a:p>
            <a:pPr algn="l" marL="0" indent="0" lvl="1">
              <a:lnSpc>
                <a:spcPts val="4479"/>
              </a:lnSpc>
              <a:spcBef>
                <a:spcPct val="0"/>
              </a:spcBef>
            </a:pPr>
            <a:r>
              <a:rPr lang="en-US" b="true" sz="3199" spc="159">
                <a:solidFill>
                  <a:srgbClr val="343434"/>
                </a:solidFill>
                <a:latin typeface="Telegraf Bold"/>
                <a:ea typeface="Telegraf Bold"/>
                <a:cs typeface="Telegraf Bold"/>
                <a:sym typeface="Telegraf Bold"/>
              </a:rPr>
              <a:t>Triển khai mã lệnh Python:</a:t>
            </a:r>
          </a:p>
        </p:txBody>
      </p:sp>
      <p:sp>
        <p:nvSpPr>
          <p:cNvPr name="TextBox 11" id="11"/>
          <p:cNvSpPr txBox="true"/>
          <p:nvPr/>
        </p:nvSpPr>
        <p:spPr>
          <a:xfrm rot="0">
            <a:off x="1365060" y="3161996"/>
            <a:ext cx="8390010" cy="476885"/>
          </a:xfrm>
          <a:prstGeom prst="rect">
            <a:avLst/>
          </a:prstGeom>
        </p:spPr>
        <p:txBody>
          <a:bodyPr anchor="t" rtlCol="false" tIns="0" lIns="0" bIns="0" rIns="0">
            <a:spAutoFit/>
          </a:bodyPr>
          <a:lstStyle/>
          <a:p>
            <a:pPr algn="l" marL="0" indent="0" lvl="1">
              <a:lnSpc>
                <a:spcPts val="3639"/>
              </a:lnSpc>
              <a:spcBef>
                <a:spcPct val="0"/>
              </a:spcBef>
            </a:pPr>
            <a:r>
              <a:rPr lang="en-US" b="true" sz="2599" spc="129" strike="noStrike" u="none">
                <a:solidFill>
                  <a:srgbClr val="343434"/>
                </a:solidFill>
                <a:latin typeface="Telegraf Bold"/>
                <a:ea typeface="Telegraf Bold"/>
                <a:cs typeface="Telegraf Bold"/>
                <a:sym typeface="Telegraf Bold"/>
              </a:rPr>
              <a:t>Sử dụng kết hợp groupby, pd.Grouper và apply</a:t>
            </a:r>
          </a:p>
        </p:txBody>
      </p:sp>
      <p:sp>
        <p:nvSpPr>
          <p:cNvPr name="TextBox 12" id="12"/>
          <p:cNvSpPr txBox="true"/>
          <p:nvPr/>
        </p:nvSpPr>
        <p:spPr>
          <a:xfrm rot="0">
            <a:off x="1379555" y="3781757"/>
            <a:ext cx="15581227" cy="934234"/>
          </a:xfrm>
          <a:prstGeom prst="rect">
            <a:avLst/>
          </a:prstGeom>
        </p:spPr>
        <p:txBody>
          <a:bodyPr anchor="t" rtlCol="false" tIns="0" lIns="0" bIns="0" rIns="0">
            <a:spAutoFit/>
          </a:bodyPr>
          <a:lstStyle/>
          <a:p>
            <a:pPr algn="l" marL="0" indent="0" lvl="1">
              <a:lnSpc>
                <a:spcPts val="3639"/>
              </a:lnSpc>
              <a:spcBef>
                <a:spcPct val="0"/>
              </a:spcBef>
            </a:pPr>
            <a:r>
              <a:rPr lang="en-US" sz="2599" strike="noStrike" u="none">
                <a:solidFill>
                  <a:srgbClr val="000000"/>
                </a:solidFill>
                <a:latin typeface="Telegraf"/>
                <a:ea typeface="Telegraf"/>
                <a:cs typeface="Telegraf"/>
                <a:sym typeface="Telegraf"/>
              </a:rPr>
              <a:t>Ngoài ra, vẫn còn 1 cách khác để có thể tính độ biến động bằng cách sử dụng kết hợp groupby, pd.Grouper và apply</a:t>
            </a:r>
          </a:p>
        </p:txBody>
      </p:sp>
    </p:spTree>
  </p:cSld>
  <p:clrMapOvr>
    <a:masterClrMapping/>
  </p:clrMapOvr>
</p:sld>
</file>

<file path=ppt/slides/slide26.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225008">
            <a:off x="2261567" y="-3083608"/>
            <a:ext cx="12701350" cy="5382197"/>
          </a:xfrm>
          <a:custGeom>
            <a:avLst/>
            <a:gdLst/>
            <a:ahLst/>
            <a:cxnLst/>
            <a:rect r="r" b="b" t="t" l="l"/>
            <a:pathLst>
              <a:path h="5382197" w="12701350">
                <a:moveTo>
                  <a:pt x="0" y="0"/>
                </a:moveTo>
                <a:lnTo>
                  <a:pt x="12701350" y="0"/>
                </a:lnTo>
                <a:lnTo>
                  <a:pt x="12701350" y="5382196"/>
                </a:lnTo>
                <a:lnTo>
                  <a:pt x="0" y="5382196"/>
                </a:lnTo>
                <a:lnTo>
                  <a:pt x="0" y="0"/>
                </a:lnTo>
                <a:close/>
              </a:path>
            </a:pathLst>
          </a:custGeom>
          <a:blipFill>
            <a:blip r:embed="rId2"/>
            <a:stretch>
              <a:fillRect l="0" t="0" r="0" b="0"/>
            </a:stretch>
          </a:blipFill>
        </p:spPr>
      </p:sp>
      <p:sp>
        <p:nvSpPr>
          <p:cNvPr name="Freeform 3" id="3"/>
          <p:cNvSpPr/>
          <p:nvPr/>
        </p:nvSpPr>
        <p:spPr>
          <a:xfrm flipH="false" flipV="false" rot="0">
            <a:off x="3611114" y="7170592"/>
            <a:ext cx="11514218" cy="8506128"/>
          </a:xfrm>
          <a:custGeom>
            <a:avLst/>
            <a:gdLst/>
            <a:ahLst/>
            <a:cxnLst/>
            <a:rect r="r" b="b" t="t" l="l"/>
            <a:pathLst>
              <a:path h="8506128" w="11514218">
                <a:moveTo>
                  <a:pt x="0" y="0"/>
                </a:moveTo>
                <a:lnTo>
                  <a:pt x="11514218" y="0"/>
                </a:lnTo>
                <a:lnTo>
                  <a:pt x="11514218" y="8506128"/>
                </a:lnTo>
                <a:lnTo>
                  <a:pt x="0" y="8506128"/>
                </a:lnTo>
                <a:lnTo>
                  <a:pt x="0" y="0"/>
                </a:lnTo>
                <a:close/>
              </a:path>
            </a:pathLst>
          </a:custGeom>
          <a:blipFill>
            <a:blip r:embed="rId3"/>
            <a:stretch>
              <a:fillRect l="0" t="0" r="0" b="0"/>
            </a:stretch>
          </a:blipFill>
        </p:spPr>
      </p:sp>
      <p:grpSp>
        <p:nvGrpSpPr>
          <p:cNvPr name="Group 4" id="4"/>
          <p:cNvGrpSpPr/>
          <p:nvPr/>
        </p:nvGrpSpPr>
        <p:grpSpPr>
          <a:xfrm rot="0">
            <a:off x="17566604" y="-392510"/>
            <a:ext cx="1437565" cy="11072020"/>
            <a:chOff x="0" y="0"/>
            <a:chExt cx="378618" cy="2916088"/>
          </a:xfrm>
        </p:grpSpPr>
        <p:sp>
          <p:nvSpPr>
            <p:cNvPr name="Freeform 5" id="5"/>
            <p:cNvSpPr/>
            <p:nvPr/>
          </p:nvSpPr>
          <p:spPr>
            <a:xfrm flipH="false" flipV="false" rot="0">
              <a:off x="0" y="0"/>
              <a:ext cx="378618" cy="2916088"/>
            </a:xfrm>
            <a:custGeom>
              <a:avLst/>
              <a:gdLst/>
              <a:ahLst/>
              <a:cxnLst/>
              <a:rect r="r" b="b" t="t" l="l"/>
              <a:pathLst>
                <a:path h="2916088" w="378618">
                  <a:moveTo>
                    <a:pt x="0" y="0"/>
                  </a:moveTo>
                  <a:lnTo>
                    <a:pt x="378618" y="0"/>
                  </a:lnTo>
                  <a:lnTo>
                    <a:pt x="378618" y="2916088"/>
                  </a:lnTo>
                  <a:lnTo>
                    <a:pt x="0" y="2916088"/>
                  </a:lnTo>
                  <a:close/>
                </a:path>
              </a:pathLst>
            </a:custGeom>
            <a:gradFill rotWithShape="true">
              <a:gsLst>
                <a:gs pos="0">
                  <a:srgbClr val="E4B795">
                    <a:alpha val="100000"/>
                  </a:srgbClr>
                </a:gs>
                <a:gs pos="50000">
                  <a:srgbClr val="699ACD">
                    <a:alpha val="100000"/>
                  </a:srgbClr>
                </a:gs>
                <a:gs pos="100000">
                  <a:srgbClr val="2F679F">
                    <a:alpha val="100000"/>
                  </a:srgbClr>
                </a:gs>
              </a:gsLst>
              <a:path path="circle">
                <a:fillToRect l="0" r="100000" t="0" b="100000"/>
              </a:path>
              <a:tileRect r="0" l="-100000" b="0" t="-100000"/>
            </a:gradFill>
          </p:spPr>
        </p:sp>
        <p:sp>
          <p:nvSpPr>
            <p:cNvPr name="TextBox 6" id="6"/>
            <p:cNvSpPr txBox="true"/>
            <p:nvPr/>
          </p:nvSpPr>
          <p:spPr>
            <a:xfrm>
              <a:off x="0" y="-57150"/>
              <a:ext cx="378618" cy="2973238"/>
            </a:xfrm>
            <a:prstGeom prst="rect">
              <a:avLst/>
            </a:prstGeom>
          </p:spPr>
          <p:txBody>
            <a:bodyPr anchor="ctr" rtlCol="false" tIns="50800" lIns="50800" bIns="50800" rIns="50800"/>
            <a:lstStyle/>
            <a:p>
              <a:pPr algn="ctr">
                <a:lnSpc>
                  <a:spcPts val="3639"/>
                </a:lnSpc>
              </a:pPr>
            </a:p>
          </p:txBody>
        </p:sp>
      </p:grpSp>
      <p:sp>
        <p:nvSpPr>
          <p:cNvPr name="Freeform 7" id="7"/>
          <p:cNvSpPr/>
          <p:nvPr/>
        </p:nvSpPr>
        <p:spPr>
          <a:xfrm flipH="false" flipV="false" rot="0">
            <a:off x="1987132" y="3052778"/>
            <a:ext cx="14313736" cy="7103191"/>
          </a:xfrm>
          <a:custGeom>
            <a:avLst/>
            <a:gdLst/>
            <a:ahLst/>
            <a:cxnLst/>
            <a:rect r="r" b="b" t="t" l="l"/>
            <a:pathLst>
              <a:path h="7103191" w="14313736">
                <a:moveTo>
                  <a:pt x="0" y="0"/>
                </a:moveTo>
                <a:lnTo>
                  <a:pt x="14313736" y="0"/>
                </a:lnTo>
                <a:lnTo>
                  <a:pt x="14313736" y="7103191"/>
                </a:lnTo>
                <a:lnTo>
                  <a:pt x="0" y="7103191"/>
                </a:lnTo>
                <a:lnTo>
                  <a:pt x="0" y="0"/>
                </a:lnTo>
                <a:close/>
              </a:path>
            </a:pathLst>
          </a:custGeom>
          <a:blipFill>
            <a:blip r:embed="rId4"/>
            <a:stretch>
              <a:fillRect l="0" t="0" r="0" b="0"/>
            </a:stretch>
          </a:blipFill>
        </p:spPr>
      </p:sp>
      <p:sp>
        <p:nvSpPr>
          <p:cNvPr name="TextBox 8" id="8"/>
          <p:cNvSpPr txBox="true"/>
          <p:nvPr/>
        </p:nvSpPr>
        <p:spPr>
          <a:xfrm rot="0">
            <a:off x="992940" y="1423526"/>
            <a:ext cx="16985143" cy="695006"/>
          </a:xfrm>
          <a:prstGeom prst="rect">
            <a:avLst/>
          </a:prstGeom>
        </p:spPr>
        <p:txBody>
          <a:bodyPr anchor="t" rtlCol="false" tIns="0" lIns="0" bIns="0" rIns="0">
            <a:spAutoFit/>
          </a:bodyPr>
          <a:lstStyle/>
          <a:p>
            <a:pPr algn="l">
              <a:lnSpc>
                <a:spcPts val="4733"/>
              </a:lnSpc>
            </a:pPr>
            <a:r>
              <a:rPr lang="en-US" sz="4880" b="true">
                <a:solidFill>
                  <a:srgbClr val="343434"/>
                </a:solidFill>
                <a:latin typeface="Telegraf Bold"/>
                <a:ea typeface="Telegraf Bold"/>
                <a:cs typeface="Telegraf Bold"/>
                <a:sym typeface="Telegraf Bold"/>
              </a:rPr>
              <a:t>THAY ĐỔI TẦN SUẤT DỮ LIỆU</a:t>
            </a:r>
          </a:p>
        </p:txBody>
      </p:sp>
      <p:sp>
        <p:nvSpPr>
          <p:cNvPr name="TextBox 9" id="9"/>
          <p:cNvSpPr txBox="true"/>
          <p:nvPr/>
        </p:nvSpPr>
        <p:spPr>
          <a:xfrm rot="0">
            <a:off x="1196880" y="2248232"/>
            <a:ext cx="11764566" cy="575946"/>
          </a:xfrm>
          <a:prstGeom prst="rect">
            <a:avLst/>
          </a:prstGeom>
        </p:spPr>
        <p:txBody>
          <a:bodyPr anchor="t" rtlCol="false" tIns="0" lIns="0" bIns="0" rIns="0">
            <a:spAutoFit/>
          </a:bodyPr>
          <a:lstStyle/>
          <a:p>
            <a:pPr algn="l" marL="0" indent="0" lvl="1">
              <a:lnSpc>
                <a:spcPts val="4479"/>
              </a:lnSpc>
              <a:spcBef>
                <a:spcPct val="0"/>
              </a:spcBef>
            </a:pPr>
            <a:r>
              <a:rPr lang="en-US" b="true" sz="3199" spc="159">
                <a:solidFill>
                  <a:srgbClr val="343434"/>
                </a:solidFill>
                <a:latin typeface="Telegraf Bold"/>
                <a:ea typeface="Telegraf Bold"/>
                <a:cs typeface="Telegraf Bold"/>
                <a:sym typeface="Telegraf Bold"/>
              </a:rPr>
              <a:t>Trực quan hóa biến động thực tế (Realized Volatility)</a:t>
            </a:r>
          </a:p>
        </p:txBody>
      </p:sp>
    </p:spTree>
  </p:cSld>
  <p:clrMapOvr>
    <a:masterClrMapping/>
  </p:clrMapOvr>
</p:sld>
</file>

<file path=ppt/slides/slide27.xml><?xml version="1.0" encoding="utf-8"?>
<p:sld xmlns:p="http://schemas.openxmlformats.org/presentationml/2006/main" xmlns:a="http://schemas.openxmlformats.org/drawingml/2006/main" xmlns:r="http://schemas.openxmlformats.org/officeDocument/2006/relationships">
  <p:cSld>
    <p:bg>
      <p:bgPr>
        <a:solidFill>
          <a:srgbClr val="F2F7FA"/>
        </a:solidFill>
      </p:bgPr>
    </p:bg>
    <p:spTree>
      <p:nvGrpSpPr>
        <p:cNvPr id="1" name=""/>
        <p:cNvGrpSpPr/>
        <p:nvPr/>
      </p:nvGrpSpPr>
      <p:grpSpPr>
        <a:xfrm>
          <a:off x="0" y="0"/>
          <a:ext cx="0" cy="0"/>
          <a:chOff x="0" y="0"/>
          <a:chExt cx="0" cy="0"/>
        </a:xfrm>
      </p:grpSpPr>
      <p:sp>
        <p:nvSpPr>
          <p:cNvPr name="Freeform 2" id="2"/>
          <p:cNvSpPr/>
          <p:nvPr/>
        </p:nvSpPr>
        <p:spPr>
          <a:xfrm flipH="false" flipV="false" rot="225008">
            <a:off x="-467361" y="-2757747"/>
            <a:ext cx="12701350" cy="5382197"/>
          </a:xfrm>
          <a:custGeom>
            <a:avLst/>
            <a:gdLst/>
            <a:ahLst/>
            <a:cxnLst/>
            <a:rect r="r" b="b" t="t" l="l"/>
            <a:pathLst>
              <a:path h="5382197" w="12701350">
                <a:moveTo>
                  <a:pt x="0" y="0"/>
                </a:moveTo>
                <a:lnTo>
                  <a:pt x="12701349" y="0"/>
                </a:lnTo>
                <a:lnTo>
                  <a:pt x="12701349" y="5382197"/>
                </a:lnTo>
                <a:lnTo>
                  <a:pt x="0" y="5382197"/>
                </a:lnTo>
                <a:lnTo>
                  <a:pt x="0" y="0"/>
                </a:lnTo>
                <a:close/>
              </a:path>
            </a:pathLst>
          </a:custGeom>
          <a:blipFill>
            <a:blip r:embed="rId2"/>
            <a:stretch>
              <a:fillRect l="0" t="0" r="0" b="0"/>
            </a:stretch>
          </a:blipFill>
        </p:spPr>
      </p:sp>
      <p:sp>
        <p:nvSpPr>
          <p:cNvPr name="Freeform 3" id="3"/>
          <p:cNvSpPr/>
          <p:nvPr/>
        </p:nvSpPr>
        <p:spPr>
          <a:xfrm flipH="false" flipV="false" rot="0">
            <a:off x="14964187" y="8412371"/>
            <a:ext cx="11514218" cy="8506128"/>
          </a:xfrm>
          <a:custGeom>
            <a:avLst/>
            <a:gdLst/>
            <a:ahLst/>
            <a:cxnLst/>
            <a:rect r="r" b="b" t="t" l="l"/>
            <a:pathLst>
              <a:path h="8506128" w="11514218">
                <a:moveTo>
                  <a:pt x="0" y="0"/>
                </a:moveTo>
                <a:lnTo>
                  <a:pt x="11514218" y="0"/>
                </a:lnTo>
                <a:lnTo>
                  <a:pt x="11514218" y="8506128"/>
                </a:lnTo>
                <a:lnTo>
                  <a:pt x="0" y="8506128"/>
                </a:lnTo>
                <a:lnTo>
                  <a:pt x="0" y="0"/>
                </a:lnTo>
                <a:close/>
              </a:path>
            </a:pathLst>
          </a:custGeom>
          <a:blipFill>
            <a:blip r:embed="rId3"/>
            <a:stretch>
              <a:fillRect l="0" t="0" r="0" b="0"/>
            </a:stretch>
          </a:blipFill>
        </p:spPr>
      </p:sp>
      <p:grpSp>
        <p:nvGrpSpPr>
          <p:cNvPr name="Group 4" id="4"/>
          <p:cNvGrpSpPr/>
          <p:nvPr/>
        </p:nvGrpSpPr>
        <p:grpSpPr>
          <a:xfrm rot="0">
            <a:off x="17259300" y="-392510"/>
            <a:ext cx="1437565" cy="11072020"/>
            <a:chOff x="0" y="0"/>
            <a:chExt cx="378618" cy="2916088"/>
          </a:xfrm>
        </p:grpSpPr>
        <p:sp>
          <p:nvSpPr>
            <p:cNvPr name="Freeform 5" id="5"/>
            <p:cNvSpPr/>
            <p:nvPr/>
          </p:nvSpPr>
          <p:spPr>
            <a:xfrm flipH="false" flipV="false" rot="0">
              <a:off x="0" y="0"/>
              <a:ext cx="378618" cy="2916088"/>
            </a:xfrm>
            <a:custGeom>
              <a:avLst/>
              <a:gdLst/>
              <a:ahLst/>
              <a:cxnLst/>
              <a:rect r="r" b="b" t="t" l="l"/>
              <a:pathLst>
                <a:path h="2916088" w="378618">
                  <a:moveTo>
                    <a:pt x="0" y="0"/>
                  </a:moveTo>
                  <a:lnTo>
                    <a:pt x="378618" y="0"/>
                  </a:lnTo>
                  <a:lnTo>
                    <a:pt x="378618" y="2916088"/>
                  </a:lnTo>
                  <a:lnTo>
                    <a:pt x="0" y="2916088"/>
                  </a:lnTo>
                  <a:close/>
                </a:path>
              </a:pathLst>
            </a:custGeom>
            <a:gradFill rotWithShape="true">
              <a:gsLst>
                <a:gs pos="0">
                  <a:srgbClr val="E4B795">
                    <a:alpha val="100000"/>
                  </a:srgbClr>
                </a:gs>
                <a:gs pos="50000">
                  <a:srgbClr val="699ACD">
                    <a:alpha val="100000"/>
                  </a:srgbClr>
                </a:gs>
                <a:gs pos="100000">
                  <a:srgbClr val="2F679F">
                    <a:alpha val="100000"/>
                  </a:srgbClr>
                </a:gs>
              </a:gsLst>
              <a:path path="circle">
                <a:fillToRect l="0" r="100000" t="0" b="100000"/>
              </a:path>
              <a:tileRect r="0" l="-100000" b="0" t="-100000"/>
            </a:gradFill>
          </p:spPr>
        </p:sp>
        <p:sp>
          <p:nvSpPr>
            <p:cNvPr name="TextBox 6" id="6"/>
            <p:cNvSpPr txBox="true"/>
            <p:nvPr/>
          </p:nvSpPr>
          <p:spPr>
            <a:xfrm>
              <a:off x="0" y="-57150"/>
              <a:ext cx="378618" cy="2973238"/>
            </a:xfrm>
            <a:prstGeom prst="rect">
              <a:avLst/>
            </a:prstGeom>
          </p:spPr>
          <p:txBody>
            <a:bodyPr anchor="ctr" rtlCol="false" tIns="50800" lIns="50800" bIns="50800" rIns="50800"/>
            <a:lstStyle/>
            <a:p>
              <a:pPr algn="ctr">
                <a:lnSpc>
                  <a:spcPts val="3639"/>
                </a:lnSpc>
              </a:pPr>
            </a:p>
          </p:txBody>
        </p:sp>
      </p:grpSp>
      <p:sp>
        <p:nvSpPr>
          <p:cNvPr name="TextBox 7" id="7"/>
          <p:cNvSpPr txBox="true"/>
          <p:nvPr/>
        </p:nvSpPr>
        <p:spPr>
          <a:xfrm rot="0">
            <a:off x="8021110" y="782737"/>
            <a:ext cx="2492949" cy="351790"/>
          </a:xfrm>
          <a:prstGeom prst="rect">
            <a:avLst/>
          </a:prstGeom>
        </p:spPr>
        <p:txBody>
          <a:bodyPr anchor="t" rtlCol="false" tIns="0" lIns="0" bIns="0" rIns="0">
            <a:spAutoFit/>
          </a:bodyPr>
          <a:lstStyle/>
          <a:p>
            <a:pPr algn="l">
              <a:lnSpc>
                <a:spcPts val="2660"/>
              </a:lnSpc>
              <a:spcBef>
                <a:spcPct val="0"/>
              </a:spcBef>
            </a:pPr>
            <a:r>
              <a:rPr lang="en-US" sz="1900" spc="95">
                <a:solidFill>
                  <a:srgbClr val="164B82"/>
                </a:solidFill>
                <a:latin typeface="Telegraf Extra-Light"/>
                <a:ea typeface="Telegraf Extra-Light"/>
                <a:cs typeface="Telegraf Extra-Light"/>
                <a:sym typeface="Telegraf Extra-Light"/>
              </a:rPr>
              <a:t>Studio Shodwe</a:t>
            </a:r>
          </a:p>
        </p:txBody>
      </p:sp>
      <p:sp>
        <p:nvSpPr>
          <p:cNvPr name="TextBox 8" id="8"/>
          <p:cNvSpPr txBox="true"/>
          <p:nvPr/>
        </p:nvSpPr>
        <p:spPr>
          <a:xfrm rot="0">
            <a:off x="13305333" y="782737"/>
            <a:ext cx="1819999" cy="351790"/>
          </a:xfrm>
          <a:prstGeom prst="rect">
            <a:avLst/>
          </a:prstGeom>
        </p:spPr>
        <p:txBody>
          <a:bodyPr anchor="t" rtlCol="false" tIns="0" lIns="0" bIns="0" rIns="0">
            <a:spAutoFit/>
          </a:bodyPr>
          <a:lstStyle/>
          <a:p>
            <a:pPr algn="r">
              <a:lnSpc>
                <a:spcPts val="2660"/>
              </a:lnSpc>
              <a:spcBef>
                <a:spcPct val="0"/>
              </a:spcBef>
            </a:pPr>
            <a:r>
              <a:rPr lang="en-US" sz="1900" spc="95">
                <a:solidFill>
                  <a:srgbClr val="164B82"/>
                </a:solidFill>
                <a:latin typeface="Telegraf Extra-Light"/>
                <a:ea typeface="Telegraf Extra-Light"/>
                <a:cs typeface="Telegraf Extra-Light"/>
                <a:sym typeface="Telegraf Extra-Light"/>
              </a:rPr>
              <a:t>2024</a:t>
            </a:r>
          </a:p>
        </p:txBody>
      </p:sp>
      <p:sp>
        <p:nvSpPr>
          <p:cNvPr name="TextBox 9" id="9"/>
          <p:cNvSpPr txBox="true"/>
          <p:nvPr/>
        </p:nvSpPr>
        <p:spPr>
          <a:xfrm rot="0">
            <a:off x="11045641" y="782737"/>
            <a:ext cx="1819999" cy="351790"/>
          </a:xfrm>
          <a:prstGeom prst="rect">
            <a:avLst/>
          </a:prstGeom>
        </p:spPr>
        <p:txBody>
          <a:bodyPr anchor="t" rtlCol="false" tIns="0" lIns="0" bIns="0" rIns="0">
            <a:spAutoFit/>
          </a:bodyPr>
          <a:lstStyle/>
          <a:p>
            <a:pPr algn="ctr">
              <a:lnSpc>
                <a:spcPts val="2660"/>
              </a:lnSpc>
              <a:spcBef>
                <a:spcPct val="0"/>
              </a:spcBef>
            </a:pPr>
            <a:r>
              <a:rPr lang="en-US" sz="1900" spc="95">
                <a:solidFill>
                  <a:srgbClr val="164B82"/>
                </a:solidFill>
                <a:latin typeface="Telegraf Extra-Light"/>
                <a:ea typeface="Telegraf Extra-Light"/>
                <a:cs typeface="Telegraf Extra-Light"/>
                <a:sym typeface="Telegraf Extra-Light"/>
              </a:rPr>
              <a:t>Project.</a:t>
            </a:r>
          </a:p>
        </p:txBody>
      </p:sp>
      <p:grpSp>
        <p:nvGrpSpPr>
          <p:cNvPr name="Group 10" id="10"/>
          <p:cNvGrpSpPr/>
          <p:nvPr/>
        </p:nvGrpSpPr>
        <p:grpSpPr>
          <a:xfrm rot="5400000">
            <a:off x="11279340" y="-3711595"/>
            <a:ext cx="643045" cy="9407130"/>
            <a:chOff x="0" y="0"/>
            <a:chExt cx="169362" cy="2477598"/>
          </a:xfrm>
        </p:grpSpPr>
        <p:sp>
          <p:nvSpPr>
            <p:cNvPr name="Freeform 11" id="11"/>
            <p:cNvSpPr/>
            <p:nvPr/>
          </p:nvSpPr>
          <p:spPr>
            <a:xfrm flipH="false" flipV="false" rot="0">
              <a:off x="0" y="0"/>
              <a:ext cx="169362" cy="2477598"/>
            </a:xfrm>
            <a:custGeom>
              <a:avLst/>
              <a:gdLst/>
              <a:ahLst/>
              <a:cxnLst/>
              <a:rect r="r" b="b" t="t" l="l"/>
              <a:pathLst>
                <a:path h="2477598" w="169362">
                  <a:moveTo>
                    <a:pt x="84681" y="0"/>
                  </a:moveTo>
                  <a:lnTo>
                    <a:pt x="84681" y="0"/>
                  </a:lnTo>
                  <a:cubicBezTo>
                    <a:pt x="107140" y="0"/>
                    <a:pt x="128678" y="8922"/>
                    <a:pt x="144559" y="24802"/>
                  </a:cubicBezTo>
                  <a:cubicBezTo>
                    <a:pt x="160440" y="40683"/>
                    <a:pt x="169362" y="62222"/>
                    <a:pt x="169362" y="84681"/>
                  </a:cubicBezTo>
                  <a:lnTo>
                    <a:pt x="169362" y="2392917"/>
                  </a:lnTo>
                  <a:cubicBezTo>
                    <a:pt x="169362" y="2439685"/>
                    <a:pt x="131449" y="2477598"/>
                    <a:pt x="84681" y="2477598"/>
                  </a:cubicBezTo>
                  <a:lnTo>
                    <a:pt x="84681" y="2477598"/>
                  </a:lnTo>
                  <a:cubicBezTo>
                    <a:pt x="37913" y="2477598"/>
                    <a:pt x="0" y="2439685"/>
                    <a:pt x="0" y="2392917"/>
                  </a:cubicBezTo>
                  <a:lnTo>
                    <a:pt x="0" y="84681"/>
                  </a:lnTo>
                  <a:cubicBezTo>
                    <a:pt x="0" y="37913"/>
                    <a:pt x="37913" y="0"/>
                    <a:pt x="84681" y="0"/>
                  </a:cubicBezTo>
                  <a:close/>
                </a:path>
              </a:pathLst>
            </a:custGeom>
            <a:ln w="19050" cap="rnd">
              <a:solidFill>
                <a:srgbClr val="164B82"/>
              </a:solidFill>
              <a:prstDash val="solid"/>
              <a:round/>
            </a:ln>
          </p:spPr>
        </p:sp>
        <p:sp>
          <p:nvSpPr>
            <p:cNvPr name="TextBox 12" id="12"/>
            <p:cNvSpPr txBox="true"/>
            <p:nvPr/>
          </p:nvSpPr>
          <p:spPr>
            <a:xfrm>
              <a:off x="0" y="-57150"/>
              <a:ext cx="169362" cy="2534748"/>
            </a:xfrm>
            <a:prstGeom prst="rect">
              <a:avLst/>
            </a:prstGeom>
          </p:spPr>
          <p:txBody>
            <a:bodyPr anchor="ctr" rtlCol="false" tIns="50800" lIns="50800" bIns="50800" rIns="50800"/>
            <a:lstStyle/>
            <a:p>
              <a:pPr algn="ctr">
                <a:lnSpc>
                  <a:spcPts val="3639"/>
                </a:lnSpc>
              </a:pPr>
            </a:p>
          </p:txBody>
        </p:sp>
      </p:grpSp>
      <p:grpSp>
        <p:nvGrpSpPr>
          <p:cNvPr name="Group 13" id="13"/>
          <p:cNvGrpSpPr/>
          <p:nvPr/>
        </p:nvGrpSpPr>
        <p:grpSpPr>
          <a:xfrm rot="0">
            <a:off x="1131802" y="5322091"/>
            <a:ext cx="4245661" cy="4178137"/>
            <a:chOff x="0" y="0"/>
            <a:chExt cx="1118199" cy="1100415"/>
          </a:xfrm>
        </p:grpSpPr>
        <p:sp>
          <p:nvSpPr>
            <p:cNvPr name="Freeform 14" id="14"/>
            <p:cNvSpPr/>
            <p:nvPr/>
          </p:nvSpPr>
          <p:spPr>
            <a:xfrm flipH="false" flipV="false" rot="0">
              <a:off x="0" y="0"/>
              <a:ext cx="1118199" cy="1100415"/>
            </a:xfrm>
            <a:custGeom>
              <a:avLst/>
              <a:gdLst/>
              <a:ahLst/>
              <a:cxnLst/>
              <a:rect r="r" b="b" t="t" l="l"/>
              <a:pathLst>
                <a:path h="1100415" w="1118199">
                  <a:moveTo>
                    <a:pt x="92998" y="0"/>
                  </a:moveTo>
                  <a:lnTo>
                    <a:pt x="1025201" y="0"/>
                  </a:lnTo>
                  <a:cubicBezTo>
                    <a:pt x="1049865" y="0"/>
                    <a:pt x="1073520" y="9798"/>
                    <a:pt x="1090960" y="27238"/>
                  </a:cubicBezTo>
                  <a:cubicBezTo>
                    <a:pt x="1108401" y="44679"/>
                    <a:pt x="1118199" y="68333"/>
                    <a:pt x="1118199" y="92998"/>
                  </a:cubicBezTo>
                  <a:lnTo>
                    <a:pt x="1118199" y="1007417"/>
                  </a:lnTo>
                  <a:cubicBezTo>
                    <a:pt x="1118199" y="1032081"/>
                    <a:pt x="1108401" y="1055736"/>
                    <a:pt x="1090960" y="1073176"/>
                  </a:cubicBezTo>
                  <a:cubicBezTo>
                    <a:pt x="1073520" y="1090617"/>
                    <a:pt x="1049865" y="1100415"/>
                    <a:pt x="1025201" y="1100415"/>
                  </a:cubicBezTo>
                  <a:lnTo>
                    <a:pt x="92998" y="1100415"/>
                  </a:lnTo>
                  <a:cubicBezTo>
                    <a:pt x="41637" y="1100415"/>
                    <a:pt x="0" y="1058778"/>
                    <a:pt x="0" y="1007417"/>
                  </a:cubicBezTo>
                  <a:lnTo>
                    <a:pt x="0" y="92998"/>
                  </a:lnTo>
                  <a:cubicBezTo>
                    <a:pt x="0" y="41637"/>
                    <a:pt x="41637" y="0"/>
                    <a:pt x="92998" y="0"/>
                  </a:cubicBezTo>
                  <a:close/>
                </a:path>
              </a:pathLst>
            </a:custGeom>
            <a:solidFill>
              <a:srgbClr val="F2F7FA"/>
            </a:solidFill>
            <a:ln w="38100" cap="rnd">
              <a:solidFill>
                <a:srgbClr val="000000"/>
              </a:solidFill>
              <a:prstDash val="solid"/>
              <a:round/>
            </a:ln>
          </p:spPr>
        </p:sp>
        <p:sp>
          <p:nvSpPr>
            <p:cNvPr name="TextBox 15" id="15"/>
            <p:cNvSpPr txBox="true"/>
            <p:nvPr/>
          </p:nvSpPr>
          <p:spPr>
            <a:xfrm>
              <a:off x="0" y="-57150"/>
              <a:ext cx="1118199" cy="1157565"/>
            </a:xfrm>
            <a:prstGeom prst="rect">
              <a:avLst/>
            </a:prstGeom>
          </p:spPr>
          <p:txBody>
            <a:bodyPr anchor="ctr" rtlCol="false" tIns="50800" lIns="50800" bIns="50800" rIns="50800"/>
            <a:lstStyle/>
            <a:p>
              <a:pPr algn="ctr">
                <a:lnSpc>
                  <a:spcPts val="3639"/>
                </a:lnSpc>
              </a:pPr>
            </a:p>
          </p:txBody>
        </p:sp>
      </p:grpSp>
      <p:sp>
        <p:nvSpPr>
          <p:cNvPr name="Freeform 16" id="16"/>
          <p:cNvSpPr/>
          <p:nvPr/>
        </p:nvSpPr>
        <p:spPr>
          <a:xfrm flipH="false" flipV="false" rot="0">
            <a:off x="2836906" y="5465860"/>
            <a:ext cx="835454" cy="818404"/>
          </a:xfrm>
          <a:custGeom>
            <a:avLst/>
            <a:gdLst/>
            <a:ahLst/>
            <a:cxnLst/>
            <a:rect r="r" b="b" t="t" l="l"/>
            <a:pathLst>
              <a:path h="818404" w="835454">
                <a:moveTo>
                  <a:pt x="0" y="0"/>
                </a:moveTo>
                <a:lnTo>
                  <a:pt x="835454" y="0"/>
                </a:lnTo>
                <a:lnTo>
                  <a:pt x="835454" y="818404"/>
                </a:lnTo>
                <a:lnTo>
                  <a:pt x="0" y="818404"/>
                </a:lnTo>
                <a:lnTo>
                  <a:pt x="0" y="0"/>
                </a:lnTo>
                <a:close/>
              </a:path>
            </a:pathLst>
          </a:custGeom>
          <a:blipFill>
            <a:blip r:embed="rId4"/>
            <a:stretch>
              <a:fillRect l="0" t="0" r="0" b="0"/>
            </a:stretch>
          </a:blipFill>
        </p:spPr>
      </p:sp>
      <p:sp>
        <p:nvSpPr>
          <p:cNvPr name="TextBox 17" id="17"/>
          <p:cNvSpPr txBox="true"/>
          <p:nvPr/>
        </p:nvSpPr>
        <p:spPr>
          <a:xfrm rot="0">
            <a:off x="992940" y="2516550"/>
            <a:ext cx="16266360" cy="710373"/>
          </a:xfrm>
          <a:prstGeom prst="rect">
            <a:avLst/>
          </a:prstGeom>
        </p:spPr>
        <p:txBody>
          <a:bodyPr anchor="t" rtlCol="false" tIns="0" lIns="0" bIns="0" rIns="0">
            <a:spAutoFit/>
          </a:bodyPr>
          <a:lstStyle/>
          <a:p>
            <a:pPr algn="l">
              <a:lnSpc>
                <a:spcPts val="4927"/>
              </a:lnSpc>
            </a:pPr>
            <a:r>
              <a:rPr lang="en-US" sz="5080" b="true">
                <a:solidFill>
                  <a:srgbClr val="343434"/>
                </a:solidFill>
                <a:latin typeface="Telegraf Bold"/>
                <a:ea typeface="Telegraf Bold"/>
                <a:cs typeface="Telegraf Bold"/>
                <a:sym typeface="Telegraf Bold"/>
              </a:rPr>
              <a:t>XỬ LÝ DỮ LIỆU BỊ THIẾU (MISSING DATA)</a:t>
            </a:r>
          </a:p>
        </p:txBody>
      </p:sp>
      <p:sp>
        <p:nvSpPr>
          <p:cNvPr name="TextBox 18" id="18"/>
          <p:cNvSpPr txBox="true"/>
          <p:nvPr/>
        </p:nvSpPr>
        <p:spPr>
          <a:xfrm rot="0">
            <a:off x="1028700" y="3469161"/>
            <a:ext cx="15275727" cy="791845"/>
          </a:xfrm>
          <a:prstGeom prst="rect">
            <a:avLst/>
          </a:prstGeom>
        </p:spPr>
        <p:txBody>
          <a:bodyPr anchor="t" rtlCol="false" tIns="0" lIns="0" bIns="0" rIns="0">
            <a:spAutoFit/>
          </a:bodyPr>
          <a:lstStyle/>
          <a:p>
            <a:pPr algn="l" marL="474979" indent="-237490" lvl="1">
              <a:lnSpc>
                <a:spcPts val="3079"/>
              </a:lnSpc>
              <a:buFont typeface="Arial"/>
              <a:buChar char="•"/>
            </a:pPr>
            <a:r>
              <a:rPr lang="en-US" sz="2199" spc="109">
                <a:solidFill>
                  <a:srgbClr val="343434"/>
                </a:solidFill>
                <a:latin typeface="Telegraf"/>
                <a:ea typeface="Telegraf"/>
                <a:cs typeface="Telegraf"/>
                <a:sym typeface="Telegraf"/>
              </a:rPr>
              <a:t>Giải pháp</a:t>
            </a:r>
            <a:r>
              <a:rPr lang="en-US" sz="2199" spc="109">
                <a:solidFill>
                  <a:srgbClr val="343434"/>
                </a:solidFill>
                <a:latin typeface="Telegraf"/>
                <a:ea typeface="Telegraf"/>
                <a:cs typeface="Telegraf"/>
                <a:sym typeface="Telegraf"/>
              </a:rPr>
              <a:t> chính là loại bỏ sự quan sát của dữ liệu thiếu. Trong 1 bộ dữ liệu khi có dữ liệu thiếu ta sẽ không muốn vì nó mà bỏ hết tất cả tài liệu tiềm năng khác nên ta ko lên loại bỏ hẳn dữ liệu đó</a:t>
            </a:r>
          </a:p>
        </p:txBody>
      </p:sp>
      <p:sp>
        <p:nvSpPr>
          <p:cNvPr name="TextBox 19" id="19"/>
          <p:cNvSpPr txBox="true"/>
          <p:nvPr/>
        </p:nvSpPr>
        <p:spPr>
          <a:xfrm rot="0">
            <a:off x="1131802" y="4573426"/>
            <a:ext cx="13186632" cy="493395"/>
          </a:xfrm>
          <a:prstGeom prst="rect">
            <a:avLst/>
          </a:prstGeom>
        </p:spPr>
        <p:txBody>
          <a:bodyPr anchor="t" rtlCol="false" tIns="0" lIns="0" bIns="0" rIns="0">
            <a:spAutoFit/>
          </a:bodyPr>
          <a:lstStyle/>
          <a:p>
            <a:pPr algn="l">
              <a:lnSpc>
                <a:spcPts val="3779"/>
              </a:lnSpc>
            </a:pPr>
            <a:r>
              <a:rPr lang="en-US" b="true" sz="2699" spc="134">
                <a:solidFill>
                  <a:srgbClr val="343434"/>
                </a:solidFill>
                <a:latin typeface="Telegraf Bold"/>
                <a:ea typeface="Telegraf Bold"/>
                <a:cs typeface="Telegraf Bold"/>
                <a:sym typeface="Telegraf Bold"/>
              </a:rPr>
              <a:t>Các phương pháp phổ biến:</a:t>
            </a:r>
          </a:p>
        </p:txBody>
      </p:sp>
      <p:sp>
        <p:nvSpPr>
          <p:cNvPr name="TextBox 20" id="20"/>
          <p:cNvSpPr txBox="true"/>
          <p:nvPr/>
        </p:nvSpPr>
        <p:spPr>
          <a:xfrm rot="0">
            <a:off x="1137272" y="6206051"/>
            <a:ext cx="4297858" cy="903198"/>
          </a:xfrm>
          <a:prstGeom prst="rect">
            <a:avLst/>
          </a:prstGeom>
        </p:spPr>
        <p:txBody>
          <a:bodyPr anchor="t" rtlCol="false" tIns="0" lIns="0" bIns="0" rIns="0">
            <a:spAutoFit/>
          </a:bodyPr>
          <a:lstStyle/>
          <a:p>
            <a:pPr algn="ctr">
              <a:lnSpc>
                <a:spcPts val="3630"/>
              </a:lnSpc>
              <a:spcBef>
                <a:spcPct val="0"/>
              </a:spcBef>
            </a:pPr>
            <a:r>
              <a:rPr lang="en-US" b="true" sz="2592">
                <a:solidFill>
                  <a:srgbClr val="000000"/>
                </a:solidFill>
                <a:latin typeface="TT Hoves Bold"/>
                <a:ea typeface="TT Hoves Bold"/>
                <a:cs typeface="TT Hoves Bold"/>
                <a:sym typeface="TT Hoves Bold"/>
              </a:rPr>
              <a:t>Đ</a:t>
            </a:r>
            <a:r>
              <a:rPr lang="en-US" b="true" sz="2592">
                <a:solidFill>
                  <a:srgbClr val="000000"/>
                </a:solidFill>
                <a:latin typeface="TT Hoves Bold"/>
                <a:ea typeface="TT Hoves Bold"/>
                <a:cs typeface="TT Hoves Bold"/>
                <a:sym typeface="TT Hoves Bold"/>
              </a:rPr>
              <a:t>iền Xuôi (Forward Fill)</a:t>
            </a:r>
          </a:p>
          <a:p>
            <a:pPr algn="ctr">
              <a:lnSpc>
                <a:spcPts val="3630"/>
              </a:lnSpc>
              <a:spcBef>
                <a:spcPct val="0"/>
              </a:spcBef>
            </a:pPr>
          </a:p>
        </p:txBody>
      </p:sp>
      <p:sp>
        <p:nvSpPr>
          <p:cNvPr name="TextBox 21" id="21"/>
          <p:cNvSpPr txBox="true"/>
          <p:nvPr/>
        </p:nvSpPr>
        <p:spPr>
          <a:xfrm rot="0">
            <a:off x="1595018" y="7052098"/>
            <a:ext cx="3319230" cy="2399205"/>
          </a:xfrm>
          <a:prstGeom prst="rect">
            <a:avLst/>
          </a:prstGeom>
        </p:spPr>
        <p:txBody>
          <a:bodyPr anchor="t" rtlCol="false" tIns="0" lIns="0" bIns="0" rIns="0">
            <a:spAutoFit/>
          </a:bodyPr>
          <a:lstStyle/>
          <a:p>
            <a:pPr algn="ctr">
              <a:lnSpc>
                <a:spcPts val="3210"/>
              </a:lnSpc>
              <a:spcBef>
                <a:spcPct val="0"/>
              </a:spcBef>
            </a:pPr>
            <a:r>
              <a:rPr lang="en-US" sz="2293">
                <a:solidFill>
                  <a:srgbClr val="000000"/>
                </a:solidFill>
                <a:latin typeface="TT Hoves"/>
                <a:ea typeface="TT Hoves"/>
                <a:cs typeface="TT Hoves"/>
                <a:sym typeface="TT Hoves"/>
              </a:rPr>
              <a:t>Thay thế giá trị NaN bằng giá trị đã biết liền trước đó trong chuỗi thời gian. Thường dùng trong `ffill` của Pandas.</a:t>
            </a:r>
          </a:p>
          <a:p>
            <a:pPr algn="ctr">
              <a:lnSpc>
                <a:spcPts val="3210"/>
              </a:lnSpc>
              <a:spcBef>
                <a:spcPct val="0"/>
              </a:spcBef>
            </a:pPr>
          </a:p>
        </p:txBody>
      </p:sp>
      <p:grpSp>
        <p:nvGrpSpPr>
          <p:cNvPr name="Group 22" id="22"/>
          <p:cNvGrpSpPr/>
          <p:nvPr/>
        </p:nvGrpSpPr>
        <p:grpSpPr>
          <a:xfrm rot="0">
            <a:off x="6444780" y="5322091"/>
            <a:ext cx="4466888" cy="4178137"/>
            <a:chOff x="0" y="0"/>
            <a:chExt cx="1176464" cy="1100415"/>
          </a:xfrm>
        </p:grpSpPr>
        <p:sp>
          <p:nvSpPr>
            <p:cNvPr name="Freeform 23" id="23"/>
            <p:cNvSpPr/>
            <p:nvPr/>
          </p:nvSpPr>
          <p:spPr>
            <a:xfrm flipH="false" flipV="false" rot="0">
              <a:off x="0" y="0"/>
              <a:ext cx="1176464" cy="1100415"/>
            </a:xfrm>
            <a:custGeom>
              <a:avLst/>
              <a:gdLst/>
              <a:ahLst/>
              <a:cxnLst/>
              <a:rect r="r" b="b" t="t" l="l"/>
              <a:pathLst>
                <a:path h="1100415" w="1176464">
                  <a:moveTo>
                    <a:pt x="88392" y="0"/>
                  </a:moveTo>
                  <a:lnTo>
                    <a:pt x="1088072" y="0"/>
                  </a:lnTo>
                  <a:cubicBezTo>
                    <a:pt x="1111515" y="0"/>
                    <a:pt x="1133998" y="9313"/>
                    <a:pt x="1150575" y="25889"/>
                  </a:cubicBezTo>
                  <a:cubicBezTo>
                    <a:pt x="1167152" y="42466"/>
                    <a:pt x="1176464" y="64949"/>
                    <a:pt x="1176464" y="88392"/>
                  </a:cubicBezTo>
                  <a:lnTo>
                    <a:pt x="1176464" y="1012023"/>
                  </a:lnTo>
                  <a:cubicBezTo>
                    <a:pt x="1176464" y="1035466"/>
                    <a:pt x="1167152" y="1057949"/>
                    <a:pt x="1150575" y="1074525"/>
                  </a:cubicBezTo>
                  <a:cubicBezTo>
                    <a:pt x="1133998" y="1091102"/>
                    <a:pt x="1111515" y="1100415"/>
                    <a:pt x="1088072" y="1100415"/>
                  </a:cubicBezTo>
                  <a:lnTo>
                    <a:pt x="88392" y="1100415"/>
                  </a:lnTo>
                  <a:cubicBezTo>
                    <a:pt x="64949" y="1100415"/>
                    <a:pt x="42466" y="1091102"/>
                    <a:pt x="25889" y="1074525"/>
                  </a:cubicBezTo>
                  <a:cubicBezTo>
                    <a:pt x="9313" y="1057949"/>
                    <a:pt x="0" y="1035466"/>
                    <a:pt x="0" y="1012023"/>
                  </a:cubicBezTo>
                  <a:lnTo>
                    <a:pt x="0" y="88392"/>
                  </a:lnTo>
                  <a:cubicBezTo>
                    <a:pt x="0" y="64949"/>
                    <a:pt x="9313" y="42466"/>
                    <a:pt x="25889" y="25889"/>
                  </a:cubicBezTo>
                  <a:cubicBezTo>
                    <a:pt x="42466" y="9313"/>
                    <a:pt x="64949" y="0"/>
                    <a:pt x="88392" y="0"/>
                  </a:cubicBezTo>
                  <a:close/>
                </a:path>
              </a:pathLst>
            </a:custGeom>
            <a:solidFill>
              <a:srgbClr val="F2F7FA"/>
            </a:solidFill>
            <a:ln w="38100" cap="rnd">
              <a:solidFill>
                <a:srgbClr val="000000"/>
              </a:solidFill>
              <a:prstDash val="solid"/>
              <a:round/>
            </a:ln>
          </p:spPr>
        </p:sp>
        <p:sp>
          <p:nvSpPr>
            <p:cNvPr name="TextBox 24" id="24"/>
            <p:cNvSpPr txBox="true"/>
            <p:nvPr/>
          </p:nvSpPr>
          <p:spPr>
            <a:xfrm>
              <a:off x="0" y="-57150"/>
              <a:ext cx="1176464" cy="1157565"/>
            </a:xfrm>
            <a:prstGeom prst="rect">
              <a:avLst/>
            </a:prstGeom>
          </p:spPr>
          <p:txBody>
            <a:bodyPr anchor="ctr" rtlCol="false" tIns="50800" lIns="50800" bIns="50800" rIns="50800"/>
            <a:lstStyle/>
            <a:p>
              <a:pPr algn="ctr">
                <a:lnSpc>
                  <a:spcPts val="3639"/>
                </a:lnSpc>
              </a:pPr>
            </a:p>
          </p:txBody>
        </p:sp>
      </p:grpSp>
      <p:sp>
        <p:nvSpPr>
          <p:cNvPr name="Freeform 25" id="25"/>
          <p:cNvSpPr/>
          <p:nvPr/>
        </p:nvSpPr>
        <p:spPr>
          <a:xfrm flipH="false" flipV="false" rot="0">
            <a:off x="8149884" y="5444797"/>
            <a:ext cx="835454" cy="818404"/>
          </a:xfrm>
          <a:custGeom>
            <a:avLst/>
            <a:gdLst/>
            <a:ahLst/>
            <a:cxnLst/>
            <a:rect r="r" b="b" t="t" l="l"/>
            <a:pathLst>
              <a:path h="818404" w="835454">
                <a:moveTo>
                  <a:pt x="0" y="0"/>
                </a:moveTo>
                <a:lnTo>
                  <a:pt x="835453" y="0"/>
                </a:lnTo>
                <a:lnTo>
                  <a:pt x="835453" y="818404"/>
                </a:lnTo>
                <a:lnTo>
                  <a:pt x="0" y="818404"/>
                </a:lnTo>
                <a:lnTo>
                  <a:pt x="0" y="0"/>
                </a:lnTo>
                <a:close/>
              </a:path>
            </a:pathLst>
          </a:custGeom>
          <a:blipFill>
            <a:blip r:embed="rId5"/>
            <a:stretch>
              <a:fillRect l="0" t="-1041" r="0" b="-1041"/>
            </a:stretch>
          </a:blipFill>
        </p:spPr>
      </p:sp>
      <p:sp>
        <p:nvSpPr>
          <p:cNvPr name="TextBox 26" id="26"/>
          <p:cNvSpPr txBox="true"/>
          <p:nvPr/>
        </p:nvSpPr>
        <p:spPr>
          <a:xfrm rot="0">
            <a:off x="6444780" y="6206051"/>
            <a:ext cx="4334152" cy="1359152"/>
          </a:xfrm>
          <a:prstGeom prst="rect">
            <a:avLst/>
          </a:prstGeom>
        </p:spPr>
        <p:txBody>
          <a:bodyPr anchor="t" rtlCol="false" tIns="0" lIns="0" bIns="0" rIns="0">
            <a:spAutoFit/>
          </a:bodyPr>
          <a:lstStyle/>
          <a:p>
            <a:pPr algn="ctr">
              <a:lnSpc>
                <a:spcPts val="3630"/>
              </a:lnSpc>
              <a:spcBef>
                <a:spcPct val="0"/>
              </a:spcBef>
            </a:pPr>
            <a:r>
              <a:rPr lang="en-US" b="true" sz="2592">
                <a:solidFill>
                  <a:srgbClr val="000000"/>
                </a:solidFill>
                <a:latin typeface="TT Hoves Bold"/>
                <a:ea typeface="TT Hoves Bold"/>
                <a:cs typeface="TT Hoves Bold"/>
                <a:sym typeface="TT Hoves Bold"/>
              </a:rPr>
              <a:t>Đ</a:t>
            </a:r>
            <a:r>
              <a:rPr lang="en-US" b="true" sz="2592">
                <a:solidFill>
                  <a:srgbClr val="000000"/>
                </a:solidFill>
                <a:latin typeface="TT Hoves Bold"/>
                <a:ea typeface="TT Hoves Bold"/>
                <a:cs typeface="TT Hoves Bold"/>
                <a:sym typeface="TT Hoves Bold"/>
              </a:rPr>
              <a:t>iền Ngược (Backward Fill)</a:t>
            </a:r>
          </a:p>
          <a:p>
            <a:pPr algn="ctr">
              <a:lnSpc>
                <a:spcPts val="3630"/>
              </a:lnSpc>
              <a:spcBef>
                <a:spcPct val="0"/>
              </a:spcBef>
            </a:pPr>
          </a:p>
        </p:txBody>
      </p:sp>
      <p:sp>
        <p:nvSpPr>
          <p:cNvPr name="TextBox 27" id="27"/>
          <p:cNvSpPr txBox="true"/>
          <p:nvPr/>
        </p:nvSpPr>
        <p:spPr>
          <a:xfrm rot="0">
            <a:off x="6897297" y="7200728"/>
            <a:ext cx="3319230" cy="1999155"/>
          </a:xfrm>
          <a:prstGeom prst="rect">
            <a:avLst/>
          </a:prstGeom>
        </p:spPr>
        <p:txBody>
          <a:bodyPr anchor="t" rtlCol="false" tIns="0" lIns="0" bIns="0" rIns="0">
            <a:spAutoFit/>
          </a:bodyPr>
          <a:lstStyle/>
          <a:p>
            <a:pPr algn="ctr">
              <a:lnSpc>
                <a:spcPts val="3210"/>
              </a:lnSpc>
              <a:spcBef>
                <a:spcPct val="0"/>
              </a:spcBef>
            </a:pPr>
            <a:r>
              <a:rPr lang="en-US" sz="2293">
                <a:solidFill>
                  <a:srgbClr val="000000"/>
                </a:solidFill>
                <a:latin typeface="TT Hoves"/>
                <a:ea typeface="TT Hoves"/>
                <a:cs typeface="TT Hoves"/>
                <a:sym typeface="TT Hoves"/>
              </a:rPr>
              <a:t>Điền</a:t>
            </a:r>
            <a:r>
              <a:rPr lang="en-US" sz="2293">
                <a:solidFill>
                  <a:srgbClr val="000000"/>
                </a:solidFill>
                <a:latin typeface="TT Hoves"/>
                <a:ea typeface="TT Hoves"/>
                <a:cs typeface="TT Hoves"/>
                <a:sym typeface="TT Hoves"/>
              </a:rPr>
              <a:t> giá trị bị thiếu bằng giá trị đã biết tiếp theo (`bfill`). Phương pháp cơ bản để tránh bỏ sót dữ liệu tiềm năng.</a:t>
            </a:r>
          </a:p>
        </p:txBody>
      </p:sp>
      <p:grpSp>
        <p:nvGrpSpPr>
          <p:cNvPr name="Group 28" id="28"/>
          <p:cNvGrpSpPr/>
          <p:nvPr/>
        </p:nvGrpSpPr>
        <p:grpSpPr>
          <a:xfrm rot="0">
            <a:off x="11785672" y="5322091"/>
            <a:ext cx="4466888" cy="4178137"/>
            <a:chOff x="0" y="0"/>
            <a:chExt cx="1176464" cy="1100415"/>
          </a:xfrm>
        </p:grpSpPr>
        <p:sp>
          <p:nvSpPr>
            <p:cNvPr name="Freeform 29" id="29"/>
            <p:cNvSpPr/>
            <p:nvPr/>
          </p:nvSpPr>
          <p:spPr>
            <a:xfrm flipH="false" flipV="false" rot="0">
              <a:off x="0" y="0"/>
              <a:ext cx="1176464" cy="1100415"/>
            </a:xfrm>
            <a:custGeom>
              <a:avLst/>
              <a:gdLst/>
              <a:ahLst/>
              <a:cxnLst/>
              <a:rect r="r" b="b" t="t" l="l"/>
              <a:pathLst>
                <a:path h="1100415" w="1176464">
                  <a:moveTo>
                    <a:pt x="88392" y="0"/>
                  </a:moveTo>
                  <a:lnTo>
                    <a:pt x="1088072" y="0"/>
                  </a:lnTo>
                  <a:cubicBezTo>
                    <a:pt x="1111515" y="0"/>
                    <a:pt x="1133998" y="9313"/>
                    <a:pt x="1150575" y="25889"/>
                  </a:cubicBezTo>
                  <a:cubicBezTo>
                    <a:pt x="1167152" y="42466"/>
                    <a:pt x="1176464" y="64949"/>
                    <a:pt x="1176464" y="88392"/>
                  </a:cubicBezTo>
                  <a:lnTo>
                    <a:pt x="1176464" y="1012023"/>
                  </a:lnTo>
                  <a:cubicBezTo>
                    <a:pt x="1176464" y="1035466"/>
                    <a:pt x="1167152" y="1057949"/>
                    <a:pt x="1150575" y="1074525"/>
                  </a:cubicBezTo>
                  <a:cubicBezTo>
                    <a:pt x="1133998" y="1091102"/>
                    <a:pt x="1111515" y="1100415"/>
                    <a:pt x="1088072" y="1100415"/>
                  </a:cubicBezTo>
                  <a:lnTo>
                    <a:pt x="88392" y="1100415"/>
                  </a:lnTo>
                  <a:cubicBezTo>
                    <a:pt x="64949" y="1100415"/>
                    <a:pt x="42466" y="1091102"/>
                    <a:pt x="25889" y="1074525"/>
                  </a:cubicBezTo>
                  <a:cubicBezTo>
                    <a:pt x="9313" y="1057949"/>
                    <a:pt x="0" y="1035466"/>
                    <a:pt x="0" y="1012023"/>
                  </a:cubicBezTo>
                  <a:lnTo>
                    <a:pt x="0" y="88392"/>
                  </a:lnTo>
                  <a:cubicBezTo>
                    <a:pt x="0" y="64949"/>
                    <a:pt x="9313" y="42466"/>
                    <a:pt x="25889" y="25889"/>
                  </a:cubicBezTo>
                  <a:cubicBezTo>
                    <a:pt x="42466" y="9313"/>
                    <a:pt x="64949" y="0"/>
                    <a:pt x="88392" y="0"/>
                  </a:cubicBezTo>
                  <a:close/>
                </a:path>
              </a:pathLst>
            </a:custGeom>
            <a:solidFill>
              <a:srgbClr val="F2F7FA"/>
            </a:solidFill>
            <a:ln w="38100" cap="rnd">
              <a:solidFill>
                <a:srgbClr val="000000"/>
              </a:solidFill>
              <a:prstDash val="solid"/>
              <a:round/>
            </a:ln>
          </p:spPr>
        </p:sp>
        <p:sp>
          <p:nvSpPr>
            <p:cNvPr name="TextBox 30" id="30"/>
            <p:cNvSpPr txBox="true"/>
            <p:nvPr/>
          </p:nvSpPr>
          <p:spPr>
            <a:xfrm>
              <a:off x="0" y="-57150"/>
              <a:ext cx="1176464" cy="1157565"/>
            </a:xfrm>
            <a:prstGeom prst="rect">
              <a:avLst/>
            </a:prstGeom>
          </p:spPr>
          <p:txBody>
            <a:bodyPr anchor="ctr" rtlCol="false" tIns="50800" lIns="50800" bIns="50800" rIns="50800"/>
            <a:lstStyle/>
            <a:p>
              <a:pPr algn="ctr">
                <a:lnSpc>
                  <a:spcPts val="3639"/>
                </a:lnSpc>
              </a:pPr>
            </a:p>
          </p:txBody>
        </p:sp>
      </p:grpSp>
      <p:sp>
        <p:nvSpPr>
          <p:cNvPr name="Freeform 31" id="31"/>
          <p:cNvSpPr/>
          <p:nvPr/>
        </p:nvSpPr>
        <p:spPr>
          <a:xfrm flipH="false" flipV="false" rot="0">
            <a:off x="13601389" y="5444797"/>
            <a:ext cx="835454" cy="818404"/>
          </a:xfrm>
          <a:custGeom>
            <a:avLst/>
            <a:gdLst/>
            <a:ahLst/>
            <a:cxnLst/>
            <a:rect r="r" b="b" t="t" l="l"/>
            <a:pathLst>
              <a:path h="818404" w="835454">
                <a:moveTo>
                  <a:pt x="0" y="0"/>
                </a:moveTo>
                <a:lnTo>
                  <a:pt x="835454" y="0"/>
                </a:lnTo>
                <a:lnTo>
                  <a:pt x="835454" y="818404"/>
                </a:lnTo>
                <a:lnTo>
                  <a:pt x="0" y="818404"/>
                </a:lnTo>
                <a:lnTo>
                  <a:pt x="0" y="0"/>
                </a:lnTo>
                <a:close/>
              </a:path>
            </a:pathLst>
          </a:custGeom>
          <a:blipFill>
            <a:blip r:embed="rId6"/>
            <a:stretch>
              <a:fillRect l="0" t="0" r="0" b="0"/>
            </a:stretch>
          </a:blipFill>
        </p:spPr>
      </p:sp>
      <p:sp>
        <p:nvSpPr>
          <p:cNvPr name="TextBox 32" id="32"/>
          <p:cNvSpPr txBox="true"/>
          <p:nvPr/>
        </p:nvSpPr>
        <p:spPr>
          <a:xfrm rot="0">
            <a:off x="11785672" y="6206051"/>
            <a:ext cx="4334152" cy="447244"/>
          </a:xfrm>
          <a:prstGeom prst="rect">
            <a:avLst/>
          </a:prstGeom>
        </p:spPr>
        <p:txBody>
          <a:bodyPr anchor="t" rtlCol="false" tIns="0" lIns="0" bIns="0" rIns="0">
            <a:spAutoFit/>
          </a:bodyPr>
          <a:lstStyle/>
          <a:p>
            <a:pPr algn="ctr">
              <a:lnSpc>
                <a:spcPts val="3630"/>
              </a:lnSpc>
              <a:spcBef>
                <a:spcPct val="0"/>
              </a:spcBef>
            </a:pPr>
            <a:r>
              <a:rPr lang="en-US" b="true" sz="2592">
                <a:solidFill>
                  <a:srgbClr val="000000"/>
                </a:solidFill>
                <a:latin typeface="TT Hoves Bold"/>
                <a:ea typeface="TT Hoves Bold"/>
                <a:cs typeface="TT Hoves Bold"/>
                <a:sym typeface="TT Hoves Bold"/>
              </a:rPr>
              <a:t>Nộ</a:t>
            </a:r>
            <a:r>
              <a:rPr lang="en-US" b="true" sz="2592">
                <a:solidFill>
                  <a:srgbClr val="000000"/>
                </a:solidFill>
                <a:latin typeface="TT Hoves Bold"/>
                <a:ea typeface="TT Hoves Bold"/>
                <a:cs typeface="TT Hoves Bold"/>
                <a:sym typeface="TT Hoves Bold"/>
              </a:rPr>
              <a:t>i suy (Interpolation)</a:t>
            </a:r>
          </a:p>
        </p:txBody>
      </p:sp>
      <p:sp>
        <p:nvSpPr>
          <p:cNvPr name="TextBox 33" id="33"/>
          <p:cNvSpPr txBox="true"/>
          <p:nvPr/>
        </p:nvSpPr>
        <p:spPr>
          <a:xfrm rot="0">
            <a:off x="12359501" y="6815078"/>
            <a:ext cx="3319230" cy="2399205"/>
          </a:xfrm>
          <a:prstGeom prst="rect">
            <a:avLst/>
          </a:prstGeom>
        </p:spPr>
        <p:txBody>
          <a:bodyPr anchor="t" rtlCol="false" tIns="0" lIns="0" bIns="0" rIns="0">
            <a:spAutoFit/>
          </a:bodyPr>
          <a:lstStyle/>
          <a:p>
            <a:pPr algn="ctr">
              <a:lnSpc>
                <a:spcPts val="3210"/>
              </a:lnSpc>
              <a:spcBef>
                <a:spcPct val="0"/>
              </a:spcBef>
            </a:pPr>
            <a:r>
              <a:rPr lang="en-US" sz="2293">
                <a:solidFill>
                  <a:srgbClr val="000000"/>
                </a:solidFill>
                <a:latin typeface="TT Hoves"/>
                <a:ea typeface="TT Hoves"/>
                <a:cs typeface="TT Hoves"/>
                <a:sym typeface="TT Hoves"/>
              </a:rPr>
              <a:t>Sử</a:t>
            </a:r>
            <a:r>
              <a:rPr lang="en-US" sz="2293">
                <a:solidFill>
                  <a:srgbClr val="000000"/>
                </a:solidFill>
                <a:latin typeface="TT Hoves"/>
                <a:ea typeface="TT Hoves"/>
                <a:cs typeface="TT Hoves"/>
                <a:sym typeface="TT Hoves"/>
              </a:rPr>
              <a:t> dụng phương pháp nội suy tuyến tính (Linear Interpolation) hoặc trung bình động (Moving Average) để lấp đầy khoảng trống dữ liệu.</a:t>
            </a:r>
          </a:p>
        </p:txBody>
      </p:sp>
    </p:spTree>
  </p:cSld>
  <p:clrMapOvr>
    <a:masterClrMapping/>
  </p:clrMapOvr>
</p:sld>
</file>

<file path=ppt/slides/slide28.xml><?xml version="1.0" encoding="utf-8"?>
<p:sld xmlns:p="http://schemas.openxmlformats.org/presentationml/2006/main" xmlns:a="http://schemas.openxmlformats.org/drawingml/2006/main" xmlns:r="http://schemas.openxmlformats.org/officeDocument/2006/relationships">
  <p:cSld>
    <p:bg>
      <p:bgPr>
        <a:solidFill>
          <a:srgbClr val="F2F7FA"/>
        </a:solidFill>
      </p:bgPr>
    </p:bg>
    <p:spTree>
      <p:nvGrpSpPr>
        <p:cNvPr id="1" name=""/>
        <p:cNvGrpSpPr/>
        <p:nvPr/>
      </p:nvGrpSpPr>
      <p:grpSpPr>
        <a:xfrm>
          <a:off x="0" y="0"/>
          <a:ext cx="0" cy="0"/>
          <a:chOff x="0" y="0"/>
          <a:chExt cx="0" cy="0"/>
        </a:xfrm>
      </p:grpSpPr>
      <p:grpSp>
        <p:nvGrpSpPr>
          <p:cNvPr name="Group 2" id="2"/>
          <p:cNvGrpSpPr/>
          <p:nvPr/>
        </p:nvGrpSpPr>
        <p:grpSpPr>
          <a:xfrm rot="0">
            <a:off x="0" y="-392510"/>
            <a:ext cx="4471633" cy="11072020"/>
            <a:chOff x="0" y="0"/>
            <a:chExt cx="1177714" cy="2916088"/>
          </a:xfrm>
        </p:grpSpPr>
        <p:sp>
          <p:nvSpPr>
            <p:cNvPr name="Freeform 3" id="3"/>
            <p:cNvSpPr/>
            <p:nvPr/>
          </p:nvSpPr>
          <p:spPr>
            <a:xfrm flipH="false" flipV="false" rot="0">
              <a:off x="0" y="0"/>
              <a:ext cx="1177714" cy="2916088"/>
            </a:xfrm>
            <a:custGeom>
              <a:avLst/>
              <a:gdLst/>
              <a:ahLst/>
              <a:cxnLst/>
              <a:rect r="r" b="b" t="t" l="l"/>
              <a:pathLst>
                <a:path h="2916088" w="1177714">
                  <a:moveTo>
                    <a:pt x="0" y="0"/>
                  </a:moveTo>
                  <a:lnTo>
                    <a:pt x="1177714" y="0"/>
                  </a:lnTo>
                  <a:lnTo>
                    <a:pt x="1177714" y="2916088"/>
                  </a:lnTo>
                  <a:lnTo>
                    <a:pt x="0" y="2916088"/>
                  </a:lnTo>
                  <a:close/>
                </a:path>
              </a:pathLst>
            </a:custGeom>
            <a:gradFill rotWithShape="true">
              <a:gsLst>
                <a:gs pos="0">
                  <a:srgbClr val="E4B795">
                    <a:alpha val="100000"/>
                  </a:srgbClr>
                </a:gs>
                <a:gs pos="50000">
                  <a:srgbClr val="699ACD">
                    <a:alpha val="100000"/>
                  </a:srgbClr>
                </a:gs>
                <a:gs pos="100000">
                  <a:srgbClr val="2F679F">
                    <a:alpha val="100000"/>
                  </a:srgbClr>
                </a:gs>
              </a:gsLst>
              <a:path path="circle">
                <a:fillToRect l="0" r="100000" t="0" b="100000"/>
              </a:path>
              <a:tileRect r="0" l="-100000" b="0" t="-100000"/>
            </a:gradFill>
          </p:spPr>
        </p:sp>
        <p:sp>
          <p:nvSpPr>
            <p:cNvPr name="TextBox 4" id="4"/>
            <p:cNvSpPr txBox="true"/>
            <p:nvPr/>
          </p:nvSpPr>
          <p:spPr>
            <a:xfrm>
              <a:off x="0" y="-57150"/>
              <a:ext cx="1177714" cy="2973238"/>
            </a:xfrm>
            <a:prstGeom prst="rect">
              <a:avLst/>
            </a:prstGeom>
          </p:spPr>
          <p:txBody>
            <a:bodyPr anchor="ctr" rtlCol="false" tIns="50800" lIns="50800" bIns="50800" rIns="50800"/>
            <a:lstStyle/>
            <a:p>
              <a:pPr algn="ctr">
                <a:lnSpc>
                  <a:spcPts val="3639"/>
                </a:lnSpc>
              </a:pPr>
            </a:p>
          </p:txBody>
        </p:sp>
      </p:grpSp>
      <p:sp>
        <p:nvSpPr>
          <p:cNvPr name="Freeform 5" id="5"/>
          <p:cNvSpPr/>
          <p:nvPr/>
        </p:nvSpPr>
        <p:spPr>
          <a:xfrm flipH="false" flipV="false" rot="-10269688">
            <a:off x="6891288" y="8958035"/>
            <a:ext cx="12760102" cy="5407093"/>
          </a:xfrm>
          <a:custGeom>
            <a:avLst/>
            <a:gdLst/>
            <a:ahLst/>
            <a:cxnLst/>
            <a:rect r="r" b="b" t="t" l="l"/>
            <a:pathLst>
              <a:path h="5407093" w="12760102">
                <a:moveTo>
                  <a:pt x="0" y="0"/>
                </a:moveTo>
                <a:lnTo>
                  <a:pt x="12760103" y="0"/>
                </a:lnTo>
                <a:lnTo>
                  <a:pt x="12760103" y="5407094"/>
                </a:lnTo>
                <a:lnTo>
                  <a:pt x="0" y="5407094"/>
                </a:lnTo>
                <a:lnTo>
                  <a:pt x="0" y="0"/>
                </a:lnTo>
                <a:close/>
              </a:path>
            </a:pathLst>
          </a:custGeom>
          <a:blipFill>
            <a:blip r:embed="rId2"/>
            <a:stretch>
              <a:fillRect l="0" t="0" r="0" b="0"/>
            </a:stretch>
          </a:blipFill>
        </p:spPr>
      </p:sp>
      <p:sp>
        <p:nvSpPr>
          <p:cNvPr name="TextBox 6" id="6"/>
          <p:cNvSpPr txBox="true"/>
          <p:nvPr/>
        </p:nvSpPr>
        <p:spPr>
          <a:xfrm rot="-5400000">
            <a:off x="-1748611" y="3782822"/>
            <a:ext cx="9719132" cy="2721356"/>
          </a:xfrm>
          <a:prstGeom prst="rect">
            <a:avLst/>
          </a:prstGeom>
        </p:spPr>
        <p:txBody>
          <a:bodyPr anchor="t" rtlCol="false" tIns="0" lIns="0" bIns="0" rIns="0">
            <a:spAutoFit/>
          </a:bodyPr>
          <a:lstStyle/>
          <a:p>
            <a:pPr algn="l">
              <a:lnSpc>
                <a:spcPts val="10028"/>
              </a:lnSpc>
            </a:pPr>
            <a:r>
              <a:rPr lang="en-US" sz="10339" b="true">
                <a:solidFill>
                  <a:srgbClr val="F2F7FA"/>
                </a:solidFill>
                <a:latin typeface="Telegraf Bold"/>
                <a:ea typeface="Telegraf Bold"/>
                <a:cs typeface="Telegraf Bold"/>
                <a:sym typeface="Telegraf Bold"/>
              </a:rPr>
              <a:t>CÁCH HOẠT ĐỘNG</a:t>
            </a:r>
          </a:p>
        </p:txBody>
      </p:sp>
      <p:sp>
        <p:nvSpPr>
          <p:cNvPr name="Freeform 7" id="7"/>
          <p:cNvSpPr/>
          <p:nvPr/>
        </p:nvSpPr>
        <p:spPr>
          <a:xfrm flipH="false" flipV="false" rot="4362236">
            <a:off x="13765646" y="-1748200"/>
            <a:ext cx="7735476" cy="4631616"/>
          </a:xfrm>
          <a:custGeom>
            <a:avLst/>
            <a:gdLst/>
            <a:ahLst/>
            <a:cxnLst/>
            <a:rect r="r" b="b" t="t" l="l"/>
            <a:pathLst>
              <a:path h="4631616" w="7735476">
                <a:moveTo>
                  <a:pt x="0" y="0"/>
                </a:moveTo>
                <a:lnTo>
                  <a:pt x="7735475" y="0"/>
                </a:lnTo>
                <a:lnTo>
                  <a:pt x="7735475" y="4631615"/>
                </a:lnTo>
                <a:lnTo>
                  <a:pt x="0" y="4631615"/>
                </a:lnTo>
                <a:lnTo>
                  <a:pt x="0" y="0"/>
                </a:lnTo>
                <a:close/>
              </a:path>
            </a:pathLst>
          </a:custGeom>
          <a:blipFill>
            <a:blip r:embed="rId3"/>
            <a:stretch>
              <a:fillRect l="0" t="0" r="0" b="0"/>
            </a:stretch>
          </a:blipFill>
        </p:spPr>
      </p:sp>
      <p:grpSp>
        <p:nvGrpSpPr>
          <p:cNvPr name="Group 8" id="8"/>
          <p:cNvGrpSpPr/>
          <p:nvPr/>
        </p:nvGrpSpPr>
        <p:grpSpPr>
          <a:xfrm rot="5400000">
            <a:off x="10307317" y="-3710637"/>
            <a:ext cx="643045" cy="9407130"/>
            <a:chOff x="0" y="0"/>
            <a:chExt cx="169362" cy="2477598"/>
          </a:xfrm>
        </p:grpSpPr>
        <p:sp>
          <p:nvSpPr>
            <p:cNvPr name="Freeform 9" id="9"/>
            <p:cNvSpPr/>
            <p:nvPr/>
          </p:nvSpPr>
          <p:spPr>
            <a:xfrm flipH="false" flipV="false" rot="0">
              <a:off x="0" y="0"/>
              <a:ext cx="169362" cy="2477598"/>
            </a:xfrm>
            <a:custGeom>
              <a:avLst/>
              <a:gdLst/>
              <a:ahLst/>
              <a:cxnLst/>
              <a:rect r="r" b="b" t="t" l="l"/>
              <a:pathLst>
                <a:path h="2477598" w="169362">
                  <a:moveTo>
                    <a:pt x="84681" y="0"/>
                  </a:moveTo>
                  <a:lnTo>
                    <a:pt x="84681" y="0"/>
                  </a:lnTo>
                  <a:cubicBezTo>
                    <a:pt x="107140" y="0"/>
                    <a:pt x="128678" y="8922"/>
                    <a:pt x="144559" y="24802"/>
                  </a:cubicBezTo>
                  <a:cubicBezTo>
                    <a:pt x="160440" y="40683"/>
                    <a:pt x="169362" y="62222"/>
                    <a:pt x="169362" y="84681"/>
                  </a:cubicBezTo>
                  <a:lnTo>
                    <a:pt x="169362" y="2392917"/>
                  </a:lnTo>
                  <a:cubicBezTo>
                    <a:pt x="169362" y="2439685"/>
                    <a:pt x="131449" y="2477598"/>
                    <a:pt x="84681" y="2477598"/>
                  </a:cubicBezTo>
                  <a:lnTo>
                    <a:pt x="84681" y="2477598"/>
                  </a:lnTo>
                  <a:cubicBezTo>
                    <a:pt x="37913" y="2477598"/>
                    <a:pt x="0" y="2439685"/>
                    <a:pt x="0" y="2392917"/>
                  </a:cubicBezTo>
                  <a:lnTo>
                    <a:pt x="0" y="84681"/>
                  </a:lnTo>
                  <a:cubicBezTo>
                    <a:pt x="0" y="37913"/>
                    <a:pt x="37913" y="0"/>
                    <a:pt x="84681" y="0"/>
                  </a:cubicBezTo>
                  <a:close/>
                </a:path>
              </a:pathLst>
            </a:custGeom>
            <a:ln w="19050" cap="rnd">
              <a:solidFill>
                <a:srgbClr val="164B82"/>
              </a:solidFill>
              <a:prstDash val="solid"/>
              <a:round/>
            </a:ln>
          </p:spPr>
        </p:sp>
        <p:sp>
          <p:nvSpPr>
            <p:cNvPr name="TextBox 10" id="10"/>
            <p:cNvSpPr txBox="true"/>
            <p:nvPr/>
          </p:nvSpPr>
          <p:spPr>
            <a:xfrm>
              <a:off x="0" y="-57150"/>
              <a:ext cx="169362" cy="2534748"/>
            </a:xfrm>
            <a:prstGeom prst="rect">
              <a:avLst/>
            </a:prstGeom>
          </p:spPr>
          <p:txBody>
            <a:bodyPr anchor="ctr" rtlCol="false" tIns="50800" lIns="50800" bIns="50800" rIns="50800"/>
            <a:lstStyle/>
            <a:p>
              <a:pPr algn="ctr">
                <a:lnSpc>
                  <a:spcPts val="3639"/>
                </a:lnSpc>
              </a:pPr>
            </a:p>
          </p:txBody>
        </p:sp>
      </p:grpSp>
      <p:sp>
        <p:nvSpPr>
          <p:cNvPr name="TextBox 11" id="11"/>
          <p:cNvSpPr txBox="true"/>
          <p:nvPr/>
        </p:nvSpPr>
        <p:spPr>
          <a:xfrm rot="0">
            <a:off x="7049087" y="783695"/>
            <a:ext cx="2492949" cy="351790"/>
          </a:xfrm>
          <a:prstGeom prst="rect">
            <a:avLst/>
          </a:prstGeom>
        </p:spPr>
        <p:txBody>
          <a:bodyPr anchor="t" rtlCol="false" tIns="0" lIns="0" bIns="0" rIns="0">
            <a:spAutoFit/>
          </a:bodyPr>
          <a:lstStyle/>
          <a:p>
            <a:pPr algn="l">
              <a:lnSpc>
                <a:spcPts val="2660"/>
              </a:lnSpc>
              <a:spcBef>
                <a:spcPct val="0"/>
              </a:spcBef>
            </a:pPr>
            <a:r>
              <a:rPr lang="en-US" sz="1900" spc="95">
                <a:solidFill>
                  <a:srgbClr val="164B82"/>
                </a:solidFill>
                <a:latin typeface="Telegraf Extra-Light"/>
                <a:ea typeface="Telegraf Extra-Light"/>
                <a:cs typeface="Telegraf Extra-Light"/>
                <a:sym typeface="Telegraf Extra-Light"/>
              </a:rPr>
              <a:t>Studio Shodwe</a:t>
            </a:r>
          </a:p>
        </p:txBody>
      </p:sp>
      <p:sp>
        <p:nvSpPr>
          <p:cNvPr name="TextBox 12" id="12"/>
          <p:cNvSpPr txBox="true"/>
          <p:nvPr/>
        </p:nvSpPr>
        <p:spPr>
          <a:xfrm rot="0">
            <a:off x="12333310" y="783695"/>
            <a:ext cx="1819999" cy="351790"/>
          </a:xfrm>
          <a:prstGeom prst="rect">
            <a:avLst/>
          </a:prstGeom>
        </p:spPr>
        <p:txBody>
          <a:bodyPr anchor="t" rtlCol="false" tIns="0" lIns="0" bIns="0" rIns="0">
            <a:spAutoFit/>
          </a:bodyPr>
          <a:lstStyle/>
          <a:p>
            <a:pPr algn="r">
              <a:lnSpc>
                <a:spcPts val="2660"/>
              </a:lnSpc>
              <a:spcBef>
                <a:spcPct val="0"/>
              </a:spcBef>
            </a:pPr>
            <a:r>
              <a:rPr lang="en-US" sz="1900" spc="95">
                <a:solidFill>
                  <a:srgbClr val="164B82"/>
                </a:solidFill>
                <a:latin typeface="Telegraf Extra-Light"/>
                <a:ea typeface="Telegraf Extra-Light"/>
                <a:cs typeface="Telegraf Extra-Light"/>
                <a:sym typeface="Telegraf Extra-Light"/>
              </a:rPr>
              <a:t>2024</a:t>
            </a:r>
          </a:p>
        </p:txBody>
      </p:sp>
      <p:sp>
        <p:nvSpPr>
          <p:cNvPr name="TextBox 13" id="13"/>
          <p:cNvSpPr txBox="true"/>
          <p:nvPr/>
        </p:nvSpPr>
        <p:spPr>
          <a:xfrm rot="0">
            <a:off x="10073618" y="783695"/>
            <a:ext cx="1819999" cy="351790"/>
          </a:xfrm>
          <a:prstGeom prst="rect">
            <a:avLst/>
          </a:prstGeom>
        </p:spPr>
        <p:txBody>
          <a:bodyPr anchor="t" rtlCol="false" tIns="0" lIns="0" bIns="0" rIns="0">
            <a:spAutoFit/>
          </a:bodyPr>
          <a:lstStyle/>
          <a:p>
            <a:pPr algn="ctr">
              <a:lnSpc>
                <a:spcPts val="2660"/>
              </a:lnSpc>
              <a:spcBef>
                <a:spcPct val="0"/>
              </a:spcBef>
            </a:pPr>
            <a:r>
              <a:rPr lang="en-US" sz="1900" spc="95">
                <a:solidFill>
                  <a:srgbClr val="164B82"/>
                </a:solidFill>
                <a:latin typeface="Telegraf Extra-Light"/>
                <a:ea typeface="Telegraf Extra-Light"/>
                <a:cs typeface="Telegraf Extra-Light"/>
                <a:sym typeface="Telegraf Extra-Light"/>
              </a:rPr>
              <a:t>Project.</a:t>
            </a:r>
          </a:p>
        </p:txBody>
      </p:sp>
      <p:sp>
        <p:nvSpPr>
          <p:cNvPr name="TextBox 14" id="14"/>
          <p:cNvSpPr txBox="true"/>
          <p:nvPr/>
        </p:nvSpPr>
        <p:spPr>
          <a:xfrm rot="0">
            <a:off x="4898956" y="1700426"/>
            <a:ext cx="8228034" cy="769620"/>
          </a:xfrm>
          <a:prstGeom prst="rect">
            <a:avLst/>
          </a:prstGeom>
        </p:spPr>
        <p:txBody>
          <a:bodyPr anchor="t" rtlCol="false" tIns="0" lIns="0" bIns="0" rIns="0">
            <a:spAutoFit/>
          </a:bodyPr>
          <a:lstStyle/>
          <a:p>
            <a:pPr algn="l">
              <a:lnSpc>
                <a:spcPts val="5880"/>
              </a:lnSpc>
              <a:spcBef>
                <a:spcPct val="0"/>
              </a:spcBef>
            </a:pPr>
            <a:r>
              <a:rPr lang="en-US" b="true" sz="4200" spc="100">
                <a:solidFill>
                  <a:srgbClr val="343434"/>
                </a:solidFill>
                <a:latin typeface="Telegraf Bold"/>
                <a:ea typeface="Telegraf Bold"/>
                <a:cs typeface="Telegraf Bold"/>
                <a:sym typeface="Telegraf Bold"/>
              </a:rPr>
              <a:t> XỬ LÝ DỮ LIỆU BỊ THIẾU</a:t>
            </a:r>
          </a:p>
        </p:txBody>
      </p:sp>
      <p:grpSp>
        <p:nvGrpSpPr>
          <p:cNvPr name="Group 15" id="15"/>
          <p:cNvGrpSpPr/>
          <p:nvPr/>
        </p:nvGrpSpPr>
        <p:grpSpPr>
          <a:xfrm rot="0">
            <a:off x="5070893" y="2470046"/>
            <a:ext cx="333375" cy="333375"/>
            <a:chOff x="0" y="0"/>
            <a:chExt cx="87802" cy="87802"/>
          </a:xfrm>
        </p:grpSpPr>
        <p:sp>
          <p:nvSpPr>
            <p:cNvPr name="Freeform 16" id="16"/>
            <p:cNvSpPr/>
            <p:nvPr/>
          </p:nvSpPr>
          <p:spPr>
            <a:xfrm flipH="false" flipV="false" rot="0">
              <a:off x="0" y="0"/>
              <a:ext cx="87802" cy="87802"/>
            </a:xfrm>
            <a:custGeom>
              <a:avLst/>
              <a:gdLst/>
              <a:ahLst/>
              <a:cxnLst/>
              <a:rect r="r" b="b" t="t" l="l"/>
              <a:pathLst>
                <a:path h="87802" w="87802">
                  <a:moveTo>
                    <a:pt x="0" y="0"/>
                  </a:moveTo>
                  <a:lnTo>
                    <a:pt x="87802" y="0"/>
                  </a:lnTo>
                  <a:lnTo>
                    <a:pt x="87802" y="87802"/>
                  </a:lnTo>
                  <a:lnTo>
                    <a:pt x="0" y="87802"/>
                  </a:lnTo>
                  <a:close/>
                </a:path>
              </a:pathLst>
            </a:custGeom>
            <a:gradFill rotWithShape="true">
              <a:gsLst>
                <a:gs pos="0">
                  <a:srgbClr val="E4B795">
                    <a:alpha val="100000"/>
                  </a:srgbClr>
                </a:gs>
                <a:gs pos="50000">
                  <a:srgbClr val="699ACD">
                    <a:alpha val="100000"/>
                  </a:srgbClr>
                </a:gs>
                <a:gs pos="100000">
                  <a:srgbClr val="2F679F">
                    <a:alpha val="100000"/>
                  </a:srgbClr>
                </a:gs>
              </a:gsLst>
              <a:path path="circle">
                <a:fillToRect l="0" r="100000" t="0" b="100000"/>
              </a:path>
              <a:tileRect r="0" l="-100000" b="0" t="-100000"/>
            </a:gradFill>
          </p:spPr>
        </p:sp>
        <p:sp>
          <p:nvSpPr>
            <p:cNvPr name="TextBox 17" id="17"/>
            <p:cNvSpPr txBox="true"/>
            <p:nvPr/>
          </p:nvSpPr>
          <p:spPr>
            <a:xfrm>
              <a:off x="0" y="-57150"/>
              <a:ext cx="87802" cy="144952"/>
            </a:xfrm>
            <a:prstGeom prst="rect">
              <a:avLst/>
            </a:prstGeom>
          </p:spPr>
          <p:txBody>
            <a:bodyPr anchor="ctr" rtlCol="false" tIns="50800" lIns="50800" bIns="50800" rIns="50800"/>
            <a:lstStyle/>
            <a:p>
              <a:pPr algn="ctr">
                <a:lnSpc>
                  <a:spcPts val="3639"/>
                </a:lnSpc>
              </a:pPr>
            </a:p>
          </p:txBody>
        </p:sp>
      </p:grpSp>
      <p:grpSp>
        <p:nvGrpSpPr>
          <p:cNvPr name="Group 18" id="18"/>
          <p:cNvGrpSpPr/>
          <p:nvPr/>
        </p:nvGrpSpPr>
        <p:grpSpPr>
          <a:xfrm rot="0">
            <a:off x="5070893" y="5891028"/>
            <a:ext cx="333375" cy="333375"/>
            <a:chOff x="0" y="0"/>
            <a:chExt cx="87802" cy="87802"/>
          </a:xfrm>
        </p:grpSpPr>
        <p:sp>
          <p:nvSpPr>
            <p:cNvPr name="Freeform 19" id="19"/>
            <p:cNvSpPr/>
            <p:nvPr/>
          </p:nvSpPr>
          <p:spPr>
            <a:xfrm flipH="false" flipV="false" rot="0">
              <a:off x="0" y="0"/>
              <a:ext cx="87802" cy="87802"/>
            </a:xfrm>
            <a:custGeom>
              <a:avLst/>
              <a:gdLst/>
              <a:ahLst/>
              <a:cxnLst/>
              <a:rect r="r" b="b" t="t" l="l"/>
              <a:pathLst>
                <a:path h="87802" w="87802">
                  <a:moveTo>
                    <a:pt x="0" y="0"/>
                  </a:moveTo>
                  <a:lnTo>
                    <a:pt x="87802" y="0"/>
                  </a:lnTo>
                  <a:lnTo>
                    <a:pt x="87802" y="87802"/>
                  </a:lnTo>
                  <a:lnTo>
                    <a:pt x="0" y="87802"/>
                  </a:lnTo>
                  <a:close/>
                </a:path>
              </a:pathLst>
            </a:custGeom>
            <a:gradFill rotWithShape="true">
              <a:gsLst>
                <a:gs pos="0">
                  <a:srgbClr val="E4B795">
                    <a:alpha val="100000"/>
                  </a:srgbClr>
                </a:gs>
                <a:gs pos="50000">
                  <a:srgbClr val="699ACD">
                    <a:alpha val="100000"/>
                  </a:srgbClr>
                </a:gs>
                <a:gs pos="100000">
                  <a:srgbClr val="2F679F">
                    <a:alpha val="100000"/>
                  </a:srgbClr>
                </a:gs>
              </a:gsLst>
              <a:path path="circle">
                <a:fillToRect l="0" r="100000" t="0" b="100000"/>
              </a:path>
              <a:tileRect r="0" l="-100000" b="0" t="-100000"/>
            </a:gradFill>
          </p:spPr>
        </p:sp>
        <p:sp>
          <p:nvSpPr>
            <p:cNvPr name="TextBox 20" id="20"/>
            <p:cNvSpPr txBox="true"/>
            <p:nvPr/>
          </p:nvSpPr>
          <p:spPr>
            <a:xfrm>
              <a:off x="0" y="-57150"/>
              <a:ext cx="87802" cy="144952"/>
            </a:xfrm>
            <a:prstGeom prst="rect">
              <a:avLst/>
            </a:prstGeom>
          </p:spPr>
          <p:txBody>
            <a:bodyPr anchor="ctr" rtlCol="false" tIns="50800" lIns="50800" bIns="50800" rIns="50800"/>
            <a:lstStyle/>
            <a:p>
              <a:pPr algn="ctr">
                <a:lnSpc>
                  <a:spcPts val="3639"/>
                </a:lnSpc>
              </a:pPr>
            </a:p>
          </p:txBody>
        </p:sp>
      </p:grpSp>
      <p:grpSp>
        <p:nvGrpSpPr>
          <p:cNvPr name="Group 21" id="21"/>
          <p:cNvGrpSpPr/>
          <p:nvPr/>
        </p:nvGrpSpPr>
        <p:grpSpPr>
          <a:xfrm rot="0">
            <a:off x="11154178" y="2607355"/>
            <a:ext cx="333375" cy="333375"/>
            <a:chOff x="0" y="0"/>
            <a:chExt cx="87802" cy="87802"/>
          </a:xfrm>
        </p:grpSpPr>
        <p:sp>
          <p:nvSpPr>
            <p:cNvPr name="Freeform 22" id="22"/>
            <p:cNvSpPr/>
            <p:nvPr/>
          </p:nvSpPr>
          <p:spPr>
            <a:xfrm flipH="false" flipV="false" rot="0">
              <a:off x="0" y="0"/>
              <a:ext cx="87802" cy="87802"/>
            </a:xfrm>
            <a:custGeom>
              <a:avLst/>
              <a:gdLst/>
              <a:ahLst/>
              <a:cxnLst/>
              <a:rect r="r" b="b" t="t" l="l"/>
              <a:pathLst>
                <a:path h="87802" w="87802">
                  <a:moveTo>
                    <a:pt x="0" y="0"/>
                  </a:moveTo>
                  <a:lnTo>
                    <a:pt x="87802" y="0"/>
                  </a:lnTo>
                  <a:lnTo>
                    <a:pt x="87802" y="87802"/>
                  </a:lnTo>
                  <a:lnTo>
                    <a:pt x="0" y="87802"/>
                  </a:lnTo>
                  <a:close/>
                </a:path>
              </a:pathLst>
            </a:custGeom>
            <a:gradFill rotWithShape="true">
              <a:gsLst>
                <a:gs pos="0">
                  <a:srgbClr val="E4B795">
                    <a:alpha val="100000"/>
                  </a:srgbClr>
                </a:gs>
                <a:gs pos="50000">
                  <a:srgbClr val="699ACD">
                    <a:alpha val="100000"/>
                  </a:srgbClr>
                </a:gs>
                <a:gs pos="100000">
                  <a:srgbClr val="2F679F">
                    <a:alpha val="100000"/>
                  </a:srgbClr>
                </a:gs>
              </a:gsLst>
              <a:path path="circle">
                <a:fillToRect l="0" r="100000" t="0" b="100000"/>
              </a:path>
              <a:tileRect r="0" l="-100000" b="0" t="-100000"/>
            </a:gradFill>
          </p:spPr>
        </p:sp>
        <p:sp>
          <p:nvSpPr>
            <p:cNvPr name="TextBox 23" id="23"/>
            <p:cNvSpPr txBox="true"/>
            <p:nvPr/>
          </p:nvSpPr>
          <p:spPr>
            <a:xfrm>
              <a:off x="0" y="-57150"/>
              <a:ext cx="87802" cy="144952"/>
            </a:xfrm>
            <a:prstGeom prst="rect">
              <a:avLst/>
            </a:prstGeom>
          </p:spPr>
          <p:txBody>
            <a:bodyPr anchor="ctr" rtlCol="false" tIns="50800" lIns="50800" bIns="50800" rIns="50800"/>
            <a:lstStyle/>
            <a:p>
              <a:pPr algn="ctr">
                <a:lnSpc>
                  <a:spcPts val="3639"/>
                </a:lnSpc>
              </a:pPr>
            </a:p>
          </p:txBody>
        </p:sp>
      </p:grpSp>
      <p:grpSp>
        <p:nvGrpSpPr>
          <p:cNvPr name="Group 24" id="24"/>
          <p:cNvGrpSpPr/>
          <p:nvPr/>
        </p:nvGrpSpPr>
        <p:grpSpPr>
          <a:xfrm rot="0">
            <a:off x="11154178" y="6028336"/>
            <a:ext cx="333375" cy="333375"/>
            <a:chOff x="0" y="0"/>
            <a:chExt cx="87802" cy="87802"/>
          </a:xfrm>
        </p:grpSpPr>
        <p:sp>
          <p:nvSpPr>
            <p:cNvPr name="Freeform 25" id="25"/>
            <p:cNvSpPr/>
            <p:nvPr/>
          </p:nvSpPr>
          <p:spPr>
            <a:xfrm flipH="false" flipV="false" rot="0">
              <a:off x="0" y="0"/>
              <a:ext cx="87802" cy="87802"/>
            </a:xfrm>
            <a:custGeom>
              <a:avLst/>
              <a:gdLst/>
              <a:ahLst/>
              <a:cxnLst/>
              <a:rect r="r" b="b" t="t" l="l"/>
              <a:pathLst>
                <a:path h="87802" w="87802">
                  <a:moveTo>
                    <a:pt x="0" y="0"/>
                  </a:moveTo>
                  <a:lnTo>
                    <a:pt x="87802" y="0"/>
                  </a:lnTo>
                  <a:lnTo>
                    <a:pt x="87802" y="87802"/>
                  </a:lnTo>
                  <a:lnTo>
                    <a:pt x="0" y="87802"/>
                  </a:lnTo>
                  <a:close/>
                </a:path>
              </a:pathLst>
            </a:custGeom>
            <a:gradFill rotWithShape="true">
              <a:gsLst>
                <a:gs pos="0">
                  <a:srgbClr val="E4B795">
                    <a:alpha val="100000"/>
                  </a:srgbClr>
                </a:gs>
                <a:gs pos="50000">
                  <a:srgbClr val="699ACD">
                    <a:alpha val="100000"/>
                  </a:srgbClr>
                </a:gs>
                <a:gs pos="100000">
                  <a:srgbClr val="2F679F">
                    <a:alpha val="100000"/>
                  </a:srgbClr>
                </a:gs>
              </a:gsLst>
              <a:path path="circle">
                <a:fillToRect l="0" r="100000" t="0" b="100000"/>
              </a:path>
              <a:tileRect r="0" l="-100000" b="0" t="-100000"/>
            </a:gradFill>
          </p:spPr>
        </p:sp>
        <p:sp>
          <p:nvSpPr>
            <p:cNvPr name="TextBox 26" id="26"/>
            <p:cNvSpPr txBox="true"/>
            <p:nvPr/>
          </p:nvSpPr>
          <p:spPr>
            <a:xfrm>
              <a:off x="0" y="-57150"/>
              <a:ext cx="87802" cy="144952"/>
            </a:xfrm>
            <a:prstGeom prst="rect">
              <a:avLst/>
            </a:prstGeom>
          </p:spPr>
          <p:txBody>
            <a:bodyPr anchor="ctr" rtlCol="false" tIns="50800" lIns="50800" bIns="50800" rIns="50800"/>
            <a:lstStyle/>
            <a:p>
              <a:pPr algn="ctr">
                <a:lnSpc>
                  <a:spcPts val="3639"/>
                </a:lnSpc>
              </a:pPr>
            </a:p>
          </p:txBody>
        </p:sp>
      </p:grpSp>
      <p:sp>
        <p:nvSpPr>
          <p:cNvPr name="TextBox 27" id="27"/>
          <p:cNvSpPr txBox="true"/>
          <p:nvPr/>
        </p:nvSpPr>
        <p:spPr>
          <a:xfrm rot="0">
            <a:off x="5611751" y="2489096"/>
            <a:ext cx="3003456" cy="346330"/>
          </a:xfrm>
          <a:prstGeom prst="rect">
            <a:avLst/>
          </a:prstGeom>
        </p:spPr>
        <p:txBody>
          <a:bodyPr anchor="t" rtlCol="false" tIns="0" lIns="0" bIns="0" rIns="0">
            <a:spAutoFit/>
          </a:bodyPr>
          <a:lstStyle/>
          <a:p>
            <a:pPr algn="l">
              <a:lnSpc>
                <a:spcPts val="2328"/>
              </a:lnSpc>
            </a:pPr>
            <a:r>
              <a:rPr lang="en-US" sz="2400" b="true">
                <a:solidFill>
                  <a:srgbClr val="343434"/>
                </a:solidFill>
                <a:latin typeface="Telegraf Bold"/>
                <a:ea typeface="Telegraf Bold"/>
                <a:cs typeface="Telegraf Bold"/>
                <a:sym typeface="Telegraf Bold"/>
              </a:rPr>
              <a:t>MÔ PHỎNG</a:t>
            </a:r>
          </a:p>
        </p:txBody>
      </p:sp>
      <p:sp>
        <p:nvSpPr>
          <p:cNvPr name="TextBox 28" id="28"/>
          <p:cNvSpPr txBox="true"/>
          <p:nvPr/>
        </p:nvSpPr>
        <p:spPr>
          <a:xfrm rot="0">
            <a:off x="5611751" y="5910078"/>
            <a:ext cx="3560279" cy="641605"/>
          </a:xfrm>
          <a:prstGeom prst="rect">
            <a:avLst/>
          </a:prstGeom>
        </p:spPr>
        <p:txBody>
          <a:bodyPr anchor="t" rtlCol="false" tIns="0" lIns="0" bIns="0" rIns="0">
            <a:spAutoFit/>
          </a:bodyPr>
          <a:lstStyle/>
          <a:p>
            <a:pPr algn="l">
              <a:lnSpc>
                <a:spcPts val="2328"/>
              </a:lnSpc>
            </a:pPr>
            <a:r>
              <a:rPr lang="en-US" sz="2400" b="true">
                <a:solidFill>
                  <a:srgbClr val="343434"/>
                </a:solidFill>
                <a:latin typeface="Telegraf Bold"/>
                <a:ea typeface="Telegraf Bold"/>
                <a:cs typeface="Telegraf Bold"/>
                <a:sym typeface="Telegraf Bold"/>
              </a:rPr>
              <a:t>ĐỐI SOÁT VÀ TRỰC QUAN HÓA</a:t>
            </a:r>
          </a:p>
        </p:txBody>
      </p:sp>
      <p:sp>
        <p:nvSpPr>
          <p:cNvPr name="TextBox 29" id="29"/>
          <p:cNvSpPr txBox="true"/>
          <p:nvPr/>
        </p:nvSpPr>
        <p:spPr>
          <a:xfrm rot="0">
            <a:off x="11695036" y="2489096"/>
            <a:ext cx="3003456" cy="641605"/>
          </a:xfrm>
          <a:prstGeom prst="rect">
            <a:avLst/>
          </a:prstGeom>
        </p:spPr>
        <p:txBody>
          <a:bodyPr anchor="t" rtlCol="false" tIns="0" lIns="0" bIns="0" rIns="0">
            <a:spAutoFit/>
          </a:bodyPr>
          <a:lstStyle/>
          <a:p>
            <a:pPr algn="l">
              <a:lnSpc>
                <a:spcPts val="2328"/>
              </a:lnSpc>
            </a:pPr>
            <a:r>
              <a:rPr lang="en-US" sz="2400" b="true">
                <a:solidFill>
                  <a:srgbClr val="343434"/>
                </a:solidFill>
                <a:latin typeface="Telegraf Bold"/>
                <a:ea typeface="Telegraf Bold"/>
                <a:cs typeface="Telegraf Bold"/>
                <a:sym typeface="Telegraf Bold"/>
              </a:rPr>
              <a:t>PHƯƠNG PHÁP ĐIỀN DỮ LIỆU</a:t>
            </a:r>
          </a:p>
        </p:txBody>
      </p:sp>
      <p:sp>
        <p:nvSpPr>
          <p:cNvPr name="TextBox 30" id="30"/>
          <p:cNvSpPr txBox="true"/>
          <p:nvPr/>
        </p:nvSpPr>
        <p:spPr>
          <a:xfrm rot="0">
            <a:off x="11654668" y="5910078"/>
            <a:ext cx="3003456" cy="641605"/>
          </a:xfrm>
          <a:prstGeom prst="rect">
            <a:avLst/>
          </a:prstGeom>
        </p:spPr>
        <p:txBody>
          <a:bodyPr anchor="t" rtlCol="false" tIns="0" lIns="0" bIns="0" rIns="0">
            <a:spAutoFit/>
          </a:bodyPr>
          <a:lstStyle/>
          <a:p>
            <a:pPr algn="l">
              <a:lnSpc>
                <a:spcPts val="2328"/>
              </a:lnSpc>
            </a:pPr>
            <a:r>
              <a:rPr lang="en-US" sz="2400" b="true">
                <a:solidFill>
                  <a:srgbClr val="343434"/>
                </a:solidFill>
                <a:latin typeface="Telegraf Bold"/>
                <a:ea typeface="Telegraf Bold"/>
                <a:cs typeface="Telegraf Bold"/>
                <a:sym typeface="Telegraf Bold"/>
              </a:rPr>
              <a:t>CÁC KỸ THUẬT BỔ SUNG</a:t>
            </a:r>
          </a:p>
        </p:txBody>
      </p:sp>
      <p:sp>
        <p:nvSpPr>
          <p:cNvPr name="TextBox 31" id="31"/>
          <p:cNvSpPr txBox="true"/>
          <p:nvPr/>
        </p:nvSpPr>
        <p:spPr>
          <a:xfrm rot="0">
            <a:off x="5070893" y="2926718"/>
            <a:ext cx="4004437" cy="1018540"/>
          </a:xfrm>
          <a:prstGeom prst="rect">
            <a:avLst/>
          </a:prstGeom>
        </p:spPr>
        <p:txBody>
          <a:bodyPr anchor="t" rtlCol="false" tIns="0" lIns="0" bIns="0" rIns="0">
            <a:spAutoFit/>
          </a:bodyPr>
          <a:lstStyle/>
          <a:p>
            <a:pPr algn="l" marL="410211" indent="-205106" lvl="1">
              <a:lnSpc>
                <a:spcPts val="2660"/>
              </a:lnSpc>
              <a:buFont typeface="Arial"/>
              <a:buChar char="•"/>
            </a:pPr>
            <a:r>
              <a:rPr lang="en-US" b="true" sz="1900">
                <a:solidFill>
                  <a:srgbClr val="343434"/>
                </a:solidFill>
                <a:latin typeface="Telegraf Bold"/>
                <a:ea typeface="Telegraf Bold"/>
                <a:cs typeface="Telegraf Bold"/>
                <a:sym typeface="Telegraf Bold"/>
              </a:rPr>
              <a:t>Dữ liệu mẫu: </a:t>
            </a:r>
            <a:r>
              <a:rPr lang="en-US" sz="1900">
                <a:solidFill>
                  <a:srgbClr val="343434"/>
                </a:solidFill>
                <a:latin typeface="Telegraf"/>
                <a:ea typeface="Telegraf"/>
                <a:cs typeface="Telegraf"/>
                <a:sym typeface="Telegraf"/>
              </a:rPr>
              <a:t>Sử dụng bộ dữ yfinance để lấy dữ liệu trong giai đoạn 2 năm</a:t>
            </a:r>
          </a:p>
        </p:txBody>
      </p:sp>
      <p:sp>
        <p:nvSpPr>
          <p:cNvPr name="TextBox 32" id="32"/>
          <p:cNvSpPr txBox="true"/>
          <p:nvPr/>
        </p:nvSpPr>
        <p:spPr>
          <a:xfrm rot="0">
            <a:off x="5237580" y="6562678"/>
            <a:ext cx="4004437" cy="1351915"/>
          </a:xfrm>
          <a:prstGeom prst="rect">
            <a:avLst/>
          </a:prstGeom>
        </p:spPr>
        <p:txBody>
          <a:bodyPr anchor="t" rtlCol="false" tIns="0" lIns="0" bIns="0" rIns="0">
            <a:spAutoFit/>
          </a:bodyPr>
          <a:lstStyle/>
          <a:p>
            <a:pPr algn="l" marL="410211" indent="-205106" lvl="1">
              <a:lnSpc>
                <a:spcPts val="2660"/>
              </a:lnSpc>
              <a:buFont typeface="Arial"/>
              <a:buChar char="•"/>
            </a:pPr>
            <a:r>
              <a:rPr lang="en-US" b="true" sz="1900">
                <a:solidFill>
                  <a:srgbClr val="343434"/>
                </a:solidFill>
                <a:latin typeface="Telegraf Bold"/>
                <a:ea typeface="Telegraf Bold"/>
                <a:cs typeface="Telegraf Bold"/>
                <a:sym typeface="Telegraf Bold"/>
              </a:rPr>
              <a:t>Kiểm tra:</a:t>
            </a:r>
            <a:r>
              <a:rPr lang="en-US" sz="1900">
                <a:solidFill>
                  <a:srgbClr val="343434"/>
                </a:solidFill>
                <a:latin typeface="Telegraf"/>
                <a:ea typeface="Telegraf"/>
                <a:cs typeface="Telegraf"/>
                <a:sym typeface="Telegraf"/>
              </a:rPr>
              <a:t> Sử dụng sort_index để đảm bảo dữ liệu được sắp xếp đúng trình tự ngày tháng trước khi kiểm tra kết quả</a:t>
            </a:r>
          </a:p>
        </p:txBody>
      </p:sp>
      <p:sp>
        <p:nvSpPr>
          <p:cNvPr name="TextBox 33" id="33"/>
          <p:cNvSpPr txBox="true"/>
          <p:nvPr/>
        </p:nvSpPr>
        <p:spPr>
          <a:xfrm rot="0">
            <a:off x="11269121" y="3144028"/>
            <a:ext cx="4004437" cy="899683"/>
          </a:xfrm>
          <a:prstGeom prst="rect">
            <a:avLst/>
          </a:prstGeom>
        </p:spPr>
        <p:txBody>
          <a:bodyPr anchor="t" rtlCol="false" tIns="0" lIns="0" bIns="0" rIns="0">
            <a:spAutoFit/>
          </a:bodyPr>
          <a:lstStyle/>
          <a:p>
            <a:pPr algn="l" marL="367032" indent="-183516" lvl="1">
              <a:lnSpc>
                <a:spcPts val="2380"/>
              </a:lnSpc>
              <a:buFont typeface="Arial"/>
              <a:buChar char="•"/>
            </a:pPr>
            <a:r>
              <a:rPr lang="en-US" b="true" sz="1700">
                <a:solidFill>
                  <a:srgbClr val="343434"/>
                </a:solidFill>
                <a:latin typeface="Telegraf Bold"/>
                <a:ea typeface="Telegraf Bold"/>
                <a:cs typeface="Telegraf Bold"/>
                <a:sym typeface="Telegraf Bold"/>
              </a:rPr>
              <a:t>Điền xuôi (Forward Fill - fill)</a:t>
            </a:r>
            <a:r>
              <a:rPr lang="en-US" sz="1700">
                <a:solidFill>
                  <a:srgbClr val="343434"/>
                </a:solidFill>
                <a:latin typeface="Telegraf"/>
                <a:ea typeface="Telegraf"/>
                <a:cs typeface="Telegraf"/>
                <a:sym typeface="Telegraf"/>
              </a:rPr>
              <a:t>: Lấy giá trị đã biết liền trước đó để lấp đầy vào vị trí trống.</a:t>
            </a:r>
          </a:p>
        </p:txBody>
      </p:sp>
      <p:sp>
        <p:nvSpPr>
          <p:cNvPr name="TextBox 34" id="34"/>
          <p:cNvSpPr txBox="true"/>
          <p:nvPr/>
        </p:nvSpPr>
        <p:spPr>
          <a:xfrm rot="0">
            <a:off x="11154178" y="6645863"/>
            <a:ext cx="4800854" cy="1195070"/>
          </a:xfrm>
          <a:prstGeom prst="rect">
            <a:avLst/>
          </a:prstGeom>
        </p:spPr>
        <p:txBody>
          <a:bodyPr anchor="t" rtlCol="false" tIns="0" lIns="0" bIns="0" rIns="0">
            <a:spAutoFit/>
          </a:bodyPr>
          <a:lstStyle/>
          <a:p>
            <a:pPr algn="l" marL="367032" indent="-183516" lvl="1">
              <a:lnSpc>
                <a:spcPts val="2380"/>
              </a:lnSpc>
              <a:buFont typeface="Arial"/>
              <a:buChar char="•"/>
            </a:pPr>
            <a:r>
              <a:rPr lang="en-US" b="true" sz="1700">
                <a:solidFill>
                  <a:srgbClr val="343434"/>
                </a:solidFill>
                <a:latin typeface="Telegraf Bold"/>
                <a:ea typeface="Telegraf Bold"/>
                <a:cs typeface="Telegraf Bold"/>
                <a:sym typeface="Telegraf Bold"/>
              </a:rPr>
              <a:t>Phép nội suy (Interpolation</a:t>
            </a:r>
            <a:r>
              <a:rPr lang="en-US" sz="1700">
                <a:solidFill>
                  <a:srgbClr val="343434"/>
                </a:solidFill>
                <a:latin typeface="Telegraf"/>
                <a:ea typeface="Telegraf"/>
                <a:cs typeface="Telegraf"/>
                <a:sym typeface="Telegraf"/>
              </a:rPr>
              <a:t>): Đặc biệt là nội suy tuyến tính, giúp ước tính giá trị thiếu dựa trên xu hướng giữa các điểm dữ liệu lân cận</a:t>
            </a:r>
          </a:p>
        </p:txBody>
      </p:sp>
      <p:sp>
        <p:nvSpPr>
          <p:cNvPr name="TextBox 35" id="35"/>
          <p:cNvSpPr txBox="true"/>
          <p:nvPr/>
        </p:nvSpPr>
        <p:spPr>
          <a:xfrm rot="0">
            <a:off x="5111261" y="4069083"/>
            <a:ext cx="4004437" cy="1351915"/>
          </a:xfrm>
          <a:prstGeom prst="rect">
            <a:avLst/>
          </a:prstGeom>
        </p:spPr>
        <p:txBody>
          <a:bodyPr anchor="t" rtlCol="false" tIns="0" lIns="0" bIns="0" rIns="0">
            <a:spAutoFit/>
          </a:bodyPr>
          <a:lstStyle/>
          <a:p>
            <a:pPr algn="l" marL="410211" indent="-205106" lvl="1">
              <a:lnSpc>
                <a:spcPts val="2660"/>
              </a:lnSpc>
              <a:buFont typeface="Arial"/>
              <a:buChar char="•"/>
            </a:pPr>
            <a:r>
              <a:rPr lang="en-US" b="true" sz="1900">
                <a:solidFill>
                  <a:srgbClr val="343434"/>
                </a:solidFill>
                <a:latin typeface="Telegraf Bold"/>
                <a:ea typeface="Telegraf Bold"/>
                <a:cs typeface="Telegraf Bold"/>
                <a:sym typeface="Telegraf Bold"/>
              </a:rPr>
              <a:t>Tạo giả lập: </a:t>
            </a:r>
            <a:r>
              <a:rPr lang="en-US" sz="1900">
                <a:solidFill>
                  <a:srgbClr val="343434"/>
                </a:solidFill>
                <a:latin typeface="Telegraf"/>
                <a:ea typeface="Telegraf"/>
                <a:cs typeface="Telegraf"/>
                <a:sym typeface="Telegraf"/>
              </a:rPr>
              <a:t>Chọn ngẫu nhiên 5 chỉ số trong DataFrame và thay thế giá trị thực bằng NaN để tạo ra các "lỗ hổng" dữ liệu cần xử lý</a:t>
            </a:r>
          </a:p>
        </p:txBody>
      </p:sp>
      <p:sp>
        <p:nvSpPr>
          <p:cNvPr name="TextBox 36" id="36"/>
          <p:cNvSpPr txBox="true"/>
          <p:nvPr/>
        </p:nvSpPr>
        <p:spPr>
          <a:xfrm rot="0">
            <a:off x="11269121" y="4177173"/>
            <a:ext cx="4004437" cy="899795"/>
          </a:xfrm>
          <a:prstGeom prst="rect">
            <a:avLst/>
          </a:prstGeom>
        </p:spPr>
        <p:txBody>
          <a:bodyPr anchor="t" rtlCol="false" tIns="0" lIns="0" bIns="0" rIns="0">
            <a:spAutoFit/>
          </a:bodyPr>
          <a:lstStyle/>
          <a:p>
            <a:pPr algn="l" marL="367032" indent="-183516" lvl="1">
              <a:lnSpc>
                <a:spcPts val="2380"/>
              </a:lnSpc>
              <a:buFont typeface="Arial"/>
              <a:buChar char="•"/>
            </a:pPr>
            <a:r>
              <a:rPr lang="en-US" b="true" sz="1700">
                <a:solidFill>
                  <a:srgbClr val="343434"/>
                </a:solidFill>
                <a:latin typeface="Telegraf Bold"/>
                <a:ea typeface="Telegraf Bold"/>
                <a:cs typeface="Telegraf Bold"/>
                <a:sym typeface="Telegraf Bold"/>
              </a:rPr>
              <a:t>Điền ngược (Backward Fill - bfill): </a:t>
            </a:r>
            <a:r>
              <a:rPr lang="en-US" sz="1700">
                <a:solidFill>
                  <a:srgbClr val="343434"/>
                </a:solidFill>
                <a:latin typeface="Telegraf"/>
                <a:ea typeface="Telegraf"/>
                <a:cs typeface="Telegraf"/>
                <a:sym typeface="Telegraf"/>
              </a:rPr>
              <a:t>Lấy giá trị đã biết ngay phía sau để lấp vào vị trí trống</a:t>
            </a:r>
          </a:p>
        </p:txBody>
      </p:sp>
      <p:sp>
        <p:nvSpPr>
          <p:cNvPr name="TextBox 37" id="37"/>
          <p:cNvSpPr txBox="true"/>
          <p:nvPr/>
        </p:nvSpPr>
        <p:spPr>
          <a:xfrm rot="0">
            <a:off x="5237580" y="8009843"/>
            <a:ext cx="4004437" cy="1351915"/>
          </a:xfrm>
          <a:prstGeom prst="rect">
            <a:avLst/>
          </a:prstGeom>
        </p:spPr>
        <p:txBody>
          <a:bodyPr anchor="t" rtlCol="false" tIns="0" lIns="0" bIns="0" rIns="0">
            <a:spAutoFit/>
          </a:bodyPr>
          <a:lstStyle/>
          <a:p>
            <a:pPr algn="l" marL="410211" indent="-205106" lvl="1">
              <a:lnSpc>
                <a:spcPts val="2660"/>
              </a:lnSpc>
              <a:buFont typeface="Arial"/>
              <a:buChar char="•"/>
            </a:pPr>
            <a:r>
              <a:rPr lang="en-US" b="true" sz="1900">
                <a:solidFill>
                  <a:srgbClr val="343434"/>
                </a:solidFill>
                <a:latin typeface="Telegraf Bold"/>
                <a:ea typeface="Telegraf Bold"/>
                <a:cs typeface="Telegraf Bold"/>
                <a:sym typeface="Telegraf Bold"/>
              </a:rPr>
              <a:t>Minh họa: </a:t>
            </a:r>
            <a:r>
              <a:rPr lang="en-US" sz="1900">
                <a:solidFill>
                  <a:srgbClr val="343434"/>
                </a:solidFill>
                <a:latin typeface="Telegraf"/>
                <a:ea typeface="Telegraf"/>
                <a:cs typeface="Telegraf"/>
                <a:sym typeface="Telegraf"/>
              </a:rPr>
              <a:t>Vẽ biểu đồ chuỗi thời gian giúp so sánh trực quan hiệu quả của phương pháp điền lùi và điền tiến trên biểu đồ</a:t>
            </a:r>
          </a:p>
        </p:txBody>
      </p:sp>
      <p:sp>
        <p:nvSpPr>
          <p:cNvPr name="TextBox 38" id="38"/>
          <p:cNvSpPr txBox="true"/>
          <p:nvPr/>
        </p:nvSpPr>
        <p:spPr>
          <a:xfrm rot="0">
            <a:off x="11154178" y="7936183"/>
            <a:ext cx="4800854" cy="899795"/>
          </a:xfrm>
          <a:prstGeom prst="rect">
            <a:avLst/>
          </a:prstGeom>
        </p:spPr>
        <p:txBody>
          <a:bodyPr anchor="t" rtlCol="false" tIns="0" lIns="0" bIns="0" rIns="0">
            <a:spAutoFit/>
          </a:bodyPr>
          <a:lstStyle/>
          <a:p>
            <a:pPr algn="l" marL="367032" indent="-183516" lvl="1">
              <a:lnSpc>
                <a:spcPts val="2380"/>
              </a:lnSpc>
              <a:buFont typeface="Arial"/>
              <a:buChar char="•"/>
            </a:pPr>
            <a:r>
              <a:rPr lang="en-US" b="true" sz="1700">
                <a:solidFill>
                  <a:srgbClr val="343434"/>
                </a:solidFill>
                <a:latin typeface="Telegraf Bold"/>
                <a:ea typeface="Telegraf Bold"/>
                <a:cs typeface="Telegraf Bold"/>
                <a:sym typeface="Telegraf Bold"/>
              </a:rPr>
              <a:t>Trung bình động (Moving Average):</a:t>
            </a:r>
            <a:r>
              <a:rPr lang="en-US" sz="1700">
                <a:solidFill>
                  <a:srgbClr val="343434"/>
                </a:solidFill>
                <a:latin typeface="Telegraf"/>
                <a:ea typeface="Telegraf"/>
                <a:cs typeface="Telegraf"/>
                <a:sym typeface="Telegraf"/>
              </a:rPr>
              <a:t> Sử dụng giá trị trung bình của một vài quan sát gần nhất để điền vào các vị trí thiếu</a:t>
            </a:r>
          </a:p>
        </p:txBody>
      </p:sp>
    </p:spTree>
  </p:cSld>
  <p:clrMapOvr>
    <a:masterClrMapping/>
  </p:clrMapOvr>
</p:sld>
</file>

<file path=ppt/slides/slide29.xml><?xml version="1.0" encoding="utf-8"?>
<p:sld xmlns:p="http://schemas.openxmlformats.org/presentationml/2006/main" xmlns:a="http://schemas.openxmlformats.org/drawingml/2006/main" xmlns:r="http://schemas.openxmlformats.org/officeDocument/2006/relationships">
  <p:cSld>
    <p:bg>
      <p:bgPr>
        <a:solidFill>
          <a:srgbClr val="F2F7FA"/>
        </a:solidFill>
      </p:bgPr>
    </p:bg>
    <p:spTree>
      <p:nvGrpSpPr>
        <p:cNvPr id="1" name=""/>
        <p:cNvGrpSpPr/>
        <p:nvPr/>
      </p:nvGrpSpPr>
      <p:grpSpPr>
        <a:xfrm>
          <a:off x="0" y="0"/>
          <a:ext cx="0" cy="0"/>
          <a:chOff x="0" y="0"/>
          <a:chExt cx="0" cy="0"/>
        </a:xfrm>
      </p:grpSpPr>
      <p:sp>
        <p:nvSpPr>
          <p:cNvPr name="Freeform 2" id="2"/>
          <p:cNvSpPr/>
          <p:nvPr/>
        </p:nvSpPr>
        <p:spPr>
          <a:xfrm flipH="false" flipV="false" rot="-10269688">
            <a:off x="2370349" y="7875388"/>
            <a:ext cx="12760102" cy="5407093"/>
          </a:xfrm>
          <a:custGeom>
            <a:avLst/>
            <a:gdLst/>
            <a:ahLst/>
            <a:cxnLst/>
            <a:rect r="r" b="b" t="t" l="l"/>
            <a:pathLst>
              <a:path h="5407093" w="12760102">
                <a:moveTo>
                  <a:pt x="0" y="0"/>
                </a:moveTo>
                <a:lnTo>
                  <a:pt x="12760102" y="0"/>
                </a:lnTo>
                <a:lnTo>
                  <a:pt x="12760102" y="5407093"/>
                </a:lnTo>
                <a:lnTo>
                  <a:pt x="0" y="5407093"/>
                </a:lnTo>
                <a:lnTo>
                  <a:pt x="0" y="0"/>
                </a:lnTo>
                <a:close/>
              </a:path>
            </a:pathLst>
          </a:custGeom>
          <a:blipFill>
            <a:blip r:embed="rId2"/>
            <a:stretch>
              <a:fillRect l="0" t="0" r="0" b="0"/>
            </a:stretch>
          </a:blipFill>
        </p:spPr>
      </p:sp>
      <p:sp>
        <p:nvSpPr>
          <p:cNvPr name="Freeform 3" id="3"/>
          <p:cNvSpPr/>
          <p:nvPr/>
        </p:nvSpPr>
        <p:spPr>
          <a:xfrm flipH="false" flipV="false" rot="4362236">
            <a:off x="12139904" y="-1553663"/>
            <a:ext cx="7735476" cy="4631616"/>
          </a:xfrm>
          <a:custGeom>
            <a:avLst/>
            <a:gdLst/>
            <a:ahLst/>
            <a:cxnLst/>
            <a:rect r="r" b="b" t="t" l="l"/>
            <a:pathLst>
              <a:path h="4631616" w="7735476">
                <a:moveTo>
                  <a:pt x="0" y="0"/>
                </a:moveTo>
                <a:lnTo>
                  <a:pt x="7735476" y="0"/>
                </a:lnTo>
                <a:lnTo>
                  <a:pt x="7735476" y="4631616"/>
                </a:lnTo>
                <a:lnTo>
                  <a:pt x="0" y="4631616"/>
                </a:lnTo>
                <a:lnTo>
                  <a:pt x="0" y="0"/>
                </a:lnTo>
                <a:close/>
              </a:path>
            </a:pathLst>
          </a:custGeom>
          <a:blipFill>
            <a:blip r:embed="rId3"/>
            <a:stretch>
              <a:fillRect l="0" t="0" r="0" b="0"/>
            </a:stretch>
          </a:blipFill>
        </p:spPr>
      </p:sp>
      <p:grpSp>
        <p:nvGrpSpPr>
          <p:cNvPr name="Group 4" id="4"/>
          <p:cNvGrpSpPr/>
          <p:nvPr/>
        </p:nvGrpSpPr>
        <p:grpSpPr>
          <a:xfrm rot="0">
            <a:off x="17412901" y="-165726"/>
            <a:ext cx="1028700" cy="11072020"/>
            <a:chOff x="0" y="0"/>
            <a:chExt cx="270933" cy="2916088"/>
          </a:xfrm>
        </p:grpSpPr>
        <p:sp>
          <p:nvSpPr>
            <p:cNvPr name="Freeform 5" id="5"/>
            <p:cNvSpPr/>
            <p:nvPr/>
          </p:nvSpPr>
          <p:spPr>
            <a:xfrm flipH="false" flipV="false" rot="0">
              <a:off x="0" y="0"/>
              <a:ext cx="270933" cy="2916088"/>
            </a:xfrm>
            <a:custGeom>
              <a:avLst/>
              <a:gdLst/>
              <a:ahLst/>
              <a:cxnLst/>
              <a:rect r="r" b="b" t="t" l="l"/>
              <a:pathLst>
                <a:path h="2916088" w="270933">
                  <a:moveTo>
                    <a:pt x="0" y="0"/>
                  </a:moveTo>
                  <a:lnTo>
                    <a:pt x="270933" y="0"/>
                  </a:lnTo>
                  <a:lnTo>
                    <a:pt x="270933" y="2916088"/>
                  </a:lnTo>
                  <a:lnTo>
                    <a:pt x="0" y="2916088"/>
                  </a:lnTo>
                  <a:close/>
                </a:path>
              </a:pathLst>
            </a:custGeom>
            <a:gradFill rotWithShape="true">
              <a:gsLst>
                <a:gs pos="0">
                  <a:srgbClr val="E4B795">
                    <a:alpha val="100000"/>
                  </a:srgbClr>
                </a:gs>
                <a:gs pos="50000">
                  <a:srgbClr val="699ACD">
                    <a:alpha val="100000"/>
                  </a:srgbClr>
                </a:gs>
                <a:gs pos="100000">
                  <a:srgbClr val="2F679F">
                    <a:alpha val="100000"/>
                  </a:srgbClr>
                </a:gs>
              </a:gsLst>
              <a:path path="circle">
                <a:fillToRect l="0" r="100000" t="0" b="100000"/>
              </a:path>
              <a:tileRect r="0" l="-100000" b="0" t="-100000"/>
            </a:gradFill>
          </p:spPr>
        </p:sp>
        <p:sp>
          <p:nvSpPr>
            <p:cNvPr name="TextBox 6" id="6"/>
            <p:cNvSpPr txBox="true"/>
            <p:nvPr/>
          </p:nvSpPr>
          <p:spPr>
            <a:xfrm>
              <a:off x="0" y="-57150"/>
              <a:ext cx="270933" cy="2973238"/>
            </a:xfrm>
            <a:prstGeom prst="rect">
              <a:avLst/>
            </a:prstGeom>
          </p:spPr>
          <p:txBody>
            <a:bodyPr anchor="ctr" rtlCol="false" tIns="50800" lIns="50800" bIns="50800" rIns="50800"/>
            <a:lstStyle/>
            <a:p>
              <a:pPr algn="ctr">
                <a:lnSpc>
                  <a:spcPts val="3639"/>
                </a:lnSpc>
              </a:pPr>
            </a:p>
          </p:txBody>
        </p:sp>
      </p:grpSp>
      <p:sp>
        <p:nvSpPr>
          <p:cNvPr name="Freeform 7" id="7"/>
          <p:cNvSpPr/>
          <p:nvPr/>
        </p:nvSpPr>
        <p:spPr>
          <a:xfrm flipH="false" flipV="false" rot="0">
            <a:off x="3572862" y="6520852"/>
            <a:ext cx="11367745" cy="3313118"/>
          </a:xfrm>
          <a:custGeom>
            <a:avLst/>
            <a:gdLst/>
            <a:ahLst/>
            <a:cxnLst/>
            <a:rect r="r" b="b" t="t" l="l"/>
            <a:pathLst>
              <a:path h="3313118" w="11367745">
                <a:moveTo>
                  <a:pt x="0" y="0"/>
                </a:moveTo>
                <a:lnTo>
                  <a:pt x="11367745" y="0"/>
                </a:lnTo>
                <a:lnTo>
                  <a:pt x="11367745" y="3313118"/>
                </a:lnTo>
                <a:lnTo>
                  <a:pt x="0" y="3313118"/>
                </a:lnTo>
                <a:lnTo>
                  <a:pt x="0" y="0"/>
                </a:lnTo>
                <a:close/>
              </a:path>
            </a:pathLst>
          </a:custGeom>
          <a:blipFill>
            <a:blip r:embed="rId4"/>
            <a:stretch>
              <a:fillRect l="0" t="-1038" r="0" b="-1038"/>
            </a:stretch>
          </a:blipFill>
        </p:spPr>
      </p:sp>
      <p:sp>
        <p:nvSpPr>
          <p:cNvPr name="Freeform 8" id="8"/>
          <p:cNvSpPr/>
          <p:nvPr/>
        </p:nvSpPr>
        <p:spPr>
          <a:xfrm flipH="false" flipV="false" rot="0">
            <a:off x="3572862" y="2553022"/>
            <a:ext cx="10980596" cy="3079779"/>
          </a:xfrm>
          <a:custGeom>
            <a:avLst/>
            <a:gdLst/>
            <a:ahLst/>
            <a:cxnLst/>
            <a:rect r="r" b="b" t="t" l="l"/>
            <a:pathLst>
              <a:path h="3079779" w="10980596">
                <a:moveTo>
                  <a:pt x="0" y="0"/>
                </a:moveTo>
                <a:lnTo>
                  <a:pt x="10980595" y="0"/>
                </a:lnTo>
                <a:lnTo>
                  <a:pt x="10980595" y="3079778"/>
                </a:lnTo>
                <a:lnTo>
                  <a:pt x="0" y="3079778"/>
                </a:lnTo>
                <a:lnTo>
                  <a:pt x="0" y="0"/>
                </a:lnTo>
                <a:close/>
              </a:path>
            </a:pathLst>
          </a:custGeom>
          <a:blipFill>
            <a:blip r:embed="rId5"/>
            <a:stretch>
              <a:fillRect l="0" t="0" r="0" b="0"/>
            </a:stretch>
          </a:blipFill>
        </p:spPr>
      </p:sp>
      <p:sp>
        <p:nvSpPr>
          <p:cNvPr name="TextBox 9" id="9"/>
          <p:cNvSpPr txBox="true"/>
          <p:nvPr/>
        </p:nvSpPr>
        <p:spPr>
          <a:xfrm rot="0">
            <a:off x="1028700" y="895350"/>
            <a:ext cx="8228034" cy="769620"/>
          </a:xfrm>
          <a:prstGeom prst="rect">
            <a:avLst/>
          </a:prstGeom>
        </p:spPr>
        <p:txBody>
          <a:bodyPr anchor="t" rtlCol="false" tIns="0" lIns="0" bIns="0" rIns="0">
            <a:spAutoFit/>
          </a:bodyPr>
          <a:lstStyle/>
          <a:p>
            <a:pPr algn="l">
              <a:lnSpc>
                <a:spcPts val="5880"/>
              </a:lnSpc>
              <a:spcBef>
                <a:spcPct val="0"/>
              </a:spcBef>
            </a:pPr>
            <a:r>
              <a:rPr lang="en-US" b="true" sz="4200" spc="100">
                <a:solidFill>
                  <a:srgbClr val="343434"/>
                </a:solidFill>
                <a:latin typeface="Telegraf Bold"/>
                <a:ea typeface="Telegraf Bold"/>
                <a:cs typeface="Telegraf Bold"/>
                <a:sym typeface="Telegraf Bold"/>
              </a:rPr>
              <a:t> XỬ LÝ DỮ LIỆU BỊ THIẾU</a:t>
            </a:r>
          </a:p>
        </p:txBody>
      </p:sp>
      <p:sp>
        <p:nvSpPr>
          <p:cNvPr name="TextBox 10" id="10"/>
          <p:cNvSpPr txBox="true"/>
          <p:nvPr/>
        </p:nvSpPr>
        <p:spPr>
          <a:xfrm rot="0">
            <a:off x="2030710" y="1773398"/>
            <a:ext cx="5181059" cy="575946"/>
          </a:xfrm>
          <a:prstGeom prst="rect">
            <a:avLst/>
          </a:prstGeom>
        </p:spPr>
        <p:txBody>
          <a:bodyPr anchor="t" rtlCol="false" tIns="0" lIns="0" bIns="0" rIns="0">
            <a:spAutoFit/>
          </a:bodyPr>
          <a:lstStyle/>
          <a:p>
            <a:pPr algn="l" marL="0" indent="0" lvl="1">
              <a:lnSpc>
                <a:spcPts val="4479"/>
              </a:lnSpc>
              <a:spcBef>
                <a:spcPct val="0"/>
              </a:spcBef>
            </a:pPr>
            <a:r>
              <a:rPr lang="en-US" b="true" sz="3199" spc="159" strike="noStrike" u="none">
                <a:solidFill>
                  <a:srgbClr val="343434"/>
                </a:solidFill>
                <a:latin typeface="Telegraf Bold"/>
                <a:ea typeface="Telegraf Bold"/>
                <a:cs typeface="Telegraf Bold"/>
                <a:sym typeface="Telegraf Bold"/>
              </a:rPr>
              <a:t>Trực quan dữ liệu thiếu</a:t>
            </a:r>
          </a:p>
        </p:txBody>
      </p:sp>
      <p:sp>
        <p:nvSpPr>
          <p:cNvPr name="TextBox 11" id="11"/>
          <p:cNvSpPr txBox="true"/>
          <p:nvPr/>
        </p:nvSpPr>
        <p:spPr>
          <a:xfrm rot="0">
            <a:off x="1346966" y="3757313"/>
            <a:ext cx="1367487" cy="575946"/>
          </a:xfrm>
          <a:prstGeom prst="rect">
            <a:avLst/>
          </a:prstGeom>
        </p:spPr>
        <p:txBody>
          <a:bodyPr anchor="t" rtlCol="false" tIns="0" lIns="0" bIns="0" rIns="0">
            <a:spAutoFit/>
          </a:bodyPr>
          <a:lstStyle/>
          <a:p>
            <a:pPr algn="l" marL="0" indent="0" lvl="1">
              <a:lnSpc>
                <a:spcPts val="4479"/>
              </a:lnSpc>
              <a:spcBef>
                <a:spcPct val="0"/>
              </a:spcBef>
            </a:pPr>
            <a:r>
              <a:rPr lang="en-US" b="true" sz="3199" spc="159">
                <a:solidFill>
                  <a:srgbClr val="343434"/>
                </a:solidFill>
                <a:latin typeface="Telegraf Bold"/>
                <a:ea typeface="Telegraf Bold"/>
                <a:cs typeface="Telegraf Bold"/>
                <a:sym typeface="Telegraf Bold"/>
              </a:rPr>
              <a:t>Trước</a:t>
            </a:r>
          </a:p>
        </p:txBody>
      </p:sp>
      <p:sp>
        <p:nvSpPr>
          <p:cNvPr name="TextBox 12" id="12"/>
          <p:cNvSpPr txBox="true"/>
          <p:nvPr/>
        </p:nvSpPr>
        <p:spPr>
          <a:xfrm rot="0">
            <a:off x="1620269" y="7601465"/>
            <a:ext cx="820882" cy="575946"/>
          </a:xfrm>
          <a:prstGeom prst="rect">
            <a:avLst/>
          </a:prstGeom>
        </p:spPr>
        <p:txBody>
          <a:bodyPr anchor="t" rtlCol="false" tIns="0" lIns="0" bIns="0" rIns="0">
            <a:spAutoFit/>
          </a:bodyPr>
          <a:lstStyle/>
          <a:p>
            <a:pPr algn="l" marL="0" indent="0" lvl="1">
              <a:lnSpc>
                <a:spcPts val="4479"/>
              </a:lnSpc>
              <a:spcBef>
                <a:spcPct val="0"/>
              </a:spcBef>
            </a:pPr>
            <a:r>
              <a:rPr lang="en-US" b="true" sz="3199" spc="159">
                <a:solidFill>
                  <a:srgbClr val="343434"/>
                </a:solidFill>
                <a:latin typeface="Telegraf Bold"/>
                <a:ea typeface="Telegraf Bold"/>
                <a:cs typeface="Telegraf Bold"/>
                <a:sym typeface="Telegraf Bold"/>
              </a:rPr>
              <a:t>Sau</a:t>
            </a:r>
          </a:p>
        </p:txBody>
      </p:sp>
    </p:spTree>
  </p:cSld>
  <p:clrMapOvr>
    <a:masterClrMapping/>
  </p:clrMapOvr>
</p:sld>
</file>

<file path=ppt/slides/slide30.xml><?xml version="1.0" encoding="utf-8"?>
<p:sld xmlns:p="http://schemas.openxmlformats.org/presentationml/2006/main" xmlns:a="http://schemas.openxmlformats.org/drawingml/2006/main" xmlns:r="http://schemas.openxmlformats.org/officeDocument/2006/relationships">
  <p:cSld>
    <p:bg>
      <p:bgPr>
        <a:solidFill>
          <a:srgbClr val="F2F7FA"/>
        </a:solidFill>
      </p:bgPr>
    </p:bg>
    <p:spTree>
      <p:nvGrpSpPr>
        <p:cNvPr id="1" name=""/>
        <p:cNvGrpSpPr/>
        <p:nvPr/>
      </p:nvGrpSpPr>
      <p:grpSpPr>
        <a:xfrm>
          <a:off x="0" y="0"/>
          <a:ext cx="0" cy="0"/>
          <a:chOff x="0" y="0"/>
          <a:chExt cx="0" cy="0"/>
        </a:xfrm>
      </p:grpSpPr>
      <p:sp>
        <p:nvSpPr>
          <p:cNvPr name="Freeform 2" id="2"/>
          <p:cNvSpPr/>
          <p:nvPr/>
        </p:nvSpPr>
        <p:spPr>
          <a:xfrm flipH="false" flipV="false" rot="-10269688">
            <a:off x="2370349" y="7875388"/>
            <a:ext cx="12760102" cy="5407093"/>
          </a:xfrm>
          <a:custGeom>
            <a:avLst/>
            <a:gdLst/>
            <a:ahLst/>
            <a:cxnLst/>
            <a:rect r="r" b="b" t="t" l="l"/>
            <a:pathLst>
              <a:path h="5407093" w="12760102">
                <a:moveTo>
                  <a:pt x="0" y="0"/>
                </a:moveTo>
                <a:lnTo>
                  <a:pt x="12760102" y="0"/>
                </a:lnTo>
                <a:lnTo>
                  <a:pt x="12760102" y="5407093"/>
                </a:lnTo>
                <a:lnTo>
                  <a:pt x="0" y="5407093"/>
                </a:lnTo>
                <a:lnTo>
                  <a:pt x="0" y="0"/>
                </a:lnTo>
                <a:close/>
              </a:path>
            </a:pathLst>
          </a:custGeom>
          <a:blipFill>
            <a:blip r:embed="rId2"/>
            <a:stretch>
              <a:fillRect l="0" t="0" r="0" b="0"/>
            </a:stretch>
          </a:blipFill>
        </p:spPr>
      </p:sp>
      <p:sp>
        <p:nvSpPr>
          <p:cNvPr name="Freeform 3" id="3"/>
          <p:cNvSpPr/>
          <p:nvPr/>
        </p:nvSpPr>
        <p:spPr>
          <a:xfrm flipH="false" flipV="false" rot="4362236">
            <a:off x="12139904" y="-1553663"/>
            <a:ext cx="7735476" cy="4631616"/>
          </a:xfrm>
          <a:custGeom>
            <a:avLst/>
            <a:gdLst/>
            <a:ahLst/>
            <a:cxnLst/>
            <a:rect r="r" b="b" t="t" l="l"/>
            <a:pathLst>
              <a:path h="4631616" w="7735476">
                <a:moveTo>
                  <a:pt x="0" y="0"/>
                </a:moveTo>
                <a:lnTo>
                  <a:pt x="7735476" y="0"/>
                </a:lnTo>
                <a:lnTo>
                  <a:pt x="7735476" y="4631616"/>
                </a:lnTo>
                <a:lnTo>
                  <a:pt x="0" y="4631616"/>
                </a:lnTo>
                <a:lnTo>
                  <a:pt x="0" y="0"/>
                </a:lnTo>
                <a:close/>
              </a:path>
            </a:pathLst>
          </a:custGeom>
          <a:blipFill>
            <a:blip r:embed="rId3"/>
            <a:stretch>
              <a:fillRect l="0" t="0" r="0" b="0"/>
            </a:stretch>
          </a:blipFill>
        </p:spPr>
      </p:sp>
      <p:grpSp>
        <p:nvGrpSpPr>
          <p:cNvPr name="Group 4" id="4"/>
          <p:cNvGrpSpPr/>
          <p:nvPr/>
        </p:nvGrpSpPr>
        <p:grpSpPr>
          <a:xfrm rot="0">
            <a:off x="17412901" y="-165726"/>
            <a:ext cx="1028700" cy="11072020"/>
            <a:chOff x="0" y="0"/>
            <a:chExt cx="270933" cy="2916088"/>
          </a:xfrm>
        </p:grpSpPr>
        <p:sp>
          <p:nvSpPr>
            <p:cNvPr name="Freeform 5" id="5"/>
            <p:cNvSpPr/>
            <p:nvPr/>
          </p:nvSpPr>
          <p:spPr>
            <a:xfrm flipH="false" flipV="false" rot="0">
              <a:off x="0" y="0"/>
              <a:ext cx="270933" cy="2916088"/>
            </a:xfrm>
            <a:custGeom>
              <a:avLst/>
              <a:gdLst/>
              <a:ahLst/>
              <a:cxnLst/>
              <a:rect r="r" b="b" t="t" l="l"/>
              <a:pathLst>
                <a:path h="2916088" w="270933">
                  <a:moveTo>
                    <a:pt x="0" y="0"/>
                  </a:moveTo>
                  <a:lnTo>
                    <a:pt x="270933" y="0"/>
                  </a:lnTo>
                  <a:lnTo>
                    <a:pt x="270933" y="2916088"/>
                  </a:lnTo>
                  <a:lnTo>
                    <a:pt x="0" y="2916088"/>
                  </a:lnTo>
                  <a:close/>
                </a:path>
              </a:pathLst>
            </a:custGeom>
            <a:gradFill rotWithShape="true">
              <a:gsLst>
                <a:gs pos="0">
                  <a:srgbClr val="E4B795">
                    <a:alpha val="100000"/>
                  </a:srgbClr>
                </a:gs>
                <a:gs pos="50000">
                  <a:srgbClr val="699ACD">
                    <a:alpha val="100000"/>
                  </a:srgbClr>
                </a:gs>
                <a:gs pos="100000">
                  <a:srgbClr val="2F679F">
                    <a:alpha val="100000"/>
                  </a:srgbClr>
                </a:gs>
              </a:gsLst>
              <a:path path="circle">
                <a:fillToRect l="0" r="100000" t="0" b="100000"/>
              </a:path>
              <a:tileRect r="0" l="-100000" b="0" t="-100000"/>
            </a:gradFill>
          </p:spPr>
        </p:sp>
        <p:sp>
          <p:nvSpPr>
            <p:cNvPr name="TextBox 6" id="6"/>
            <p:cNvSpPr txBox="true"/>
            <p:nvPr/>
          </p:nvSpPr>
          <p:spPr>
            <a:xfrm>
              <a:off x="0" y="-57150"/>
              <a:ext cx="270933" cy="2973238"/>
            </a:xfrm>
            <a:prstGeom prst="rect">
              <a:avLst/>
            </a:prstGeom>
          </p:spPr>
          <p:txBody>
            <a:bodyPr anchor="ctr" rtlCol="false" tIns="50800" lIns="50800" bIns="50800" rIns="50800"/>
            <a:lstStyle/>
            <a:p>
              <a:pPr algn="ctr">
                <a:lnSpc>
                  <a:spcPts val="3639"/>
                </a:lnSpc>
              </a:pPr>
            </a:p>
          </p:txBody>
        </p:sp>
      </p:grpSp>
      <p:sp>
        <p:nvSpPr>
          <p:cNvPr name="Freeform 7" id="7"/>
          <p:cNvSpPr/>
          <p:nvPr/>
        </p:nvSpPr>
        <p:spPr>
          <a:xfrm flipH="false" flipV="false" rot="0">
            <a:off x="2603282" y="2349344"/>
            <a:ext cx="13081437" cy="7582799"/>
          </a:xfrm>
          <a:custGeom>
            <a:avLst/>
            <a:gdLst/>
            <a:ahLst/>
            <a:cxnLst/>
            <a:rect r="r" b="b" t="t" l="l"/>
            <a:pathLst>
              <a:path h="7582799" w="13081437">
                <a:moveTo>
                  <a:pt x="0" y="0"/>
                </a:moveTo>
                <a:lnTo>
                  <a:pt x="13081436" y="0"/>
                </a:lnTo>
                <a:lnTo>
                  <a:pt x="13081436" y="7582798"/>
                </a:lnTo>
                <a:lnTo>
                  <a:pt x="0" y="7582798"/>
                </a:lnTo>
                <a:lnTo>
                  <a:pt x="0" y="0"/>
                </a:lnTo>
                <a:close/>
              </a:path>
            </a:pathLst>
          </a:custGeom>
          <a:blipFill>
            <a:blip r:embed="rId4"/>
            <a:stretch>
              <a:fillRect l="0" t="0" r="0" b="0"/>
            </a:stretch>
          </a:blipFill>
        </p:spPr>
      </p:sp>
      <p:sp>
        <p:nvSpPr>
          <p:cNvPr name="TextBox 8" id="8"/>
          <p:cNvSpPr txBox="true"/>
          <p:nvPr/>
        </p:nvSpPr>
        <p:spPr>
          <a:xfrm rot="0">
            <a:off x="1028700" y="895350"/>
            <a:ext cx="8228034" cy="769620"/>
          </a:xfrm>
          <a:prstGeom prst="rect">
            <a:avLst/>
          </a:prstGeom>
        </p:spPr>
        <p:txBody>
          <a:bodyPr anchor="t" rtlCol="false" tIns="0" lIns="0" bIns="0" rIns="0">
            <a:spAutoFit/>
          </a:bodyPr>
          <a:lstStyle/>
          <a:p>
            <a:pPr algn="l">
              <a:lnSpc>
                <a:spcPts val="5880"/>
              </a:lnSpc>
              <a:spcBef>
                <a:spcPct val="0"/>
              </a:spcBef>
            </a:pPr>
            <a:r>
              <a:rPr lang="en-US" b="true" sz="4200" spc="100">
                <a:solidFill>
                  <a:srgbClr val="343434"/>
                </a:solidFill>
                <a:latin typeface="Telegraf Bold"/>
                <a:ea typeface="Telegraf Bold"/>
                <a:cs typeface="Telegraf Bold"/>
                <a:sym typeface="Telegraf Bold"/>
              </a:rPr>
              <a:t> XỬ LÝ DỮ LIỆU BỊ THIẾU</a:t>
            </a:r>
          </a:p>
        </p:txBody>
      </p:sp>
      <p:sp>
        <p:nvSpPr>
          <p:cNvPr name="TextBox 9" id="9"/>
          <p:cNvSpPr txBox="true"/>
          <p:nvPr/>
        </p:nvSpPr>
        <p:spPr>
          <a:xfrm rot="0">
            <a:off x="2030710" y="1773398"/>
            <a:ext cx="5181059" cy="575946"/>
          </a:xfrm>
          <a:prstGeom prst="rect">
            <a:avLst/>
          </a:prstGeom>
        </p:spPr>
        <p:txBody>
          <a:bodyPr anchor="t" rtlCol="false" tIns="0" lIns="0" bIns="0" rIns="0">
            <a:spAutoFit/>
          </a:bodyPr>
          <a:lstStyle/>
          <a:p>
            <a:pPr algn="l" marL="0" indent="0" lvl="1">
              <a:lnSpc>
                <a:spcPts val="4479"/>
              </a:lnSpc>
              <a:spcBef>
                <a:spcPct val="0"/>
              </a:spcBef>
            </a:pPr>
            <a:r>
              <a:rPr lang="en-US" b="true" sz="3199" spc="159" strike="noStrike" u="none">
                <a:solidFill>
                  <a:srgbClr val="343434"/>
                </a:solidFill>
                <a:latin typeface="Telegraf Bold"/>
                <a:ea typeface="Telegraf Bold"/>
                <a:cs typeface="Telegraf Bold"/>
                <a:sym typeface="Telegraf Bold"/>
              </a:rPr>
              <a:t>Trực quan dữ liệu thiếu</a:t>
            </a:r>
          </a:p>
        </p:txBody>
      </p:sp>
    </p:spTree>
  </p:cSld>
  <p:clrMapOvr>
    <a:masterClrMapping/>
  </p:clrMapOvr>
</p:sld>
</file>

<file path=ppt/slides/slide31.xml><?xml version="1.0" encoding="utf-8"?>
<p:sld xmlns:p="http://schemas.openxmlformats.org/presentationml/2006/main" xmlns:a="http://schemas.openxmlformats.org/drawingml/2006/main" xmlns:r="http://schemas.openxmlformats.org/officeDocument/2006/relationships">
  <p:cSld>
    <p:bg>
      <p:bgPr>
        <a:solidFill>
          <a:srgbClr val="F2F7FA"/>
        </a:solidFill>
      </p:bgPr>
    </p:bg>
    <p:spTree>
      <p:nvGrpSpPr>
        <p:cNvPr id="1" name=""/>
        <p:cNvGrpSpPr/>
        <p:nvPr/>
      </p:nvGrpSpPr>
      <p:grpSpPr>
        <a:xfrm>
          <a:off x="0" y="0"/>
          <a:ext cx="0" cy="0"/>
          <a:chOff x="0" y="0"/>
          <a:chExt cx="0" cy="0"/>
        </a:xfrm>
      </p:grpSpPr>
      <p:sp>
        <p:nvSpPr>
          <p:cNvPr name="Freeform 2" id="2"/>
          <p:cNvSpPr/>
          <p:nvPr/>
        </p:nvSpPr>
        <p:spPr>
          <a:xfrm flipH="false" flipV="false" rot="225008">
            <a:off x="-642791" y="-3332405"/>
            <a:ext cx="12701350" cy="5382197"/>
          </a:xfrm>
          <a:custGeom>
            <a:avLst/>
            <a:gdLst/>
            <a:ahLst/>
            <a:cxnLst/>
            <a:rect r="r" b="b" t="t" l="l"/>
            <a:pathLst>
              <a:path h="5382197" w="12701350">
                <a:moveTo>
                  <a:pt x="0" y="0"/>
                </a:moveTo>
                <a:lnTo>
                  <a:pt x="12701350" y="0"/>
                </a:lnTo>
                <a:lnTo>
                  <a:pt x="12701350" y="5382197"/>
                </a:lnTo>
                <a:lnTo>
                  <a:pt x="0" y="5382197"/>
                </a:lnTo>
                <a:lnTo>
                  <a:pt x="0" y="0"/>
                </a:lnTo>
                <a:close/>
              </a:path>
            </a:pathLst>
          </a:custGeom>
          <a:blipFill>
            <a:blip r:embed="rId2"/>
            <a:stretch>
              <a:fillRect l="0" t="0" r="0" b="0"/>
            </a:stretch>
          </a:blipFill>
        </p:spPr>
      </p:sp>
      <p:sp>
        <p:nvSpPr>
          <p:cNvPr name="Freeform 3" id="3"/>
          <p:cNvSpPr/>
          <p:nvPr/>
        </p:nvSpPr>
        <p:spPr>
          <a:xfrm flipH="false" flipV="false" rot="0">
            <a:off x="12220973" y="7306236"/>
            <a:ext cx="11514218" cy="8506128"/>
          </a:xfrm>
          <a:custGeom>
            <a:avLst/>
            <a:gdLst/>
            <a:ahLst/>
            <a:cxnLst/>
            <a:rect r="r" b="b" t="t" l="l"/>
            <a:pathLst>
              <a:path h="8506128" w="11514218">
                <a:moveTo>
                  <a:pt x="0" y="0"/>
                </a:moveTo>
                <a:lnTo>
                  <a:pt x="11514218" y="0"/>
                </a:lnTo>
                <a:lnTo>
                  <a:pt x="11514218" y="8506129"/>
                </a:lnTo>
                <a:lnTo>
                  <a:pt x="0" y="8506129"/>
                </a:lnTo>
                <a:lnTo>
                  <a:pt x="0" y="0"/>
                </a:lnTo>
                <a:close/>
              </a:path>
            </a:pathLst>
          </a:custGeom>
          <a:blipFill>
            <a:blip r:embed="rId3"/>
            <a:stretch>
              <a:fillRect l="0" t="0" r="0" b="0"/>
            </a:stretch>
          </a:blipFill>
        </p:spPr>
      </p:sp>
      <p:grpSp>
        <p:nvGrpSpPr>
          <p:cNvPr name="Group 4" id="4"/>
          <p:cNvGrpSpPr/>
          <p:nvPr/>
        </p:nvGrpSpPr>
        <p:grpSpPr>
          <a:xfrm rot="0">
            <a:off x="17259300" y="-392510"/>
            <a:ext cx="1437565" cy="11072020"/>
            <a:chOff x="0" y="0"/>
            <a:chExt cx="378618" cy="2916088"/>
          </a:xfrm>
        </p:grpSpPr>
        <p:sp>
          <p:nvSpPr>
            <p:cNvPr name="Freeform 5" id="5"/>
            <p:cNvSpPr/>
            <p:nvPr/>
          </p:nvSpPr>
          <p:spPr>
            <a:xfrm flipH="false" flipV="false" rot="0">
              <a:off x="0" y="0"/>
              <a:ext cx="378618" cy="2916088"/>
            </a:xfrm>
            <a:custGeom>
              <a:avLst/>
              <a:gdLst/>
              <a:ahLst/>
              <a:cxnLst/>
              <a:rect r="r" b="b" t="t" l="l"/>
              <a:pathLst>
                <a:path h="2916088" w="378618">
                  <a:moveTo>
                    <a:pt x="0" y="0"/>
                  </a:moveTo>
                  <a:lnTo>
                    <a:pt x="378618" y="0"/>
                  </a:lnTo>
                  <a:lnTo>
                    <a:pt x="378618" y="2916088"/>
                  </a:lnTo>
                  <a:lnTo>
                    <a:pt x="0" y="2916088"/>
                  </a:lnTo>
                  <a:close/>
                </a:path>
              </a:pathLst>
            </a:custGeom>
            <a:gradFill rotWithShape="true">
              <a:gsLst>
                <a:gs pos="0">
                  <a:srgbClr val="E4B795">
                    <a:alpha val="100000"/>
                  </a:srgbClr>
                </a:gs>
                <a:gs pos="50000">
                  <a:srgbClr val="699ACD">
                    <a:alpha val="100000"/>
                  </a:srgbClr>
                </a:gs>
                <a:gs pos="100000">
                  <a:srgbClr val="2F679F">
                    <a:alpha val="100000"/>
                  </a:srgbClr>
                </a:gs>
              </a:gsLst>
              <a:path path="circle">
                <a:fillToRect l="0" r="100000" t="0" b="100000"/>
              </a:path>
              <a:tileRect r="0" l="-100000" b="0" t="-100000"/>
            </a:gradFill>
          </p:spPr>
        </p:sp>
        <p:sp>
          <p:nvSpPr>
            <p:cNvPr name="TextBox 6" id="6"/>
            <p:cNvSpPr txBox="true"/>
            <p:nvPr/>
          </p:nvSpPr>
          <p:spPr>
            <a:xfrm>
              <a:off x="0" y="-57150"/>
              <a:ext cx="378618" cy="2973238"/>
            </a:xfrm>
            <a:prstGeom prst="rect">
              <a:avLst/>
            </a:prstGeom>
          </p:spPr>
          <p:txBody>
            <a:bodyPr anchor="ctr" rtlCol="false" tIns="50800" lIns="50800" bIns="50800" rIns="50800"/>
            <a:lstStyle/>
            <a:p>
              <a:pPr algn="ctr">
                <a:lnSpc>
                  <a:spcPts val="3639"/>
                </a:lnSpc>
              </a:pPr>
            </a:p>
          </p:txBody>
        </p:sp>
      </p:grpSp>
      <p:sp>
        <p:nvSpPr>
          <p:cNvPr name="TextBox 7" id="7"/>
          <p:cNvSpPr txBox="true"/>
          <p:nvPr/>
        </p:nvSpPr>
        <p:spPr>
          <a:xfrm rot="0">
            <a:off x="8021110" y="782737"/>
            <a:ext cx="2492949" cy="351790"/>
          </a:xfrm>
          <a:prstGeom prst="rect">
            <a:avLst/>
          </a:prstGeom>
        </p:spPr>
        <p:txBody>
          <a:bodyPr anchor="t" rtlCol="false" tIns="0" lIns="0" bIns="0" rIns="0">
            <a:spAutoFit/>
          </a:bodyPr>
          <a:lstStyle/>
          <a:p>
            <a:pPr algn="l">
              <a:lnSpc>
                <a:spcPts val="2660"/>
              </a:lnSpc>
              <a:spcBef>
                <a:spcPct val="0"/>
              </a:spcBef>
            </a:pPr>
            <a:r>
              <a:rPr lang="en-US" sz="1900" spc="95">
                <a:solidFill>
                  <a:srgbClr val="164B82"/>
                </a:solidFill>
                <a:latin typeface="Telegraf Extra-Light"/>
                <a:ea typeface="Telegraf Extra-Light"/>
                <a:cs typeface="Telegraf Extra-Light"/>
                <a:sym typeface="Telegraf Extra-Light"/>
              </a:rPr>
              <a:t>Studio Shodwe</a:t>
            </a:r>
          </a:p>
        </p:txBody>
      </p:sp>
      <p:sp>
        <p:nvSpPr>
          <p:cNvPr name="TextBox 8" id="8"/>
          <p:cNvSpPr txBox="true"/>
          <p:nvPr/>
        </p:nvSpPr>
        <p:spPr>
          <a:xfrm rot="0">
            <a:off x="13305333" y="782737"/>
            <a:ext cx="1819999" cy="351790"/>
          </a:xfrm>
          <a:prstGeom prst="rect">
            <a:avLst/>
          </a:prstGeom>
        </p:spPr>
        <p:txBody>
          <a:bodyPr anchor="t" rtlCol="false" tIns="0" lIns="0" bIns="0" rIns="0">
            <a:spAutoFit/>
          </a:bodyPr>
          <a:lstStyle/>
          <a:p>
            <a:pPr algn="r">
              <a:lnSpc>
                <a:spcPts val="2660"/>
              </a:lnSpc>
              <a:spcBef>
                <a:spcPct val="0"/>
              </a:spcBef>
            </a:pPr>
            <a:r>
              <a:rPr lang="en-US" sz="1900" spc="95">
                <a:solidFill>
                  <a:srgbClr val="164B82"/>
                </a:solidFill>
                <a:latin typeface="Telegraf Extra-Light"/>
                <a:ea typeface="Telegraf Extra-Light"/>
                <a:cs typeface="Telegraf Extra-Light"/>
                <a:sym typeface="Telegraf Extra-Light"/>
              </a:rPr>
              <a:t>2024</a:t>
            </a:r>
          </a:p>
        </p:txBody>
      </p:sp>
      <p:sp>
        <p:nvSpPr>
          <p:cNvPr name="TextBox 9" id="9"/>
          <p:cNvSpPr txBox="true"/>
          <p:nvPr/>
        </p:nvSpPr>
        <p:spPr>
          <a:xfrm rot="0">
            <a:off x="11045641" y="782737"/>
            <a:ext cx="1819999" cy="351790"/>
          </a:xfrm>
          <a:prstGeom prst="rect">
            <a:avLst/>
          </a:prstGeom>
        </p:spPr>
        <p:txBody>
          <a:bodyPr anchor="t" rtlCol="false" tIns="0" lIns="0" bIns="0" rIns="0">
            <a:spAutoFit/>
          </a:bodyPr>
          <a:lstStyle/>
          <a:p>
            <a:pPr algn="ctr">
              <a:lnSpc>
                <a:spcPts val="2660"/>
              </a:lnSpc>
              <a:spcBef>
                <a:spcPct val="0"/>
              </a:spcBef>
            </a:pPr>
            <a:r>
              <a:rPr lang="en-US" sz="1900" spc="95">
                <a:solidFill>
                  <a:srgbClr val="164B82"/>
                </a:solidFill>
                <a:latin typeface="Telegraf Extra-Light"/>
                <a:ea typeface="Telegraf Extra-Light"/>
                <a:cs typeface="Telegraf Extra-Light"/>
                <a:sym typeface="Telegraf Extra-Light"/>
              </a:rPr>
              <a:t>Project.</a:t>
            </a:r>
          </a:p>
        </p:txBody>
      </p:sp>
      <p:grpSp>
        <p:nvGrpSpPr>
          <p:cNvPr name="Group 10" id="10"/>
          <p:cNvGrpSpPr/>
          <p:nvPr/>
        </p:nvGrpSpPr>
        <p:grpSpPr>
          <a:xfrm rot="5400000">
            <a:off x="11279340" y="-3711595"/>
            <a:ext cx="643045" cy="9407130"/>
            <a:chOff x="0" y="0"/>
            <a:chExt cx="169362" cy="2477598"/>
          </a:xfrm>
        </p:grpSpPr>
        <p:sp>
          <p:nvSpPr>
            <p:cNvPr name="Freeform 11" id="11"/>
            <p:cNvSpPr/>
            <p:nvPr/>
          </p:nvSpPr>
          <p:spPr>
            <a:xfrm flipH="false" flipV="false" rot="0">
              <a:off x="0" y="0"/>
              <a:ext cx="169362" cy="2477598"/>
            </a:xfrm>
            <a:custGeom>
              <a:avLst/>
              <a:gdLst/>
              <a:ahLst/>
              <a:cxnLst/>
              <a:rect r="r" b="b" t="t" l="l"/>
              <a:pathLst>
                <a:path h="2477598" w="169362">
                  <a:moveTo>
                    <a:pt x="84681" y="0"/>
                  </a:moveTo>
                  <a:lnTo>
                    <a:pt x="84681" y="0"/>
                  </a:lnTo>
                  <a:cubicBezTo>
                    <a:pt x="107140" y="0"/>
                    <a:pt x="128678" y="8922"/>
                    <a:pt x="144559" y="24802"/>
                  </a:cubicBezTo>
                  <a:cubicBezTo>
                    <a:pt x="160440" y="40683"/>
                    <a:pt x="169362" y="62222"/>
                    <a:pt x="169362" y="84681"/>
                  </a:cubicBezTo>
                  <a:lnTo>
                    <a:pt x="169362" y="2392917"/>
                  </a:lnTo>
                  <a:cubicBezTo>
                    <a:pt x="169362" y="2439685"/>
                    <a:pt x="131449" y="2477598"/>
                    <a:pt x="84681" y="2477598"/>
                  </a:cubicBezTo>
                  <a:lnTo>
                    <a:pt x="84681" y="2477598"/>
                  </a:lnTo>
                  <a:cubicBezTo>
                    <a:pt x="37913" y="2477598"/>
                    <a:pt x="0" y="2439685"/>
                    <a:pt x="0" y="2392917"/>
                  </a:cubicBezTo>
                  <a:lnTo>
                    <a:pt x="0" y="84681"/>
                  </a:lnTo>
                  <a:cubicBezTo>
                    <a:pt x="0" y="37913"/>
                    <a:pt x="37913" y="0"/>
                    <a:pt x="84681" y="0"/>
                  </a:cubicBezTo>
                  <a:close/>
                </a:path>
              </a:pathLst>
            </a:custGeom>
            <a:ln w="19050" cap="rnd">
              <a:solidFill>
                <a:srgbClr val="164B82"/>
              </a:solidFill>
              <a:prstDash val="solid"/>
              <a:round/>
            </a:ln>
          </p:spPr>
        </p:sp>
        <p:sp>
          <p:nvSpPr>
            <p:cNvPr name="TextBox 12" id="12"/>
            <p:cNvSpPr txBox="true"/>
            <p:nvPr/>
          </p:nvSpPr>
          <p:spPr>
            <a:xfrm>
              <a:off x="0" y="-57150"/>
              <a:ext cx="169362" cy="2534748"/>
            </a:xfrm>
            <a:prstGeom prst="rect">
              <a:avLst/>
            </a:prstGeom>
          </p:spPr>
          <p:txBody>
            <a:bodyPr anchor="ctr" rtlCol="false" tIns="50800" lIns="50800" bIns="50800" rIns="50800"/>
            <a:lstStyle/>
            <a:p>
              <a:pPr algn="ctr">
                <a:lnSpc>
                  <a:spcPts val="3639"/>
                </a:lnSpc>
              </a:pPr>
            </a:p>
          </p:txBody>
        </p:sp>
      </p:grpSp>
      <p:sp>
        <p:nvSpPr>
          <p:cNvPr name="TextBox 13" id="13"/>
          <p:cNvSpPr txBox="true"/>
          <p:nvPr/>
        </p:nvSpPr>
        <p:spPr>
          <a:xfrm rot="0">
            <a:off x="1028700" y="2074046"/>
            <a:ext cx="17703925" cy="710373"/>
          </a:xfrm>
          <a:prstGeom prst="rect">
            <a:avLst/>
          </a:prstGeom>
        </p:spPr>
        <p:txBody>
          <a:bodyPr anchor="t" rtlCol="false" tIns="0" lIns="0" bIns="0" rIns="0">
            <a:spAutoFit/>
          </a:bodyPr>
          <a:lstStyle/>
          <a:p>
            <a:pPr algn="l">
              <a:lnSpc>
                <a:spcPts val="4927"/>
              </a:lnSpc>
            </a:pPr>
            <a:r>
              <a:rPr lang="en-US" sz="5080" b="true">
                <a:solidFill>
                  <a:srgbClr val="343434"/>
                </a:solidFill>
                <a:latin typeface="Telegraf Bold"/>
                <a:ea typeface="Telegraf Bold"/>
                <a:cs typeface="Telegraf Bold"/>
                <a:sym typeface="Telegraf Bold"/>
              </a:rPr>
              <a:t>TỔNG HỢP DỮ LIỆU GIAO DỊCH</a:t>
            </a:r>
          </a:p>
        </p:txBody>
      </p:sp>
      <p:sp>
        <p:nvSpPr>
          <p:cNvPr name="TextBox 14" id="14"/>
          <p:cNvSpPr txBox="true"/>
          <p:nvPr/>
        </p:nvSpPr>
        <p:spPr>
          <a:xfrm rot="0">
            <a:off x="1210256" y="2970436"/>
            <a:ext cx="7270173" cy="575946"/>
          </a:xfrm>
          <a:prstGeom prst="rect">
            <a:avLst/>
          </a:prstGeom>
        </p:spPr>
        <p:txBody>
          <a:bodyPr anchor="t" rtlCol="false" tIns="0" lIns="0" bIns="0" rIns="0">
            <a:spAutoFit/>
          </a:bodyPr>
          <a:lstStyle/>
          <a:p>
            <a:pPr algn="ctr">
              <a:lnSpc>
                <a:spcPts val="4479"/>
              </a:lnSpc>
              <a:spcBef>
                <a:spcPct val="0"/>
              </a:spcBef>
            </a:pPr>
            <a:r>
              <a:rPr lang="en-US" b="true" sz="3199">
                <a:solidFill>
                  <a:srgbClr val="000000"/>
                </a:solidFill>
                <a:latin typeface="Telegraf Bold"/>
                <a:ea typeface="Telegraf Bold"/>
                <a:cs typeface="Telegraf Bold"/>
                <a:sym typeface="Telegraf Bold"/>
              </a:rPr>
              <a:t>Tổng quan về các loại "Thanh" (Bars)</a:t>
            </a:r>
          </a:p>
        </p:txBody>
      </p:sp>
      <p:sp>
        <p:nvSpPr>
          <p:cNvPr name="TextBox 15" id="15"/>
          <p:cNvSpPr txBox="true"/>
          <p:nvPr/>
        </p:nvSpPr>
        <p:spPr>
          <a:xfrm rot="0">
            <a:off x="1210256" y="3755932"/>
            <a:ext cx="14728911" cy="817880"/>
          </a:xfrm>
          <a:prstGeom prst="rect">
            <a:avLst/>
          </a:prstGeom>
        </p:spPr>
        <p:txBody>
          <a:bodyPr anchor="t" rtlCol="false" tIns="0" lIns="0" bIns="0" rIns="0">
            <a:spAutoFit/>
          </a:bodyPr>
          <a:lstStyle/>
          <a:p>
            <a:pPr algn="l" marL="496567" indent="-248284" lvl="1">
              <a:lnSpc>
                <a:spcPts val="3219"/>
              </a:lnSpc>
              <a:buFont typeface="Arial"/>
              <a:buChar char="•"/>
            </a:pPr>
            <a:r>
              <a:rPr lang="en-US" b="true" sz="2299">
                <a:solidFill>
                  <a:srgbClr val="000000"/>
                </a:solidFill>
                <a:latin typeface="Telegraf Bold"/>
                <a:ea typeface="Telegraf Bold"/>
                <a:cs typeface="Telegraf Bold"/>
                <a:sym typeface="Telegraf Bold"/>
              </a:rPr>
              <a:t>Định nghĩa:</a:t>
            </a:r>
            <a:r>
              <a:rPr lang="en-US" sz="2299">
                <a:solidFill>
                  <a:srgbClr val="000000"/>
                </a:solidFill>
                <a:latin typeface="Telegraf"/>
                <a:ea typeface="Telegraf"/>
                <a:cs typeface="Telegraf"/>
                <a:sym typeface="Telegraf"/>
              </a:rPr>
              <a:t> "Thanh" là dạng biểu diễn dữ liệu chứa thông tin cơ bản về biến động giá của tài sản tài chính trong một khoảng xác định</a:t>
            </a:r>
          </a:p>
        </p:txBody>
      </p:sp>
      <p:sp>
        <p:nvSpPr>
          <p:cNvPr name="TextBox 16" id="16"/>
          <p:cNvSpPr txBox="true"/>
          <p:nvPr/>
        </p:nvSpPr>
        <p:spPr>
          <a:xfrm rot="0">
            <a:off x="1210256" y="4696460"/>
            <a:ext cx="13005077" cy="417830"/>
          </a:xfrm>
          <a:prstGeom prst="rect">
            <a:avLst/>
          </a:prstGeom>
        </p:spPr>
        <p:txBody>
          <a:bodyPr anchor="t" rtlCol="false" tIns="0" lIns="0" bIns="0" rIns="0">
            <a:spAutoFit/>
          </a:bodyPr>
          <a:lstStyle/>
          <a:p>
            <a:pPr algn="l" marL="496567" indent="-248284" lvl="1">
              <a:lnSpc>
                <a:spcPts val="3219"/>
              </a:lnSpc>
              <a:buFont typeface="Arial"/>
              <a:buChar char="•"/>
            </a:pPr>
            <a:r>
              <a:rPr lang="en-US" b="true" sz="2299">
                <a:solidFill>
                  <a:srgbClr val="000000"/>
                </a:solidFill>
                <a:latin typeface="Telegraf Bold"/>
                <a:ea typeface="Telegraf Bold"/>
                <a:cs typeface="Telegraf Bold"/>
                <a:sym typeface="Telegraf Bold"/>
              </a:rPr>
              <a:t>Time</a:t>
            </a:r>
            <a:r>
              <a:rPr lang="en-US" b="true" sz="2299">
                <a:solidFill>
                  <a:srgbClr val="000000"/>
                </a:solidFill>
                <a:latin typeface="Telegraf Bold"/>
                <a:ea typeface="Telegraf Bold"/>
                <a:cs typeface="Telegraf Bold"/>
                <a:sym typeface="Telegraf Bold"/>
              </a:rPr>
              <a:t> Bars: </a:t>
            </a:r>
            <a:r>
              <a:rPr lang="en-US" sz="2299">
                <a:solidFill>
                  <a:srgbClr val="000000"/>
                </a:solidFill>
                <a:latin typeface="Telegraf"/>
                <a:ea typeface="Telegraf"/>
                <a:cs typeface="Telegraf"/>
                <a:sym typeface="Telegraf"/>
              </a:rPr>
              <a:t>Tổng hợp dữ liệu theo các khoảng thời gian cố định như phút, giờ, ngày.</a:t>
            </a:r>
          </a:p>
        </p:txBody>
      </p:sp>
      <p:sp>
        <p:nvSpPr>
          <p:cNvPr name="TextBox 17" id="17"/>
          <p:cNvSpPr txBox="true"/>
          <p:nvPr/>
        </p:nvSpPr>
        <p:spPr>
          <a:xfrm rot="0">
            <a:off x="1210256" y="5402417"/>
            <a:ext cx="6019077" cy="575946"/>
          </a:xfrm>
          <a:prstGeom prst="rect">
            <a:avLst/>
          </a:prstGeom>
        </p:spPr>
        <p:txBody>
          <a:bodyPr anchor="t" rtlCol="false" tIns="0" lIns="0" bIns="0" rIns="0">
            <a:spAutoFit/>
          </a:bodyPr>
          <a:lstStyle/>
          <a:p>
            <a:pPr algn="l">
              <a:lnSpc>
                <a:spcPts val="4479"/>
              </a:lnSpc>
              <a:spcBef>
                <a:spcPct val="0"/>
              </a:spcBef>
            </a:pPr>
            <a:r>
              <a:rPr lang="en-US" b="true" sz="3199">
                <a:solidFill>
                  <a:srgbClr val="000000"/>
                </a:solidFill>
                <a:latin typeface="Telegraf Bold"/>
                <a:ea typeface="Telegraf Bold"/>
                <a:cs typeface="Telegraf Bold"/>
                <a:sym typeface="Telegraf Bold"/>
              </a:rPr>
              <a:t>Nhược</a:t>
            </a:r>
            <a:r>
              <a:rPr lang="en-US" b="true" sz="3199">
                <a:solidFill>
                  <a:srgbClr val="000000"/>
                </a:solidFill>
                <a:latin typeface="Telegraf Bold"/>
                <a:ea typeface="Telegraf Bold"/>
                <a:cs typeface="Telegraf Bold"/>
                <a:sym typeface="Telegraf Bold"/>
              </a:rPr>
              <a:t> điểm của Time Bars:</a:t>
            </a:r>
          </a:p>
        </p:txBody>
      </p:sp>
      <p:sp>
        <p:nvSpPr>
          <p:cNvPr name="TextBox 18" id="18"/>
          <p:cNvSpPr txBox="true"/>
          <p:nvPr/>
        </p:nvSpPr>
        <p:spPr>
          <a:xfrm rot="0">
            <a:off x="1210256" y="6187913"/>
            <a:ext cx="14728911" cy="817880"/>
          </a:xfrm>
          <a:prstGeom prst="rect">
            <a:avLst/>
          </a:prstGeom>
        </p:spPr>
        <p:txBody>
          <a:bodyPr anchor="t" rtlCol="false" tIns="0" lIns="0" bIns="0" rIns="0">
            <a:spAutoFit/>
          </a:bodyPr>
          <a:lstStyle/>
          <a:p>
            <a:pPr algn="l" marL="496567" indent="-248284" lvl="1">
              <a:lnSpc>
                <a:spcPts val="3219"/>
              </a:lnSpc>
              <a:buFont typeface="Arial"/>
              <a:buChar char="•"/>
            </a:pPr>
            <a:r>
              <a:rPr lang="en-US" sz="2299">
                <a:solidFill>
                  <a:srgbClr val="000000"/>
                </a:solidFill>
                <a:latin typeface="Telegraf"/>
                <a:ea typeface="Telegraf"/>
                <a:cs typeface="Telegraf"/>
                <a:sym typeface="Telegraf"/>
              </a:rPr>
              <a:t>Che</a:t>
            </a:r>
            <a:r>
              <a:rPr lang="en-US" sz="2299">
                <a:solidFill>
                  <a:srgbClr val="000000"/>
                </a:solidFill>
                <a:latin typeface="Telegraf"/>
                <a:ea typeface="Telegraf"/>
                <a:cs typeface="Telegraf"/>
                <a:sym typeface="Telegraf"/>
              </a:rPr>
              <a:t> giấu tốc độ hoạt động thực tế: Lấy mẫu quá mức khi thị trường ảm đạm và thiếu hụt khi biến động mạnh.</a:t>
            </a:r>
          </a:p>
        </p:txBody>
      </p:sp>
      <p:sp>
        <p:nvSpPr>
          <p:cNvPr name="TextBox 19" id="19"/>
          <p:cNvSpPr txBox="true"/>
          <p:nvPr/>
        </p:nvSpPr>
        <p:spPr>
          <a:xfrm rot="0">
            <a:off x="1210256" y="7310594"/>
            <a:ext cx="14360502" cy="817880"/>
          </a:xfrm>
          <a:prstGeom prst="rect">
            <a:avLst/>
          </a:prstGeom>
        </p:spPr>
        <p:txBody>
          <a:bodyPr anchor="t" rtlCol="false" tIns="0" lIns="0" bIns="0" rIns="0">
            <a:spAutoFit/>
          </a:bodyPr>
          <a:lstStyle/>
          <a:p>
            <a:pPr algn="l" marL="496567" indent="-248284" lvl="1">
              <a:lnSpc>
                <a:spcPts val="3219"/>
              </a:lnSpc>
              <a:buFont typeface="Arial"/>
              <a:buChar char="•"/>
            </a:pPr>
            <a:r>
              <a:rPr lang="en-US" sz="2299">
                <a:solidFill>
                  <a:srgbClr val="000000"/>
                </a:solidFill>
                <a:latin typeface="Telegraf"/>
                <a:ea typeface="Telegraf"/>
                <a:cs typeface="Telegraf"/>
                <a:sym typeface="Telegraf"/>
              </a:rPr>
              <a:t>Khôn</a:t>
            </a:r>
            <a:r>
              <a:rPr lang="en-US" sz="2299">
                <a:solidFill>
                  <a:srgbClr val="000000"/>
                </a:solidFill>
                <a:latin typeface="Telegraf"/>
                <a:ea typeface="Telegraf"/>
                <a:cs typeface="Telegraf"/>
                <a:sym typeface="Telegraf"/>
              </a:rPr>
              <a:t>g phù hợp với thị trường hiện đại: Bot và thuật toán giao dịch không tuân theo chu kỳ sinh học của con người</a:t>
            </a:r>
          </a:p>
        </p:txBody>
      </p:sp>
      <p:sp>
        <p:nvSpPr>
          <p:cNvPr name="TextBox 20" id="20"/>
          <p:cNvSpPr txBox="true"/>
          <p:nvPr/>
        </p:nvSpPr>
        <p:spPr>
          <a:xfrm rot="0">
            <a:off x="1210256" y="8433274"/>
            <a:ext cx="13732548" cy="417830"/>
          </a:xfrm>
          <a:prstGeom prst="rect">
            <a:avLst/>
          </a:prstGeom>
        </p:spPr>
        <p:txBody>
          <a:bodyPr anchor="t" rtlCol="false" tIns="0" lIns="0" bIns="0" rIns="0">
            <a:spAutoFit/>
          </a:bodyPr>
          <a:lstStyle/>
          <a:p>
            <a:pPr algn="l" marL="496567" indent="-248284" lvl="1">
              <a:lnSpc>
                <a:spcPts val="3219"/>
              </a:lnSpc>
              <a:buFont typeface="Arial"/>
              <a:buChar char="•"/>
            </a:pPr>
            <a:r>
              <a:rPr lang="en-US" sz="2299">
                <a:solidFill>
                  <a:srgbClr val="000000"/>
                </a:solidFill>
                <a:latin typeface="Telegraf"/>
                <a:ea typeface="Telegraf"/>
                <a:cs typeface="Telegraf"/>
                <a:sym typeface="Telegraf"/>
              </a:rPr>
              <a:t>Đặc tín</a:t>
            </a:r>
            <a:r>
              <a:rPr lang="en-US" sz="2299">
                <a:solidFill>
                  <a:srgbClr val="000000"/>
                </a:solidFill>
                <a:latin typeface="Telegraf"/>
                <a:ea typeface="Telegraf"/>
                <a:cs typeface="Telegraf"/>
                <a:sym typeface="Telegraf"/>
              </a:rPr>
              <a:t>h thống kê kém: Dễ bị thao túng bởi các "lệnh tảng băng trôi"</a:t>
            </a:r>
          </a:p>
        </p:txBody>
      </p:sp>
    </p:spTree>
  </p:cSld>
  <p:clrMapOvr>
    <a:masterClrMapping/>
  </p:clrMapOvr>
</p:sld>
</file>

<file path=ppt/slides/slide32.xml><?xml version="1.0" encoding="utf-8"?>
<p:sld xmlns:p="http://schemas.openxmlformats.org/presentationml/2006/main" xmlns:a="http://schemas.openxmlformats.org/drawingml/2006/main" xmlns:r="http://schemas.openxmlformats.org/officeDocument/2006/relationships">
  <p:cSld>
    <p:bg>
      <p:bgPr>
        <a:solidFill>
          <a:srgbClr val="F2F7FA"/>
        </a:solidFill>
      </p:bgPr>
    </p:bg>
    <p:spTree>
      <p:nvGrpSpPr>
        <p:cNvPr id="1" name=""/>
        <p:cNvGrpSpPr/>
        <p:nvPr/>
      </p:nvGrpSpPr>
      <p:grpSpPr>
        <a:xfrm>
          <a:off x="0" y="0"/>
          <a:ext cx="0" cy="0"/>
          <a:chOff x="0" y="0"/>
          <a:chExt cx="0" cy="0"/>
        </a:xfrm>
      </p:grpSpPr>
      <p:sp>
        <p:nvSpPr>
          <p:cNvPr name="Freeform 2" id="2"/>
          <p:cNvSpPr/>
          <p:nvPr/>
        </p:nvSpPr>
        <p:spPr>
          <a:xfrm flipH="false" flipV="false" rot="225008">
            <a:off x="-642791" y="-3332405"/>
            <a:ext cx="12701350" cy="5382197"/>
          </a:xfrm>
          <a:custGeom>
            <a:avLst/>
            <a:gdLst/>
            <a:ahLst/>
            <a:cxnLst/>
            <a:rect r="r" b="b" t="t" l="l"/>
            <a:pathLst>
              <a:path h="5382197" w="12701350">
                <a:moveTo>
                  <a:pt x="0" y="0"/>
                </a:moveTo>
                <a:lnTo>
                  <a:pt x="12701350" y="0"/>
                </a:lnTo>
                <a:lnTo>
                  <a:pt x="12701350" y="5382197"/>
                </a:lnTo>
                <a:lnTo>
                  <a:pt x="0" y="5382197"/>
                </a:lnTo>
                <a:lnTo>
                  <a:pt x="0" y="0"/>
                </a:lnTo>
                <a:close/>
              </a:path>
            </a:pathLst>
          </a:custGeom>
          <a:blipFill>
            <a:blip r:embed="rId2"/>
            <a:stretch>
              <a:fillRect l="0" t="0" r="0" b="0"/>
            </a:stretch>
          </a:blipFill>
        </p:spPr>
      </p:sp>
      <p:sp>
        <p:nvSpPr>
          <p:cNvPr name="Freeform 3" id="3"/>
          <p:cNvSpPr/>
          <p:nvPr/>
        </p:nvSpPr>
        <p:spPr>
          <a:xfrm flipH="false" flipV="false" rot="0">
            <a:off x="12220973" y="7306236"/>
            <a:ext cx="11514218" cy="8506128"/>
          </a:xfrm>
          <a:custGeom>
            <a:avLst/>
            <a:gdLst/>
            <a:ahLst/>
            <a:cxnLst/>
            <a:rect r="r" b="b" t="t" l="l"/>
            <a:pathLst>
              <a:path h="8506128" w="11514218">
                <a:moveTo>
                  <a:pt x="0" y="0"/>
                </a:moveTo>
                <a:lnTo>
                  <a:pt x="11514218" y="0"/>
                </a:lnTo>
                <a:lnTo>
                  <a:pt x="11514218" y="8506129"/>
                </a:lnTo>
                <a:lnTo>
                  <a:pt x="0" y="8506129"/>
                </a:lnTo>
                <a:lnTo>
                  <a:pt x="0" y="0"/>
                </a:lnTo>
                <a:close/>
              </a:path>
            </a:pathLst>
          </a:custGeom>
          <a:blipFill>
            <a:blip r:embed="rId3"/>
            <a:stretch>
              <a:fillRect l="0" t="0" r="0" b="0"/>
            </a:stretch>
          </a:blipFill>
        </p:spPr>
      </p:sp>
      <p:grpSp>
        <p:nvGrpSpPr>
          <p:cNvPr name="Group 4" id="4"/>
          <p:cNvGrpSpPr/>
          <p:nvPr/>
        </p:nvGrpSpPr>
        <p:grpSpPr>
          <a:xfrm rot="0">
            <a:off x="17259300" y="-392510"/>
            <a:ext cx="1437565" cy="11072020"/>
            <a:chOff x="0" y="0"/>
            <a:chExt cx="378618" cy="2916088"/>
          </a:xfrm>
        </p:grpSpPr>
        <p:sp>
          <p:nvSpPr>
            <p:cNvPr name="Freeform 5" id="5"/>
            <p:cNvSpPr/>
            <p:nvPr/>
          </p:nvSpPr>
          <p:spPr>
            <a:xfrm flipH="false" flipV="false" rot="0">
              <a:off x="0" y="0"/>
              <a:ext cx="378618" cy="2916088"/>
            </a:xfrm>
            <a:custGeom>
              <a:avLst/>
              <a:gdLst/>
              <a:ahLst/>
              <a:cxnLst/>
              <a:rect r="r" b="b" t="t" l="l"/>
              <a:pathLst>
                <a:path h="2916088" w="378618">
                  <a:moveTo>
                    <a:pt x="0" y="0"/>
                  </a:moveTo>
                  <a:lnTo>
                    <a:pt x="378618" y="0"/>
                  </a:lnTo>
                  <a:lnTo>
                    <a:pt x="378618" y="2916088"/>
                  </a:lnTo>
                  <a:lnTo>
                    <a:pt x="0" y="2916088"/>
                  </a:lnTo>
                  <a:close/>
                </a:path>
              </a:pathLst>
            </a:custGeom>
            <a:gradFill rotWithShape="true">
              <a:gsLst>
                <a:gs pos="0">
                  <a:srgbClr val="E4B795">
                    <a:alpha val="100000"/>
                  </a:srgbClr>
                </a:gs>
                <a:gs pos="50000">
                  <a:srgbClr val="699ACD">
                    <a:alpha val="100000"/>
                  </a:srgbClr>
                </a:gs>
                <a:gs pos="100000">
                  <a:srgbClr val="2F679F">
                    <a:alpha val="100000"/>
                  </a:srgbClr>
                </a:gs>
              </a:gsLst>
              <a:path path="circle">
                <a:fillToRect l="0" r="100000" t="0" b="100000"/>
              </a:path>
              <a:tileRect r="0" l="-100000" b="0" t="-100000"/>
            </a:gradFill>
          </p:spPr>
        </p:sp>
        <p:sp>
          <p:nvSpPr>
            <p:cNvPr name="TextBox 6" id="6"/>
            <p:cNvSpPr txBox="true"/>
            <p:nvPr/>
          </p:nvSpPr>
          <p:spPr>
            <a:xfrm>
              <a:off x="0" y="-57150"/>
              <a:ext cx="378618" cy="2973238"/>
            </a:xfrm>
            <a:prstGeom prst="rect">
              <a:avLst/>
            </a:prstGeom>
          </p:spPr>
          <p:txBody>
            <a:bodyPr anchor="ctr" rtlCol="false" tIns="50800" lIns="50800" bIns="50800" rIns="50800"/>
            <a:lstStyle/>
            <a:p>
              <a:pPr algn="ctr">
                <a:lnSpc>
                  <a:spcPts val="3639"/>
                </a:lnSpc>
              </a:pPr>
            </a:p>
          </p:txBody>
        </p:sp>
      </p:grpSp>
      <p:sp>
        <p:nvSpPr>
          <p:cNvPr name="TextBox 7" id="7"/>
          <p:cNvSpPr txBox="true"/>
          <p:nvPr/>
        </p:nvSpPr>
        <p:spPr>
          <a:xfrm rot="0">
            <a:off x="8021110" y="782737"/>
            <a:ext cx="2492949" cy="351790"/>
          </a:xfrm>
          <a:prstGeom prst="rect">
            <a:avLst/>
          </a:prstGeom>
        </p:spPr>
        <p:txBody>
          <a:bodyPr anchor="t" rtlCol="false" tIns="0" lIns="0" bIns="0" rIns="0">
            <a:spAutoFit/>
          </a:bodyPr>
          <a:lstStyle/>
          <a:p>
            <a:pPr algn="l">
              <a:lnSpc>
                <a:spcPts val="2660"/>
              </a:lnSpc>
              <a:spcBef>
                <a:spcPct val="0"/>
              </a:spcBef>
            </a:pPr>
            <a:r>
              <a:rPr lang="en-US" sz="1900" spc="95">
                <a:solidFill>
                  <a:srgbClr val="164B82"/>
                </a:solidFill>
                <a:latin typeface="Telegraf Extra-Light"/>
                <a:ea typeface="Telegraf Extra-Light"/>
                <a:cs typeface="Telegraf Extra-Light"/>
                <a:sym typeface="Telegraf Extra-Light"/>
              </a:rPr>
              <a:t>Studio Shodwe</a:t>
            </a:r>
          </a:p>
        </p:txBody>
      </p:sp>
      <p:sp>
        <p:nvSpPr>
          <p:cNvPr name="TextBox 8" id="8"/>
          <p:cNvSpPr txBox="true"/>
          <p:nvPr/>
        </p:nvSpPr>
        <p:spPr>
          <a:xfrm rot="0">
            <a:off x="13305333" y="782737"/>
            <a:ext cx="1819999" cy="351790"/>
          </a:xfrm>
          <a:prstGeom prst="rect">
            <a:avLst/>
          </a:prstGeom>
        </p:spPr>
        <p:txBody>
          <a:bodyPr anchor="t" rtlCol="false" tIns="0" lIns="0" bIns="0" rIns="0">
            <a:spAutoFit/>
          </a:bodyPr>
          <a:lstStyle/>
          <a:p>
            <a:pPr algn="r">
              <a:lnSpc>
                <a:spcPts val="2660"/>
              </a:lnSpc>
              <a:spcBef>
                <a:spcPct val="0"/>
              </a:spcBef>
            </a:pPr>
            <a:r>
              <a:rPr lang="en-US" sz="1900" spc="95">
                <a:solidFill>
                  <a:srgbClr val="164B82"/>
                </a:solidFill>
                <a:latin typeface="Telegraf Extra-Light"/>
                <a:ea typeface="Telegraf Extra-Light"/>
                <a:cs typeface="Telegraf Extra-Light"/>
                <a:sym typeface="Telegraf Extra-Light"/>
              </a:rPr>
              <a:t>2024</a:t>
            </a:r>
          </a:p>
        </p:txBody>
      </p:sp>
      <p:sp>
        <p:nvSpPr>
          <p:cNvPr name="TextBox 9" id="9"/>
          <p:cNvSpPr txBox="true"/>
          <p:nvPr/>
        </p:nvSpPr>
        <p:spPr>
          <a:xfrm rot="0">
            <a:off x="11045641" y="782737"/>
            <a:ext cx="1819999" cy="351790"/>
          </a:xfrm>
          <a:prstGeom prst="rect">
            <a:avLst/>
          </a:prstGeom>
        </p:spPr>
        <p:txBody>
          <a:bodyPr anchor="t" rtlCol="false" tIns="0" lIns="0" bIns="0" rIns="0">
            <a:spAutoFit/>
          </a:bodyPr>
          <a:lstStyle/>
          <a:p>
            <a:pPr algn="ctr">
              <a:lnSpc>
                <a:spcPts val="2660"/>
              </a:lnSpc>
              <a:spcBef>
                <a:spcPct val="0"/>
              </a:spcBef>
            </a:pPr>
            <a:r>
              <a:rPr lang="en-US" sz="1900" spc="95">
                <a:solidFill>
                  <a:srgbClr val="164B82"/>
                </a:solidFill>
                <a:latin typeface="Telegraf Extra-Light"/>
                <a:ea typeface="Telegraf Extra-Light"/>
                <a:cs typeface="Telegraf Extra-Light"/>
                <a:sym typeface="Telegraf Extra-Light"/>
              </a:rPr>
              <a:t>Project.</a:t>
            </a:r>
          </a:p>
        </p:txBody>
      </p:sp>
      <p:grpSp>
        <p:nvGrpSpPr>
          <p:cNvPr name="Group 10" id="10"/>
          <p:cNvGrpSpPr/>
          <p:nvPr/>
        </p:nvGrpSpPr>
        <p:grpSpPr>
          <a:xfrm rot="5400000">
            <a:off x="11279340" y="-3711595"/>
            <a:ext cx="643045" cy="9407130"/>
            <a:chOff x="0" y="0"/>
            <a:chExt cx="169362" cy="2477598"/>
          </a:xfrm>
        </p:grpSpPr>
        <p:sp>
          <p:nvSpPr>
            <p:cNvPr name="Freeform 11" id="11"/>
            <p:cNvSpPr/>
            <p:nvPr/>
          </p:nvSpPr>
          <p:spPr>
            <a:xfrm flipH="false" flipV="false" rot="0">
              <a:off x="0" y="0"/>
              <a:ext cx="169362" cy="2477598"/>
            </a:xfrm>
            <a:custGeom>
              <a:avLst/>
              <a:gdLst/>
              <a:ahLst/>
              <a:cxnLst/>
              <a:rect r="r" b="b" t="t" l="l"/>
              <a:pathLst>
                <a:path h="2477598" w="169362">
                  <a:moveTo>
                    <a:pt x="84681" y="0"/>
                  </a:moveTo>
                  <a:lnTo>
                    <a:pt x="84681" y="0"/>
                  </a:lnTo>
                  <a:cubicBezTo>
                    <a:pt x="107140" y="0"/>
                    <a:pt x="128678" y="8922"/>
                    <a:pt x="144559" y="24802"/>
                  </a:cubicBezTo>
                  <a:cubicBezTo>
                    <a:pt x="160440" y="40683"/>
                    <a:pt x="169362" y="62222"/>
                    <a:pt x="169362" y="84681"/>
                  </a:cubicBezTo>
                  <a:lnTo>
                    <a:pt x="169362" y="2392917"/>
                  </a:lnTo>
                  <a:cubicBezTo>
                    <a:pt x="169362" y="2439685"/>
                    <a:pt x="131449" y="2477598"/>
                    <a:pt x="84681" y="2477598"/>
                  </a:cubicBezTo>
                  <a:lnTo>
                    <a:pt x="84681" y="2477598"/>
                  </a:lnTo>
                  <a:cubicBezTo>
                    <a:pt x="37913" y="2477598"/>
                    <a:pt x="0" y="2439685"/>
                    <a:pt x="0" y="2392917"/>
                  </a:cubicBezTo>
                  <a:lnTo>
                    <a:pt x="0" y="84681"/>
                  </a:lnTo>
                  <a:cubicBezTo>
                    <a:pt x="0" y="37913"/>
                    <a:pt x="37913" y="0"/>
                    <a:pt x="84681" y="0"/>
                  </a:cubicBezTo>
                  <a:close/>
                </a:path>
              </a:pathLst>
            </a:custGeom>
            <a:ln w="19050" cap="rnd">
              <a:solidFill>
                <a:srgbClr val="164B82"/>
              </a:solidFill>
              <a:prstDash val="solid"/>
              <a:round/>
            </a:ln>
          </p:spPr>
        </p:sp>
        <p:sp>
          <p:nvSpPr>
            <p:cNvPr name="TextBox 12" id="12"/>
            <p:cNvSpPr txBox="true"/>
            <p:nvPr/>
          </p:nvSpPr>
          <p:spPr>
            <a:xfrm>
              <a:off x="0" y="-57150"/>
              <a:ext cx="169362" cy="2534748"/>
            </a:xfrm>
            <a:prstGeom prst="rect">
              <a:avLst/>
            </a:prstGeom>
          </p:spPr>
          <p:txBody>
            <a:bodyPr anchor="ctr" rtlCol="false" tIns="50800" lIns="50800" bIns="50800" rIns="50800"/>
            <a:lstStyle/>
            <a:p>
              <a:pPr algn="ctr">
                <a:lnSpc>
                  <a:spcPts val="3639"/>
                </a:lnSpc>
              </a:pPr>
            </a:p>
          </p:txBody>
        </p:sp>
      </p:grpSp>
      <p:sp>
        <p:nvSpPr>
          <p:cNvPr name="Freeform 13" id="13"/>
          <p:cNvSpPr/>
          <p:nvPr/>
        </p:nvSpPr>
        <p:spPr>
          <a:xfrm flipH="false" flipV="false" rot="0">
            <a:off x="123415" y="8372476"/>
            <a:ext cx="958230" cy="482600"/>
          </a:xfrm>
          <a:custGeom>
            <a:avLst/>
            <a:gdLst/>
            <a:ahLst/>
            <a:cxnLst/>
            <a:rect r="r" b="b" t="t" l="l"/>
            <a:pathLst>
              <a:path h="482600" w="958230">
                <a:moveTo>
                  <a:pt x="0" y="0"/>
                </a:moveTo>
                <a:lnTo>
                  <a:pt x="958230" y="0"/>
                </a:lnTo>
                <a:lnTo>
                  <a:pt x="958230" y="482599"/>
                </a:lnTo>
                <a:lnTo>
                  <a:pt x="0" y="482599"/>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TextBox 14" id="14"/>
          <p:cNvSpPr txBox="true"/>
          <p:nvPr/>
        </p:nvSpPr>
        <p:spPr>
          <a:xfrm rot="0">
            <a:off x="992940" y="2358349"/>
            <a:ext cx="17703925" cy="710373"/>
          </a:xfrm>
          <a:prstGeom prst="rect">
            <a:avLst/>
          </a:prstGeom>
        </p:spPr>
        <p:txBody>
          <a:bodyPr anchor="t" rtlCol="false" tIns="0" lIns="0" bIns="0" rIns="0">
            <a:spAutoFit/>
          </a:bodyPr>
          <a:lstStyle/>
          <a:p>
            <a:pPr algn="l">
              <a:lnSpc>
                <a:spcPts val="4927"/>
              </a:lnSpc>
            </a:pPr>
            <a:r>
              <a:rPr lang="en-US" sz="5080" b="true">
                <a:solidFill>
                  <a:srgbClr val="343434"/>
                </a:solidFill>
                <a:latin typeface="Telegraf Bold"/>
                <a:ea typeface="Telegraf Bold"/>
                <a:cs typeface="Telegraf Bold"/>
                <a:sym typeface="Telegraf Bold"/>
              </a:rPr>
              <a:t>TỔNG HỢP DỮ LIỆU GIAO DỊCH</a:t>
            </a:r>
          </a:p>
        </p:txBody>
      </p:sp>
      <p:sp>
        <p:nvSpPr>
          <p:cNvPr name="TextBox 15" id="15"/>
          <p:cNvSpPr txBox="true"/>
          <p:nvPr/>
        </p:nvSpPr>
        <p:spPr>
          <a:xfrm rot="0">
            <a:off x="1193765" y="3356031"/>
            <a:ext cx="7309139" cy="575946"/>
          </a:xfrm>
          <a:prstGeom prst="rect">
            <a:avLst/>
          </a:prstGeom>
        </p:spPr>
        <p:txBody>
          <a:bodyPr anchor="t" rtlCol="false" tIns="0" lIns="0" bIns="0" rIns="0">
            <a:spAutoFit/>
          </a:bodyPr>
          <a:lstStyle/>
          <a:p>
            <a:pPr algn="ctr">
              <a:lnSpc>
                <a:spcPts val="4479"/>
              </a:lnSpc>
              <a:spcBef>
                <a:spcPct val="0"/>
              </a:spcBef>
            </a:pPr>
            <a:r>
              <a:rPr lang="en-US" b="true" sz="3199">
                <a:solidFill>
                  <a:srgbClr val="000000"/>
                </a:solidFill>
                <a:latin typeface="Telegraf Bold"/>
                <a:ea typeface="Telegraf Bold"/>
                <a:cs typeface="Telegraf Bold"/>
                <a:sym typeface="Telegraf Bold"/>
              </a:rPr>
              <a:t>Các phươ</a:t>
            </a:r>
            <a:r>
              <a:rPr lang="en-US" b="true" sz="3199">
                <a:solidFill>
                  <a:srgbClr val="000000"/>
                </a:solidFill>
                <a:latin typeface="Telegraf Bold"/>
                <a:ea typeface="Telegraf Bold"/>
                <a:cs typeface="Telegraf Bold"/>
                <a:sym typeface="Telegraf Bold"/>
              </a:rPr>
              <a:t>ng pháp tổng hợp thay thế</a:t>
            </a:r>
          </a:p>
        </p:txBody>
      </p:sp>
      <p:sp>
        <p:nvSpPr>
          <p:cNvPr name="TextBox 16" id="16"/>
          <p:cNvSpPr txBox="true"/>
          <p:nvPr/>
        </p:nvSpPr>
        <p:spPr>
          <a:xfrm rot="0">
            <a:off x="1081645" y="4150093"/>
            <a:ext cx="14532701" cy="898525"/>
          </a:xfrm>
          <a:prstGeom prst="rect">
            <a:avLst/>
          </a:prstGeom>
        </p:spPr>
        <p:txBody>
          <a:bodyPr anchor="t" rtlCol="false" tIns="0" lIns="0" bIns="0" rIns="0">
            <a:spAutoFit/>
          </a:bodyPr>
          <a:lstStyle/>
          <a:p>
            <a:pPr algn="l" marL="539746" indent="-269873" lvl="1">
              <a:lnSpc>
                <a:spcPts val="3499"/>
              </a:lnSpc>
              <a:buFont typeface="Arial"/>
              <a:buChar char="•"/>
            </a:pPr>
            <a:r>
              <a:rPr lang="en-US" b="true" sz="2499">
                <a:solidFill>
                  <a:srgbClr val="000000"/>
                </a:solidFill>
                <a:latin typeface="Telegraf Bold"/>
                <a:ea typeface="Telegraf Bold"/>
                <a:cs typeface="Telegraf Bold"/>
                <a:sym typeface="Telegraf Bold"/>
              </a:rPr>
              <a:t>Tick</a:t>
            </a:r>
            <a:r>
              <a:rPr lang="en-US" b="true" sz="2499">
                <a:solidFill>
                  <a:srgbClr val="000000"/>
                </a:solidFill>
                <a:latin typeface="Telegraf Bold"/>
                <a:ea typeface="Telegraf Bold"/>
                <a:cs typeface="Telegraf Bold"/>
                <a:sym typeface="Telegraf Bold"/>
              </a:rPr>
              <a:t> Bars:</a:t>
            </a:r>
            <a:r>
              <a:rPr lang="en-US" sz="2499">
                <a:solidFill>
                  <a:srgbClr val="000000"/>
                </a:solidFill>
                <a:latin typeface="Telegraf"/>
                <a:ea typeface="Telegraf"/>
                <a:cs typeface="Telegraf"/>
                <a:sym typeface="Telegraf"/>
              </a:rPr>
              <a:t> Lấy mẫu sau mỗi số lượng giao dịch xác định. Giúp theo dõi biến động tốt nhưng coi mọi giao dịch là như nhau.</a:t>
            </a:r>
          </a:p>
        </p:txBody>
      </p:sp>
      <p:sp>
        <p:nvSpPr>
          <p:cNvPr name="TextBox 17" id="17"/>
          <p:cNvSpPr txBox="true"/>
          <p:nvPr/>
        </p:nvSpPr>
        <p:spPr>
          <a:xfrm rot="0">
            <a:off x="1193765" y="5126981"/>
            <a:ext cx="14532701" cy="898525"/>
          </a:xfrm>
          <a:prstGeom prst="rect">
            <a:avLst/>
          </a:prstGeom>
        </p:spPr>
        <p:txBody>
          <a:bodyPr anchor="t" rtlCol="false" tIns="0" lIns="0" bIns="0" rIns="0">
            <a:spAutoFit/>
          </a:bodyPr>
          <a:lstStyle/>
          <a:p>
            <a:pPr algn="l" marL="539746" indent="-269873" lvl="1">
              <a:lnSpc>
                <a:spcPts val="3499"/>
              </a:lnSpc>
              <a:buFont typeface="Arial"/>
              <a:buChar char="•"/>
            </a:pPr>
            <a:r>
              <a:rPr lang="en-US" b="true" sz="2499">
                <a:solidFill>
                  <a:srgbClr val="000000"/>
                </a:solidFill>
                <a:latin typeface="Telegraf Bold"/>
                <a:ea typeface="Telegraf Bold"/>
                <a:cs typeface="Telegraf Bold"/>
                <a:sym typeface="Telegraf Bold"/>
              </a:rPr>
              <a:t>Volume</a:t>
            </a:r>
            <a:r>
              <a:rPr lang="en-US" b="true" sz="2499">
                <a:solidFill>
                  <a:srgbClr val="000000"/>
                </a:solidFill>
                <a:latin typeface="Telegraf Bold"/>
                <a:ea typeface="Telegraf Bold"/>
                <a:cs typeface="Telegraf Bold"/>
                <a:sym typeface="Telegraf Bold"/>
              </a:rPr>
              <a:t> Bars</a:t>
            </a:r>
            <a:r>
              <a:rPr lang="en-US" sz="2499">
                <a:solidFill>
                  <a:srgbClr val="000000"/>
                </a:solidFill>
                <a:latin typeface="Telegraf"/>
                <a:ea typeface="Telegraf"/>
                <a:cs typeface="Telegraf"/>
                <a:sym typeface="Telegraf"/>
              </a:rPr>
              <a:t>: Lấy mẫu sau khi một khối lượng tài sản xác định được trao đổi. Khắc phục được nhược điểm của Tick Bars nhưng chưa phản ánh chính xác khi giá trị tài sản biến động lớn</a:t>
            </a:r>
          </a:p>
        </p:txBody>
      </p:sp>
      <p:sp>
        <p:nvSpPr>
          <p:cNvPr name="TextBox 18" id="18"/>
          <p:cNvSpPr txBox="true"/>
          <p:nvPr/>
        </p:nvSpPr>
        <p:spPr>
          <a:xfrm rot="0">
            <a:off x="1193765" y="6244582"/>
            <a:ext cx="14308460" cy="1336675"/>
          </a:xfrm>
          <a:prstGeom prst="rect">
            <a:avLst/>
          </a:prstGeom>
        </p:spPr>
        <p:txBody>
          <a:bodyPr anchor="t" rtlCol="false" tIns="0" lIns="0" bIns="0" rIns="0">
            <a:spAutoFit/>
          </a:bodyPr>
          <a:lstStyle/>
          <a:p>
            <a:pPr algn="l" marL="539746" indent="-269873" lvl="1">
              <a:lnSpc>
                <a:spcPts val="3499"/>
              </a:lnSpc>
              <a:buFont typeface="Arial"/>
              <a:buChar char="•"/>
            </a:pPr>
            <a:r>
              <a:rPr lang="en-US" b="true" sz="2499">
                <a:solidFill>
                  <a:srgbClr val="000000"/>
                </a:solidFill>
                <a:latin typeface="Telegraf Bold"/>
                <a:ea typeface="Telegraf Bold"/>
                <a:cs typeface="Telegraf Bold"/>
                <a:sym typeface="Telegraf Bold"/>
              </a:rPr>
              <a:t>Dollar</a:t>
            </a:r>
            <a:r>
              <a:rPr lang="en-US" b="true" sz="2499">
                <a:solidFill>
                  <a:srgbClr val="000000"/>
                </a:solidFill>
                <a:latin typeface="Telegraf Bold"/>
                <a:ea typeface="Telegraf Bold"/>
                <a:cs typeface="Telegraf Bold"/>
                <a:sym typeface="Telegraf Bold"/>
              </a:rPr>
              <a:t> Bars:</a:t>
            </a:r>
            <a:r>
              <a:rPr lang="en-US" sz="2499">
                <a:solidFill>
                  <a:srgbClr val="000000"/>
                </a:solidFill>
                <a:latin typeface="Telegraf"/>
                <a:ea typeface="Telegraf"/>
                <a:cs typeface="Telegraf"/>
                <a:sym typeface="Telegraf"/>
              </a:rPr>
              <a:t> Lấy mẫu sau khi một giá trị tiền tệ xác định được trao đổi. Duy trì tính nhất quán thông tin, thu hẹp khoảng cách với sự biến động giá và chống chịu tốt với các hành động như chia tách cổ phiếu</a:t>
            </a:r>
          </a:p>
        </p:txBody>
      </p:sp>
      <p:sp>
        <p:nvSpPr>
          <p:cNvPr name="TextBox 19" id="19"/>
          <p:cNvSpPr txBox="true"/>
          <p:nvPr/>
        </p:nvSpPr>
        <p:spPr>
          <a:xfrm rot="0">
            <a:off x="1193765" y="8121650"/>
            <a:ext cx="14666797" cy="898525"/>
          </a:xfrm>
          <a:prstGeom prst="rect">
            <a:avLst/>
          </a:prstGeom>
        </p:spPr>
        <p:txBody>
          <a:bodyPr anchor="t" rtlCol="false" tIns="0" lIns="0" bIns="0" rIns="0">
            <a:spAutoFit/>
          </a:bodyPr>
          <a:lstStyle/>
          <a:p>
            <a:pPr algn="l">
              <a:lnSpc>
                <a:spcPts val="3499"/>
              </a:lnSpc>
            </a:pPr>
            <a:r>
              <a:rPr lang="en-US" sz="2499" strike="noStrike" u="none">
                <a:solidFill>
                  <a:srgbClr val="000000"/>
                </a:solidFill>
                <a:latin typeface="Telegraf"/>
                <a:ea typeface="Telegraf"/>
                <a:cs typeface="Telegraf"/>
                <a:sym typeface="Telegraf"/>
              </a:rPr>
              <a:t>Trong đó, thì thanh dollar (Dollar Bars) thường được ưu chuộng hơn trong phân tích dữ liệu tài chính vì tính ổn định và khả năng phản ánh giá trị kinh tế chính xác hơn.</a:t>
            </a:r>
          </a:p>
        </p:txBody>
      </p:sp>
    </p:spTree>
  </p:cSld>
  <p:clrMapOvr>
    <a:masterClrMapping/>
  </p:clrMapOvr>
</p:sld>
</file>

<file path=ppt/slides/slide33.xml><?xml version="1.0" encoding="utf-8"?>
<p:sld xmlns:p="http://schemas.openxmlformats.org/presentationml/2006/main" xmlns:a="http://schemas.openxmlformats.org/drawingml/2006/main" xmlns:r="http://schemas.openxmlformats.org/officeDocument/2006/relationships">
  <p:cSld>
    <p:bg>
      <p:bgPr>
        <a:solidFill>
          <a:srgbClr val="F2F7FA"/>
        </a:solidFill>
      </p:bgPr>
    </p:bg>
    <p:spTree>
      <p:nvGrpSpPr>
        <p:cNvPr id="1" name=""/>
        <p:cNvGrpSpPr/>
        <p:nvPr/>
      </p:nvGrpSpPr>
      <p:grpSpPr>
        <a:xfrm>
          <a:off x="0" y="0"/>
          <a:ext cx="0" cy="0"/>
          <a:chOff x="0" y="0"/>
          <a:chExt cx="0" cy="0"/>
        </a:xfrm>
      </p:grpSpPr>
      <p:sp>
        <p:nvSpPr>
          <p:cNvPr name="Freeform 2" id="2"/>
          <p:cNvSpPr/>
          <p:nvPr/>
        </p:nvSpPr>
        <p:spPr>
          <a:xfrm flipH="false" flipV="false" rot="225008">
            <a:off x="-642791" y="-3332405"/>
            <a:ext cx="12701350" cy="5382197"/>
          </a:xfrm>
          <a:custGeom>
            <a:avLst/>
            <a:gdLst/>
            <a:ahLst/>
            <a:cxnLst/>
            <a:rect r="r" b="b" t="t" l="l"/>
            <a:pathLst>
              <a:path h="5382197" w="12701350">
                <a:moveTo>
                  <a:pt x="0" y="0"/>
                </a:moveTo>
                <a:lnTo>
                  <a:pt x="12701350" y="0"/>
                </a:lnTo>
                <a:lnTo>
                  <a:pt x="12701350" y="5382197"/>
                </a:lnTo>
                <a:lnTo>
                  <a:pt x="0" y="5382197"/>
                </a:lnTo>
                <a:lnTo>
                  <a:pt x="0" y="0"/>
                </a:lnTo>
                <a:close/>
              </a:path>
            </a:pathLst>
          </a:custGeom>
          <a:blipFill>
            <a:blip r:embed="rId2"/>
            <a:stretch>
              <a:fillRect l="0" t="0" r="0" b="0"/>
            </a:stretch>
          </a:blipFill>
        </p:spPr>
      </p:sp>
      <p:sp>
        <p:nvSpPr>
          <p:cNvPr name="Freeform 3" id="3"/>
          <p:cNvSpPr/>
          <p:nvPr/>
        </p:nvSpPr>
        <p:spPr>
          <a:xfrm flipH="false" flipV="false" rot="0">
            <a:off x="12865639" y="7553093"/>
            <a:ext cx="11514218" cy="8506128"/>
          </a:xfrm>
          <a:custGeom>
            <a:avLst/>
            <a:gdLst/>
            <a:ahLst/>
            <a:cxnLst/>
            <a:rect r="r" b="b" t="t" l="l"/>
            <a:pathLst>
              <a:path h="8506128" w="11514218">
                <a:moveTo>
                  <a:pt x="0" y="0"/>
                </a:moveTo>
                <a:lnTo>
                  <a:pt x="11514218" y="0"/>
                </a:lnTo>
                <a:lnTo>
                  <a:pt x="11514218" y="8506129"/>
                </a:lnTo>
                <a:lnTo>
                  <a:pt x="0" y="8506129"/>
                </a:lnTo>
                <a:lnTo>
                  <a:pt x="0" y="0"/>
                </a:lnTo>
                <a:close/>
              </a:path>
            </a:pathLst>
          </a:custGeom>
          <a:blipFill>
            <a:blip r:embed="rId3"/>
            <a:stretch>
              <a:fillRect l="0" t="0" r="0" b="0"/>
            </a:stretch>
          </a:blipFill>
        </p:spPr>
      </p:sp>
      <p:grpSp>
        <p:nvGrpSpPr>
          <p:cNvPr name="Group 4" id="4"/>
          <p:cNvGrpSpPr/>
          <p:nvPr/>
        </p:nvGrpSpPr>
        <p:grpSpPr>
          <a:xfrm rot="0">
            <a:off x="17569218" y="-392510"/>
            <a:ext cx="1437565" cy="11072020"/>
            <a:chOff x="0" y="0"/>
            <a:chExt cx="378618" cy="2916088"/>
          </a:xfrm>
        </p:grpSpPr>
        <p:sp>
          <p:nvSpPr>
            <p:cNvPr name="Freeform 5" id="5"/>
            <p:cNvSpPr/>
            <p:nvPr/>
          </p:nvSpPr>
          <p:spPr>
            <a:xfrm flipH="false" flipV="false" rot="0">
              <a:off x="0" y="0"/>
              <a:ext cx="378618" cy="2916088"/>
            </a:xfrm>
            <a:custGeom>
              <a:avLst/>
              <a:gdLst/>
              <a:ahLst/>
              <a:cxnLst/>
              <a:rect r="r" b="b" t="t" l="l"/>
              <a:pathLst>
                <a:path h="2916088" w="378618">
                  <a:moveTo>
                    <a:pt x="0" y="0"/>
                  </a:moveTo>
                  <a:lnTo>
                    <a:pt x="378618" y="0"/>
                  </a:lnTo>
                  <a:lnTo>
                    <a:pt x="378618" y="2916088"/>
                  </a:lnTo>
                  <a:lnTo>
                    <a:pt x="0" y="2916088"/>
                  </a:lnTo>
                  <a:close/>
                </a:path>
              </a:pathLst>
            </a:custGeom>
            <a:gradFill rotWithShape="true">
              <a:gsLst>
                <a:gs pos="0">
                  <a:srgbClr val="E4B795">
                    <a:alpha val="100000"/>
                  </a:srgbClr>
                </a:gs>
                <a:gs pos="50000">
                  <a:srgbClr val="699ACD">
                    <a:alpha val="100000"/>
                  </a:srgbClr>
                </a:gs>
                <a:gs pos="100000">
                  <a:srgbClr val="2F679F">
                    <a:alpha val="100000"/>
                  </a:srgbClr>
                </a:gs>
              </a:gsLst>
              <a:path path="circle">
                <a:fillToRect l="0" r="100000" t="0" b="100000"/>
              </a:path>
              <a:tileRect r="0" l="-100000" b="0" t="-100000"/>
            </a:gradFill>
          </p:spPr>
        </p:sp>
        <p:sp>
          <p:nvSpPr>
            <p:cNvPr name="TextBox 6" id="6"/>
            <p:cNvSpPr txBox="true"/>
            <p:nvPr/>
          </p:nvSpPr>
          <p:spPr>
            <a:xfrm>
              <a:off x="0" y="-57150"/>
              <a:ext cx="378618" cy="2973238"/>
            </a:xfrm>
            <a:prstGeom prst="rect">
              <a:avLst/>
            </a:prstGeom>
          </p:spPr>
          <p:txBody>
            <a:bodyPr anchor="ctr" rtlCol="false" tIns="50800" lIns="50800" bIns="50800" rIns="50800"/>
            <a:lstStyle/>
            <a:p>
              <a:pPr algn="ctr">
                <a:lnSpc>
                  <a:spcPts val="3639"/>
                </a:lnSpc>
              </a:pPr>
            </a:p>
          </p:txBody>
        </p:sp>
      </p:grpSp>
      <p:sp>
        <p:nvSpPr>
          <p:cNvPr name="TextBox 7" id="7"/>
          <p:cNvSpPr txBox="true"/>
          <p:nvPr/>
        </p:nvSpPr>
        <p:spPr>
          <a:xfrm rot="0">
            <a:off x="8021110" y="782737"/>
            <a:ext cx="2492949" cy="351790"/>
          </a:xfrm>
          <a:prstGeom prst="rect">
            <a:avLst/>
          </a:prstGeom>
        </p:spPr>
        <p:txBody>
          <a:bodyPr anchor="t" rtlCol="false" tIns="0" lIns="0" bIns="0" rIns="0">
            <a:spAutoFit/>
          </a:bodyPr>
          <a:lstStyle/>
          <a:p>
            <a:pPr algn="l">
              <a:lnSpc>
                <a:spcPts val="2660"/>
              </a:lnSpc>
              <a:spcBef>
                <a:spcPct val="0"/>
              </a:spcBef>
            </a:pPr>
            <a:r>
              <a:rPr lang="en-US" sz="1900" spc="95">
                <a:solidFill>
                  <a:srgbClr val="164B82"/>
                </a:solidFill>
                <a:latin typeface="Telegraf Extra-Light"/>
                <a:ea typeface="Telegraf Extra-Light"/>
                <a:cs typeface="Telegraf Extra-Light"/>
                <a:sym typeface="Telegraf Extra-Light"/>
              </a:rPr>
              <a:t>Studio Shodwe</a:t>
            </a:r>
          </a:p>
        </p:txBody>
      </p:sp>
      <p:sp>
        <p:nvSpPr>
          <p:cNvPr name="TextBox 8" id="8"/>
          <p:cNvSpPr txBox="true"/>
          <p:nvPr/>
        </p:nvSpPr>
        <p:spPr>
          <a:xfrm rot="0">
            <a:off x="13305333" y="782737"/>
            <a:ext cx="1819999" cy="351790"/>
          </a:xfrm>
          <a:prstGeom prst="rect">
            <a:avLst/>
          </a:prstGeom>
        </p:spPr>
        <p:txBody>
          <a:bodyPr anchor="t" rtlCol="false" tIns="0" lIns="0" bIns="0" rIns="0">
            <a:spAutoFit/>
          </a:bodyPr>
          <a:lstStyle/>
          <a:p>
            <a:pPr algn="r">
              <a:lnSpc>
                <a:spcPts val="2660"/>
              </a:lnSpc>
              <a:spcBef>
                <a:spcPct val="0"/>
              </a:spcBef>
            </a:pPr>
            <a:r>
              <a:rPr lang="en-US" sz="1900" spc="95">
                <a:solidFill>
                  <a:srgbClr val="164B82"/>
                </a:solidFill>
                <a:latin typeface="Telegraf Extra-Light"/>
                <a:ea typeface="Telegraf Extra-Light"/>
                <a:cs typeface="Telegraf Extra-Light"/>
                <a:sym typeface="Telegraf Extra-Light"/>
              </a:rPr>
              <a:t>2024</a:t>
            </a:r>
          </a:p>
        </p:txBody>
      </p:sp>
      <p:sp>
        <p:nvSpPr>
          <p:cNvPr name="TextBox 9" id="9"/>
          <p:cNvSpPr txBox="true"/>
          <p:nvPr/>
        </p:nvSpPr>
        <p:spPr>
          <a:xfrm rot="0">
            <a:off x="11045641" y="782737"/>
            <a:ext cx="1819999" cy="351790"/>
          </a:xfrm>
          <a:prstGeom prst="rect">
            <a:avLst/>
          </a:prstGeom>
        </p:spPr>
        <p:txBody>
          <a:bodyPr anchor="t" rtlCol="false" tIns="0" lIns="0" bIns="0" rIns="0">
            <a:spAutoFit/>
          </a:bodyPr>
          <a:lstStyle/>
          <a:p>
            <a:pPr algn="ctr">
              <a:lnSpc>
                <a:spcPts val="2660"/>
              </a:lnSpc>
              <a:spcBef>
                <a:spcPct val="0"/>
              </a:spcBef>
            </a:pPr>
            <a:r>
              <a:rPr lang="en-US" sz="1900" spc="95">
                <a:solidFill>
                  <a:srgbClr val="164B82"/>
                </a:solidFill>
                <a:latin typeface="Telegraf Extra-Light"/>
                <a:ea typeface="Telegraf Extra-Light"/>
                <a:cs typeface="Telegraf Extra-Light"/>
                <a:sym typeface="Telegraf Extra-Light"/>
              </a:rPr>
              <a:t>Project.</a:t>
            </a:r>
          </a:p>
        </p:txBody>
      </p:sp>
      <p:grpSp>
        <p:nvGrpSpPr>
          <p:cNvPr name="Group 10" id="10"/>
          <p:cNvGrpSpPr/>
          <p:nvPr/>
        </p:nvGrpSpPr>
        <p:grpSpPr>
          <a:xfrm rot="5400000">
            <a:off x="11279340" y="-3711595"/>
            <a:ext cx="643045" cy="9407130"/>
            <a:chOff x="0" y="0"/>
            <a:chExt cx="169362" cy="2477598"/>
          </a:xfrm>
        </p:grpSpPr>
        <p:sp>
          <p:nvSpPr>
            <p:cNvPr name="Freeform 11" id="11"/>
            <p:cNvSpPr/>
            <p:nvPr/>
          </p:nvSpPr>
          <p:spPr>
            <a:xfrm flipH="false" flipV="false" rot="0">
              <a:off x="0" y="0"/>
              <a:ext cx="169362" cy="2477598"/>
            </a:xfrm>
            <a:custGeom>
              <a:avLst/>
              <a:gdLst/>
              <a:ahLst/>
              <a:cxnLst/>
              <a:rect r="r" b="b" t="t" l="l"/>
              <a:pathLst>
                <a:path h="2477598" w="169362">
                  <a:moveTo>
                    <a:pt x="84681" y="0"/>
                  </a:moveTo>
                  <a:lnTo>
                    <a:pt x="84681" y="0"/>
                  </a:lnTo>
                  <a:cubicBezTo>
                    <a:pt x="107140" y="0"/>
                    <a:pt x="128678" y="8922"/>
                    <a:pt x="144559" y="24802"/>
                  </a:cubicBezTo>
                  <a:cubicBezTo>
                    <a:pt x="160440" y="40683"/>
                    <a:pt x="169362" y="62222"/>
                    <a:pt x="169362" y="84681"/>
                  </a:cubicBezTo>
                  <a:lnTo>
                    <a:pt x="169362" y="2392917"/>
                  </a:lnTo>
                  <a:cubicBezTo>
                    <a:pt x="169362" y="2439685"/>
                    <a:pt x="131449" y="2477598"/>
                    <a:pt x="84681" y="2477598"/>
                  </a:cubicBezTo>
                  <a:lnTo>
                    <a:pt x="84681" y="2477598"/>
                  </a:lnTo>
                  <a:cubicBezTo>
                    <a:pt x="37913" y="2477598"/>
                    <a:pt x="0" y="2439685"/>
                    <a:pt x="0" y="2392917"/>
                  </a:cubicBezTo>
                  <a:lnTo>
                    <a:pt x="0" y="84681"/>
                  </a:lnTo>
                  <a:cubicBezTo>
                    <a:pt x="0" y="37913"/>
                    <a:pt x="37913" y="0"/>
                    <a:pt x="84681" y="0"/>
                  </a:cubicBezTo>
                  <a:close/>
                </a:path>
              </a:pathLst>
            </a:custGeom>
            <a:ln w="19050" cap="rnd">
              <a:solidFill>
                <a:srgbClr val="164B82"/>
              </a:solidFill>
              <a:prstDash val="solid"/>
              <a:round/>
            </a:ln>
          </p:spPr>
        </p:sp>
        <p:sp>
          <p:nvSpPr>
            <p:cNvPr name="TextBox 12" id="12"/>
            <p:cNvSpPr txBox="true"/>
            <p:nvPr/>
          </p:nvSpPr>
          <p:spPr>
            <a:xfrm>
              <a:off x="0" y="-57150"/>
              <a:ext cx="169362" cy="2534748"/>
            </a:xfrm>
            <a:prstGeom prst="rect">
              <a:avLst/>
            </a:prstGeom>
          </p:spPr>
          <p:txBody>
            <a:bodyPr anchor="ctr" rtlCol="false" tIns="50800" lIns="50800" bIns="50800" rIns="50800"/>
            <a:lstStyle/>
            <a:p>
              <a:pPr algn="ctr">
                <a:lnSpc>
                  <a:spcPts val="3639"/>
                </a:lnSpc>
              </a:pPr>
            </a:p>
          </p:txBody>
        </p:sp>
      </p:grpSp>
      <p:sp>
        <p:nvSpPr>
          <p:cNvPr name="Freeform 13" id="13"/>
          <p:cNvSpPr/>
          <p:nvPr/>
        </p:nvSpPr>
        <p:spPr>
          <a:xfrm flipH="false" flipV="false" rot="0">
            <a:off x="11209720" y="4141598"/>
            <a:ext cx="6305008" cy="4819412"/>
          </a:xfrm>
          <a:custGeom>
            <a:avLst/>
            <a:gdLst/>
            <a:ahLst/>
            <a:cxnLst/>
            <a:rect r="r" b="b" t="t" l="l"/>
            <a:pathLst>
              <a:path h="4819412" w="6305008">
                <a:moveTo>
                  <a:pt x="0" y="0"/>
                </a:moveTo>
                <a:lnTo>
                  <a:pt x="6305008" y="0"/>
                </a:lnTo>
                <a:lnTo>
                  <a:pt x="6305008" y="4819412"/>
                </a:lnTo>
                <a:lnTo>
                  <a:pt x="0" y="4819412"/>
                </a:lnTo>
                <a:lnTo>
                  <a:pt x="0" y="0"/>
                </a:lnTo>
                <a:close/>
              </a:path>
            </a:pathLst>
          </a:custGeom>
          <a:blipFill>
            <a:blip r:embed="rId4"/>
            <a:stretch>
              <a:fillRect l="0" t="0" r="0" b="0"/>
            </a:stretch>
          </a:blipFill>
        </p:spPr>
      </p:sp>
      <p:sp>
        <p:nvSpPr>
          <p:cNvPr name="TextBox 14" id="14"/>
          <p:cNvSpPr txBox="true"/>
          <p:nvPr/>
        </p:nvSpPr>
        <p:spPr>
          <a:xfrm rot="0">
            <a:off x="992940" y="2516550"/>
            <a:ext cx="17703925" cy="710373"/>
          </a:xfrm>
          <a:prstGeom prst="rect">
            <a:avLst/>
          </a:prstGeom>
        </p:spPr>
        <p:txBody>
          <a:bodyPr anchor="t" rtlCol="false" tIns="0" lIns="0" bIns="0" rIns="0">
            <a:spAutoFit/>
          </a:bodyPr>
          <a:lstStyle/>
          <a:p>
            <a:pPr algn="l">
              <a:lnSpc>
                <a:spcPts val="4927"/>
              </a:lnSpc>
            </a:pPr>
            <a:r>
              <a:rPr lang="en-US" sz="5080" b="true">
                <a:solidFill>
                  <a:srgbClr val="343434"/>
                </a:solidFill>
                <a:latin typeface="Telegraf Bold"/>
                <a:ea typeface="Telegraf Bold"/>
                <a:cs typeface="Telegraf Bold"/>
                <a:sym typeface="Telegraf Bold"/>
              </a:rPr>
              <a:t>TỔNG HỢP DỮ LIỆU GIAO DỊCH</a:t>
            </a:r>
          </a:p>
        </p:txBody>
      </p:sp>
      <p:sp>
        <p:nvSpPr>
          <p:cNvPr name="TextBox 15" id="15"/>
          <p:cNvSpPr txBox="true"/>
          <p:nvPr/>
        </p:nvSpPr>
        <p:spPr>
          <a:xfrm rot="0">
            <a:off x="1229526" y="3426768"/>
            <a:ext cx="3659981" cy="542926"/>
          </a:xfrm>
          <a:prstGeom prst="rect">
            <a:avLst/>
          </a:prstGeom>
        </p:spPr>
        <p:txBody>
          <a:bodyPr anchor="t" rtlCol="false" tIns="0" lIns="0" bIns="0" rIns="0">
            <a:spAutoFit/>
          </a:bodyPr>
          <a:lstStyle/>
          <a:p>
            <a:pPr algn="l">
              <a:lnSpc>
                <a:spcPts val="4199"/>
              </a:lnSpc>
              <a:spcBef>
                <a:spcPct val="0"/>
              </a:spcBef>
            </a:pPr>
            <a:r>
              <a:rPr lang="en-US" b="true" sz="2999">
                <a:solidFill>
                  <a:srgbClr val="000000"/>
                </a:solidFill>
                <a:latin typeface="Telegraf Bold"/>
                <a:ea typeface="Telegraf Bold"/>
                <a:cs typeface="Telegraf Bold"/>
                <a:sym typeface="Telegraf Bold"/>
              </a:rPr>
              <a:t>Quy trình</a:t>
            </a:r>
            <a:r>
              <a:rPr lang="en-US" b="true" sz="2999">
                <a:solidFill>
                  <a:srgbClr val="000000"/>
                </a:solidFill>
                <a:latin typeface="Telegraf Bold"/>
                <a:ea typeface="Telegraf Bold"/>
                <a:cs typeface="Telegraf Bold"/>
                <a:sym typeface="Telegraf Bold"/>
              </a:rPr>
              <a:t> thực hiện</a:t>
            </a:r>
          </a:p>
        </p:txBody>
      </p:sp>
      <p:sp>
        <p:nvSpPr>
          <p:cNvPr name="TextBox 16" id="16"/>
          <p:cNvSpPr txBox="true"/>
          <p:nvPr/>
        </p:nvSpPr>
        <p:spPr>
          <a:xfrm rot="0">
            <a:off x="1338506" y="4065398"/>
            <a:ext cx="11527133" cy="417830"/>
          </a:xfrm>
          <a:prstGeom prst="rect">
            <a:avLst/>
          </a:prstGeom>
        </p:spPr>
        <p:txBody>
          <a:bodyPr anchor="t" rtlCol="false" tIns="0" lIns="0" bIns="0" rIns="0">
            <a:spAutoFit/>
          </a:bodyPr>
          <a:lstStyle/>
          <a:p>
            <a:pPr algn="l">
              <a:lnSpc>
                <a:spcPts val="3219"/>
              </a:lnSpc>
            </a:pPr>
            <a:r>
              <a:rPr lang="en-US" sz="2299">
                <a:solidFill>
                  <a:srgbClr val="000000"/>
                </a:solidFill>
                <a:latin typeface="Telegraf"/>
                <a:ea typeface="Telegraf"/>
                <a:cs typeface="Telegraf"/>
                <a:sym typeface="Telegraf"/>
              </a:rPr>
              <a:t>Quy</a:t>
            </a:r>
            <a:r>
              <a:rPr lang="en-US" sz="2299">
                <a:solidFill>
                  <a:srgbClr val="000000"/>
                </a:solidFill>
                <a:latin typeface="Telegraf"/>
                <a:ea typeface="Telegraf"/>
                <a:cs typeface="Telegraf"/>
                <a:sym typeface="Telegraf"/>
              </a:rPr>
              <a:t> trình xây dựng các loại thanh dựa trên dữ liệu giao dịch từ Binance</a:t>
            </a:r>
          </a:p>
        </p:txBody>
      </p:sp>
      <p:sp>
        <p:nvSpPr>
          <p:cNvPr name="TextBox 17" id="17"/>
          <p:cNvSpPr txBox="true"/>
          <p:nvPr/>
        </p:nvSpPr>
        <p:spPr>
          <a:xfrm rot="0">
            <a:off x="1229526" y="4547998"/>
            <a:ext cx="9925704" cy="2418080"/>
          </a:xfrm>
          <a:prstGeom prst="rect">
            <a:avLst/>
          </a:prstGeom>
        </p:spPr>
        <p:txBody>
          <a:bodyPr anchor="t" rtlCol="false" tIns="0" lIns="0" bIns="0" rIns="0">
            <a:spAutoFit/>
          </a:bodyPr>
          <a:lstStyle/>
          <a:p>
            <a:pPr algn="l" marL="496567" indent="-248284" lvl="1">
              <a:lnSpc>
                <a:spcPts val="3219"/>
              </a:lnSpc>
              <a:buAutoNum type="arabicPeriod" startAt="1"/>
            </a:pPr>
            <a:r>
              <a:rPr lang="en-US" b="true" sz="2299">
                <a:solidFill>
                  <a:srgbClr val="000000"/>
                </a:solidFill>
                <a:latin typeface="Telegraf Bold"/>
                <a:ea typeface="Telegraf Bold"/>
                <a:cs typeface="Telegraf Bold"/>
                <a:sym typeface="Telegraf Bold"/>
              </a:rPr>
              <a:t>Thu</a:t>
            </a:r>
            <a:r>
              <a:rPr lang="en-US" b="true" sz="2299">
                <a:solidFill>
                  <a:srgbClr val="000000"/>
                </a:solidFill>
                <a:latin typeface="Telegraf Bold"/>
                <a:ea typeface="Telegraf Bold"/>
                <a:cs typeface="Telegraf Bold"/>
                <a:sym typeface="Telegraf Bold"/>
              </a:rPr>
              <a:t> thập: </a:t>
            </a:r>
            <a:r>
              <a:rPr lang="en-US" sz="2299">
                <a:solidFill>
                  <a:srgbClr val="000000"/>
                </a:solidFill>
                <a:latin typeface="Telegraf"/>
                <a:ea typeface="Telegraf"/>
                <a:cs typeface="Telegraf"/>
                <a:sym typeface="Telegraf"/>
              </a:rPr>
              <a:t>Tải dữ liệu giao dịch qua API.</a:t>
            </a:r>
          </a:p>
          <a:p>
            <a:pPr algn="l" marL="496567" indent="-248284" lvl="1">
              <a:lnSpc>
                <a:spcPts val="3219"/>
              </a:lnSpc>
              <a:buAutoNum type="arabicPeriod" startAt="1"/>
            </a:pPr>
            <a:r>
              <a:rPr lang="en-US" b="true" sz="2299">
                <a:solidFill>
                  <a:srgbClr val="000000"/>
                </a:solidFill>
                <a:latin typeface="Telegraf Bold"/>
                <a:ea typeface="Telegraf Bold"/>
                <a:cs typeface="Telegraf Bold"/>
                <a:sym typeface="Telegraf Bold"/>
              </a:rPr>
              <a:t>Tiền xử lý: </a:t>
            </a:r>
            <a:r>
              <a:rPr lang="en-US" sz="2299">
                <a:solidFill>
                  <a:srgbClr val="000000"/>
                </a:solidFill>
                <a:latin typeface="Telegraf"/>
                <a:ea typeface="Telegraf"/>
                <a:cs typeface="Telegraf"/>
                <a:sym typeface="Telegraf"/>
              </a:rPr>
              <a:t>Chuyển đổi dữ liệu sang định dạng DataFrame, chuẩn hóa kiểu thời gian và dữ liệu số.</a:t>
            </a:r>
          </a:p>
          <a:p>
            <a:pPr algn="l" marL="496567" indent="-248284" lvl="1">
              <a:lnSpc>
                <a:spcPts val="3219"/>
              </a:lnSpc>
              <a:buAutoNum type="arabicPeriod" startAt="1"/>
            </a:pPr>
            <a:r>
              <a:rPr lang="en-US" b="true" sz="2299">
                <a:solidFill>
                  <a:srgbClr val="000000"/>
                </a:solidFill>
                <a:latin typeface="Telegraf Bold"/>
                <a:ea typeface="Telegraf Bold"/>
                <a:cs typeface="Telegraf Bold"/>
                <a:sym typeface="Telegraf Bold"/>
              </a:rPr>
              <a:t>Hàm tính toán: </a:t>
            </a:r>
            <a:r>
              <a:rPr lang="en-US" sz="2299">
                <a:solidFill>
                  <a:srgbClr val="000000"/>
                </a:solidFill>
                <a:latin typeface="Telegraf"/>
                <a:ea typeface="Telegraf"/>
                <a:cs typeface="Telegraf"/>
                <a:sym typeface="Telegraf"/>
              </a:rPr>
              <a:t>Tính toán các chỉ số cho mỗi nhóm dữ liệu bao gồm: giá OHLC, tổng khối lượng, số lượng giao dịch và giá trung bình có trọng số theo khối lượng (VWAP)</a:t>
            </a:r>
          </a:p>
        </p:txBody>
      </p:sp>
      <p:sp>
        <p:nvSpPr>
          <p:cNvPr name="TextBox 18" id="18"/>
          <p:cNvSpPr txBox="true"/>
          <p:nvPr/>
        </p:nvSpPr>
        <p:spPr>
          <a:xfrm rot="0">
            <a:off x="1229526" y="7042278"/>
            <a:ext cx="3494701" cy="542926"/>
          </a:xfrm>
          <a:prstGeom prst="rect">
            <a:avLst/>
          </a:prstGeom>
        </p:spPr>
        <p:txBody>
          <a:bodyPr anchor="t" rtlCol="false" tIns="0" lIns="0" bIns="0" rIns="0">
            <a:spAutoFit/>
          </a:bodyPr>
          <a:lstStyle/>
          <a:p>
            <a:pPr algn="l">
              <a:lnSpc>
                <a:spcPts val="4199"/>
              </a:lnSpc>
              <a:spcBef>
                <a:spcPct val="0"/>
              </a:spcBef>
            </a:pPr>
            <a:r>
              <a:rPr lang="en-US" b="true" sz="2999">
                <a:solidFill>
                  <a:srgbClr val="000000"/>
                </a:solidFill>
                <a:latin typeface="Telegraf Bold"/>
                <a:ea typeface="Telegraf Bold"/>
                <a:cs typeface="Telegraf Bold"/>
                <a:sym typeface="Telegraf Bold"/>
              </a:rPr>
              <a:t>Phân nhóm</a:t>
            </a:r>
            <a:r>
              <a:rPr lang="en-US" b="true" sz="2999">
                <a:solidFill>
                  <a:srgbClr val="000000"/>
                </a:solidFill>
                <a:latin typeface="Telegraf Bold"/>
                <a:ea typeface="Telegraf Bold"/>
                <a:cs typeface="Telegraf Bold"/>
                <a:sym typeface="Telegraf Bold"/>
              </a:rPr>
              <a:t> dữ liệu</a:t>
            </a:r>
          </a:p>
        </p:txBody>
      </p:sp>
      <p:sp>
        <p:nvSpPr>
          <p:cNvPr name="TextBox 19" id="19"/>
          <p:cNvSpPr txBox="true"/>
          <p:nvPr/>
        </p:nvSpPr>
        <p:spPr>
          <a:xfrm rot="0">
            <a:off x="1229526" y="7716648"/>
            <a:ext cx="4846710" cy="417830"/>
          </a:xfrm>
          <a:prstGeom prst="rect">
            <a:avLst/>
          </a:prstGeom>
        </p:spPr>
        <p:txBody>
          <a:bodyPr anchor="t" rtlCol="false" tIns="0" lIns="0" bIns="0" rIns="0">
            <a:spAutoFit/>
          </a:bodyPr>
          <a:lstStyle/>
          <a:p>
            <a:pPr algn="l" marL="496569" indent="-248284" lvl="1">
              <a:lnSpc>
                <a:spcPts val="3219"/>
              </a:lnSpc>
              <a:buFont typeface="Arial"/>
              <a:buChar char="•"/>
            </a:pPr>
            <a:r>
              <a:rPr lang="en-US" b="true" sz="2299" spc="114">
                <a:solidFill>
                  <a:srgbClr val="000000"/>
                </a:solidFill>
                <a:latin typeface="Telegraf Bold"/>
                <a:ea typeface="Telegraf Bold"/>
                <a:cs typeface="Telegraf Bold"/>
                <a:sym typeface="Telegraf Bold"/>
              </a:rPr>
              <a:t>Time:</a:t>
            </a:r>
            <a:r>
              <a:rPr lang="en-US" sz="2299" spc="114">
                <a:solidFill>
                  <a:srgbClr val="000000"/>
                </a:solidFill>
                <a:latin typeface="Telegraf Extra-Light"/>
                <a:ea typeface="Telegraf Extra-Light"/>
                <a:cs typeface="Telegraf Extra-Light"/>
                <a:sym typeface="Telegraf Extra-Light"/>
              </a:rPr>
              <a:t> Nhóm theo cột thời gian</a:t>
            </a:r>
          </a:p>
        </p:txBody>
      </p:sp>
      <p:sp>
        <p:nvSpPr>
          <p:cNvPr name="TextBox 20" id="20"/>
          <p:cNvSpPr txBox="true"/>
          <p:nvPr/>
        </p:nvSpPr>
        <p:spPr>
          <a:xfrm rot="0">
            <a:off x="1229526" y="8229729"/>
            <a:ext cx="6907574" cy="417830"/>
          </a:xfrm>
          <a:prstGeom prst="rect">
            <a:avLst/>
          </a:prstGeom>
        </p:spPr>
        <p:txBody>
          <a:bodyPr anchor="t" rtlCol="false" tIns="0" lIns="0" bIns="0" rIns="0">
            <a:spAutoFit/>
          </a:bodyPr>
          <a:lstStyle/>
          <a:p>
            <a:pPr algn="l" marL="496569" indent="-248284" lvl="1">
              <a:lnSpc>
                <a:spcPts val="3219"/>
              </a:lnSpc>
              <a:buFont typeface="Arial"/>
              <a:buChar char="•"/>
            </a:pPr>
            <a:r>
              <a:rPr lang="en-US" b="true" sz="2299" spc="114">
                <a:solidFill>
                  <a:srgbClr val="000000"/>
                </a:solidFill>
                <a:latin typeface="Telegraf Bold"/>
                <a:ea typeface="Telegraf Bold"/>
                <a:cs typeface="Telegraf Bold"/>
                <a:sym typeface="Telegraf Bold"/>
              </a:rPr>
              <a:t>Tick: </a:t>
            </a:r>
            <a:r>
              <a:rPr lang="en-US" sz="2299" spc="114">
                <a:solidFill>
                  <a:srgbClr val="000000"/>
                </a:solidFill>
                <a:latin typeface="Telegraf"/>
                <a:ea typeface="Telegraf"/>
                <a:cs typeface="Telegraf"/>
                <a:sym typeface="Telegraf"/>
              </a:rPr>
              <a:t>Nhóm theo các khối giao dịch cố định</a:t>
            </a:r>
          </a:p>
        </p:txBody>
      </p:sp>
      <p:sp>
        <p:nvSpPr>
          <p:cNvPr name="TextBox 21" id="21"/>
          <p:cNvSpPr txBox="true"/>
          <p:nvPr/>
        </p:nvSpPr>
        <p:spPr>
          <a:xfrm rot="0">
            <a:off x="1338506" y="8866634"/>
            <a:ext cx="9925704" cy="817880"/>
          </a:xfrm>
          <a:prstGeom prst="rect">
            <a:avLst/>
          </a:prstGeom>
        </p:spPr>
        <p:txBody>
          <a:bodyPr anchor="t" rtlCol="false" tIns="0" lIns="0" bIns="0" rIns="0">
            <a:spAutoFit/>
          </a:bodyPr>
          <a:lstStyle/>
          <a:p>
            <a:pPr algn="l" marL="496569" indent="-248284" lvl="1">
              <a:lnSpc>
                <a:spcPts val="3219"/>
              </a:lnSpc>
              <a:buFont typeface="Arial"/>
              <a:buChar char="•"/>
            </a:pPr>
            <a:r>
              <a:rPr lang="en-US" b="true" sz="2299" spc="114">
                <a:solidFill>
                  <a:srgbClr val="000000"/>
                </a:solidFill>
                <a:latin typeface="Telegraf Bold"/>
                <a:ea typeface="Telegraf Bold"/>
                <a:cs typeface="Telegraf Bold"/>
                <a:sym typeface="Telegraf Bold"/>
              </a:rPr>
              <a:t>Volume/Dollar</a:t>
            </a:r>
            <a:r>
              <a:rPr lang="en-US" b="true" sz="2299" spc="114">
                <a:solidFill>
                  <a:srgbClr val="000000"/>
                </a:solidFill>
                <a:latin typeface="Telegraf Bold"/>
                <a:ea typeface="Telegraf Bold"/>
                <a:cs typeface="Telegraf Bold"/>
                <a:sym typeface="Telegraf Bold"/>
              </a:rPr>
              <a:t>: </a:t>
            </a:r>
            <a:r>
              <a:rPr lang="en-US" sz="2299" spc="114">
                <a:solidFill>
                  <a:srgbClr val="000000"/>
                </a:solidFill>
                <a:latin typeface="Telegraf"/>
                <a:ea typeface="Telegraf"/>
                <a:cs typeface="Telegraf"/>
                <a:sym typeface="Telegraf"/>
              </a:rPr>
              <a:t>Nhóm dựa trên tổng tích lũy của khối lượng hoặc giá trị giao dịch đạt đến một ngưỡng xác định</a:t>
            </a:r>
          </a:p>
        </p:txBody>
      </p:sp>
    </p:spTree>
  </p:cSld>
  <p:clrMapOvr>
    <a:masterClrMapping/>
  </p:clrMapOvr>
</p:sld>
</file>

<file path=ppt/slides/slide34.xml><?xml version="1.0" encoding="utf-8"?>
<p:sld xmlns:p="http://schemas.openxmlformats.org/presentationml/2006/main" xmlns:a="http://schemas.openxmlformats.org/drawingml/2006/main" xmlns:r="http://schemas.openxmlformats.org/officeDocument/2006/relationships">
  <p:cSld>
    <p:bg>
      <p:bgPr>
        <a:solidFill>
          <a:srgbClr val="F2F7FA"/>
        </a:solidFill>
      </p:bgPr>
    </p:bg>
    <p:spTree>
      <p:nvGrpSpPr>
        <p:cNvPr id="1" name=""/>
        <p:cNvGrpSpPr/>
        <p:nvPr/>
      </p:nvGrpSpPr>
      <p:grpSpPr>
        <a:xfrm>
          <a:off x="0" y="0"/>
          <a:ext cx="0" cy="0"/>
          <a:chOff x="0" y="0"/>
          <a:chExt cx="0" cy="0"/>
        </a:xfrm>
      </p:grpSpPr>
      <p:sp>
        <p:nvSpPr>
          <p:cNvPr name="Freeform 2" id="2"/>
          <p:cNvSpPr/>
          <p:nvPr/>
        </p:nvSpPr>
        <p:spPr>
          <a:xfrm flipH="false" flipV="false" rot="225008">
            <a:off x="-642791" y="-3332405"/>
            <a:ext cx="12701350" cy="5382197"/>
          </a:xfrm>
          <a:custGeom>
            <a:avLst/>
            <a:gdLst/>
            <a:ahLst/>
            <a:cxnLst/>
            <a:rect r="r" b="b" t="t" l="l"/>
            <a:pathLst>
              <a:path h="5382197" w="12701350">
                <a:moveTo>
                  <a:pt x="0" y="0"/>
                </a:moveTo>
                <a:lnTo>
                  <a:pt x="12701350" y="0"/>
                </a:lnTo>
                <a:lnTo>
                  <a:pt x="12701350" y="5382197"/>
                </a:lnTo>
                <a:lnTo>
                  <a:pt x="0" y="5382197"/>
                </a:lnTo>
                <a:lnTo>
                  <a:pt x="0" y="0"/>
                </a:lnTo>
                <a:close/>
              </a:path>
            </a:pathLst>
          </a:custGeom>
          <a:blipFill>
            <a:blip r:embed="rId2"/>
            <a:stretch>
              <a:fillRect l="0" t="0" r="0" b="0"/>
            </a:stretch>
          </a:blipFill>
        </p:spPr>
      </p:sp>
      <p:sp>
        <p:nvSpPr>
          <p:cNvPr name="Freeform 3" id="3"/>
          <p:cNvSpPr/>
          <p:nvPr/>
        </p:nvSpPr>
        <p:spPr>
          <a:xfrm flipH="false" flipV="false" rot="0">
            <a:off x="12865639" y="7440973"/>
            <a:ext cx="11514218" cy="8506128"/>
          </a:xfrm>
          <a:custGeom>
            <a:avLst/>
            <a:gdLst/>
            <a:ahLst/>
            <a:cxnLst/>
            <a:rect r="r" b="b" t="t" l="l"/>
            <a:pathLst>
              <a:path h="8506128" w="11514218">
                <a:moveTo>
                  <a:pt x="0" y="0"/>
                </a:moveTo>
                <a:lnTo>
                  <a:pt x="11514218" y="0"/>
                </a:lnTo>
                <a:lnTo>
                  <a:pt x="11514218" y="8506128"/>
                </a:lnTo>
                <a:lnTo>
                  <a:pt x="0" y="8506128"/>
                </a:lnTo>
                <a:lnTo>
                  <a:pt x="0" y="0"/>
                </a:lnTo>
                <a:close/>
              </a:path>
            </a:pathLst>
          </a:custGeom>
          <a:blipFill>
            <a:blip r:embed="rId3"/>
            <a:stretch>
              <a:fillRect l="0" t="0" r="0" b="0"/>
            </a:stretch>
          </a:blipFill>
        </p:spPr>
      </p:sp>
      <p:grpSp>
        <p:nvGrpSpPr>
          <p:cNvPr name="Group 4" id="4"/>
          <p:cNvGrpSpPr/>
          <p:nvPr/>
        </p:nvGrpSpPr>
        <p:grpSpPr>
          <a:xfrm rot="0">
            <a:off x="17259300" y="-392510"/>
            <a:ext cx="1437565" cy="11072020"/>
            <a:chOff x="0" y="0"/>
            <a:chExt cx="378618" cy="2916088"/>
          </a:xfrm>
        </p:grpSpPr>
        <p:sp>
          <p:nvSpPr>
            <p:cNvPr name="Freeform 5" id="5"/>
            <p:cNvSpPr/>
            <p:nvPr/>
          </p:nvSpPr>
          <p:spPr>
            <a:xfrm flipH="false" flipV="false" rot="0">
              <a:off x="0" y="0"/>
              <a:ext cx="378618" cy="2916088"/>
            </a:xfrm>
            <a:custGeom>
              <a:avLst/>
              <a:gdLst/>
              <a:ahLst/>
              <a:cxnLst/>
              <a:rect r="r" b="b" t="t" l="l"/>
              <a:pathLst>
                <a:path h="2916088" w="378618">
                  <a:moveTo>
                    <a:pt x="0" y="0"/>
                  </a:moveTo>
                  <a:lnTo>
                    <a:pt x="378618" y="0"/>
                  </a:lnTo>
                  <a:lnTo>
                    <a:pt x="378618" y="2916088"/>
                  </a:lnTo>
                  <a:lnTo>
                    <a:pt x="0" y="2916088"/>
                  </a:lnTo>
                  <a:close/>
                </a:path>
              </a:pathLst>
            </a:custGeom>
            <a:gradFill rotWithShape="true">
              <a:gsLst>
                <a:gs pos="0">
                  <a:srgbClr val="E4B795">
                    <a:alpha val="100000"/>
                  </a:srgbClr>
                </a:gs>
                <a:gs pos="50000">
                  <a:srgbClr val="699ACD">
                    <a:alpha val="100000"/>
                  </a:srgbClr>
                </a:gs>
                <a:gs pos="100000">
                  <a:srgbClr val="2F679F">
                    <a:alpha val="100000"/>
                  </a:srgbClr>
                </a:gs>
              </a:gsLst>
              <a:path path="circle">
                <a:fillToRect l="0" r="100000" t="0" b="100000"/>
              </a:path>
              <a:tileRect r="0" l="-100000" b="0" t="-100000"/>
            </a:gradFill>
          </p:spPr>
        </p:sp>
        <p:sp>
          <p:nvSpPr>
            <p:cNvPr name="TextBox 6" id="6"/>
            <p:cNvSpPr txBox="true"/>
            <p:nvPr/>
          </p:nvSpPr>
          <p:spPr>
            <a:xfrm>
              <a:off x="0" y="-57150"/>
              <a:ext cx="378618" cy="2973238"/>
            </a:xfrm>
            <a:prstGeom prst="rect">
              <a:avLst/>
            </a:prstGeom>
          </p:spPr>
          <p:txBody>
            <a:bodyPr anchor="ctr" rtlCol="false" tIns="50800" lIns="50800" bIns="50800" rIns="50800"/>
            <a:lstStyle/>
            <a:p>
              <a:pPr algn="ctr">
                <a:lnSpc>
                  <a:spcPts val="3639"/>
                </a:lnSpc>
              </a:pPr>
            </a:p>
          </p:txBody>
        </p:sp>
      </p:grpSp>
      <p:sp>
        <p:nvSpPr>
          <p:cNvPr name="TextBox 7" id="7"/>
          <p:cNvSpPr txBox="true"/>
          <p:nvPr/>
        </p:nvSpPr>
        <p:spPr>
          <a:xfrm rot="0">
            <a:off x="8021110" y="782737"/>
            <a:ext cx="2492949" cy="351790"/>
          </a:xfrm>
          <a:prstGeom prst="rect">
            <a:avLst/>
          </a:prstGeom>
        </p:spPr>
        <p:txBody>
          <a:bodyPr anchor="t" rtlCol="false" tIns="0" lIns="0" bIns="0" rIns="0">
            <a:spAutoFit/>
          </a:bodyPr>
          <a:lstStyle/>
          <a:p>
            <a:pPr algn="l">
              <a:lnSpc>
                <a:spcPts val="2660"/>
              </a:lnSpc>
              <a:spcBef>
                <a:spcPct val="0"/>
              </a:spcBef>
            </a:pPr>
            <a:r>
              <a:rPr lang="en-US" sz="1900" spc="95">
                <a:solidFill>
                  <a:srgbClr val="164B82"/>
                </a:solidFill>
                <a:latin typeface="Telegraf Extra-Light"/>
                <a:ea typeface="Telegraf Extra-Light"/>
                <a:cs typeface="Telegraf Extra-Light"/>
                <a:sym typeface="Telegraf Extra-Light"/>
              </a:rPr>
              <a:t>Studio Shodwe</a:t>
            </a:r>
          </a:p>
        </p:txBody>
      </p:sp>
      <p:sp>
        <p:nvSpPr>
          <p:cNvPr name="TextBox 8" id="8"/>
          <p:cNvSpPr txBox="true"/>
          <p:nvPr/>
        </p:nvSpPr>
        <p:spPr>
          <a:xfrm rot="0">
            <a:off x="13305333" y="782737"/>
            <a:ext cx="1819999" cy="351790"/>
          </a:xfrm>
          <a:prstGeom prst="rect">
            <a:avLst/>
          </a:prstGeom>
        </p:spPr>
        <p:txBody>
          <a:bodyPr anchor="t" rtlCol="false" tIns="0" lIns="0" bIns="0" rIns="0">
            <a:spAutoFit/>
          </a:bodyPr>
          <a:lstStyle/>
          <a:p>
            <a:pPr algn="r">
              <a:lnSpc>
                <a:spcPts val="2660"/>
              </a:lnSpc>
              <a:spcBef>
                <a:spcPct val="0"/>
              </a:spcBef>
            </a:pPr>
            <a:r>
              <a:rPr lang="en-US" sz="1900" spc="95">
                <a:solidFill>
                  <a:srgbClr val="164B82"/>
                </a:solidFill>
                <a:latin typeface="Telegraf Extra-Light"/>
                <a:ea typeface="Telegraf Extra-Light"/>
                <a:cs typeface="Telegraf Extra-Light"/>
                <a:sym typeface="Telegraf Extra-Light"/>
              </a:rPr>
              <a:t>2024</a:t>
            </a:r>
          </a:p>
        </p:txBody>
      </p:sp>
      <p:sp>
        <p:nvSpPr>
          <p:cNvPr name="TextBox 9" id="9"/>
          <p:cNvSpPr txBox="true"/>
          <p:nvPr/>
        </p:nvSpPr>
        <p:spPr>
          <a:xfrm rot="0">
            <a:off x="11045641" y="782737"/>
            <a:ext cx="1819999" cy="351790"/>
          </a:xfrm>
          <a:prstGeom prst="rect">
            <a:avLst/>
          </a:prstGeom>
        </p:spPr>
        <p:txBody>
          <a:bodyPr anchor="t" rtlCol="false" tIns="0" lIns="0" bIns="0" rIns="0">
            <a:spAutoFit/>
          </a:bodyPr>
          <a:lstStyle/>
          <a:p>
            <a:pPr algn="ctr">
              <a:lnSpc>
                <a:spcPts val="2660"/>
              </a:lnSpc>
              <a:spcBef>
                <a:spcPct val="0"/>
              </a:spcBef>
            </a:pPr>
            <a:r>
              <a:rPr lang="en-US" sz="1900" spc="95">
                <a:solidFill>
                  <a:srgbClr val="164B82"/>
                </a:solidFill>
                <a:latin typeface="Telegraf Extra-Light"/>
                <a:ea typeface="Telegraf Extra-Light"/>
                <a:cs typeface="Telegraf Extra-Light"/>
                <a:sym typeface="Telegraf Extra-Light"/>
              </a:rPr>
              <a:t>Project.</a:t>
            </a:r>
          </a:p>
        </p:txBody>
      </p:sp>
      <p:grpSp>
        <p:nvGrpSpPr>
          <p:cNvPr name="Group 10" id="10"/>
          <p:cNvGrpSpPr/>
          <p:nvPr/>
        </p:nvGrpSpPr>
        <p:grpSpPr>
          <a:xfrm rot="5400000">
            <a:off x="11288865" y="-3711595"/>
            <a:ext cx="643045" cy="9407130"/>
            <a:chOff x="0" y="0"/>
            <a:chExt cx="169362" cy="2477598"/>
          </a:xfrm>
        </p:grpSpPr>
        <p:sp>
          <p:nvSpPr>
            <p:cNvPr name="Freeform 11" id="11"/>
            <p:cNvSpPr/>
            <p:nvPr/>
          </p:nvSpPr>
          <p:spPr>
            <a:xfrm flipH="false" flipV="false" rot="0">
              <a:off x="0" y="0"/>
              <a:ext cx="169362" cy="2477598"/>
            </a:xfrm>
            <a:custGeom>
              <a:avLst/>
              <a:gdLst/>
              <a:ahLst/>
              <a:cxnLst/>
              <a:rect r="r" b="b" t="t" l="l"/>
              <a:pathLst>
                <a:path h="2477598" w="169362">
                  <a:moveTo>
                    <a:pt x="84681" y="0"/>
                  </a:moveTo>
                  <a:lnTo>
                    <a:pt x="84681" y="0"/>
                  </a:lnTo>
                  <a:cubicBezTo>
                    <a:pt x="107140" y="0"/>
                    <a:pt x="128678" y="8922"/>
                    <a:pt x="144559" y="24802"/>
                  </a:cubicBezTo>
                  <a:cubicBezTo>
                    <a:pt x="160440" y="40683"/>
                    <a:pt x="169362" y="62222"/>
                    <a:pt x="169362" y="84681"/>
                  </a:cubicBezTo>
                  <a:lnTo>
                    <a:pt x="169362" y="2392917"/>
                  </a:lnTo>
                  <a:cubicBezTo>
                    <a:pt x="169362" y="2439685"/>
                    <a:pt x="131449" y="2477598"/>
                    <a:pt x="84681" y="2477598"/>
                  </a:cubicBezTo>
                  <a:lnTo>
                    <a:pt x="84681" y="2477598"/>
                  </a:lnTo>
                  <a:cubicBezTo>
                    <a:pt x="37913" y="2477598"/>
                    <a:pt x="0" y="2439685"/>
                    <a:pt x="0" y="2392917"/>
                  </a:cubicBezTo>
                  <a:lnTo>
                    <a:pt x="0" y="84681"/>
                  </a:lnTo>
                  <a:cubicBezTo>
                    <a:pt x="0" y="37913"/>
                    <a:pt x="37913" y="0"/>
                    <a:pt x="84681" y="0"/>
                  </a:cubicBezTo>
                  <a:close/>
                </a:path>
              </a:pathLst>
            </a:custGeom>
            <a:ln w="19050" cap="rnd">
              <a:solidFill>
                <a:srgbClr val="164B82"/>
              </a:solidFill>
              <a:prstDash val="solid"/>
              <a:round/>
            </a:ln>
          </p:spPr>
        </p:sp>
        <p:sp>
          <p:nvSpPr>
            <p:cNvPr name="TextBox 12" id="12"/>
            <p:cNvSpPr txBox="true"/>
            <p:nvPr/>
          </p:nvSpPr>
          <p:spPr>
            <a:xfrm>
              <a:off x="0" y="-57150"/>
              <a:ext cx="169362" cy="2534748"/>
            </a:xfrm>
            <a:prstGeom prst="rect">
              <a:avLst/>
            </a:prstGeom>
          </p:spPr>
          <p:txBody>
            <a:bodyPr anchor="ctr" rtlCol="false" tIns="50800" lIns="50800" bIns="50800" rIns="50800"/>
            <a:lstStyle/>
            <a:p>
              <a:pPr algn="ctr">
                <a:lnSpc>
                  <a:spcPts val="3639"/>
                </a:lnSpc>
              </a:pPr>
            </a:p>
          </p:txBody>
        </p:sp>
      </p:grpSp>
      <p:sp>
        <p:nvSpPr>
          <p:cNvPr name="Freeform 13" id="13"/>
          <p:cNvSpPr/>
          <p:nvPr/>
        </p:nvSpPr>
        <p:spPr>
          <a:xfrm flipH="false" flipV="false" rot="0">
            <a:off x="1589301" y="4540282"/>
            <a:ext cx="10900130" cy="5458092"/>
          </a:xfrm>
          <a:custGeom>
            <a:avLst/>
            <a:gdLst/>
            <a:ahLst/>
            <a:cxnLst/>
            <a:rect r="r" b="b" t="t" l="l"/>
            <a:pathLst>
              <a:path h="5458092" w="10900130">
                <a:moveTo>
                  <a:pt x="0" y="0"/>
                </a:moveTo>
                <a:lnTo>
                  <a:pt x="10900130" y="0"/>
                </a:lnTo>
                <a:lnTo>
                  <a:pt x="10900130" y="5458091"/>
                </a:lnTo>
                <a:lnTo>
                  <a:pt x="0" y="5458091"/>
                </a:lnTo>
                <a:lnTo>
                  <a:pt x="0" y="0"/>
                </a:lnTo>
                <a:close/>
              </a:path>
            </a:pathLst>
          </a:custGeom>
          <a:blipFill>
            <a:blip r:embed="rId4"/>
            <a:stretch>
              <a:fillRect l="0" t="0" r="0" b="0"/>
            </a:stretch>
          </a:blipFill>
        </p:spPr>
      </p:sp>
      <p:sp>
        <p:nvSpPr>
          <p:cNvPr name="TextBox 14" id="14"/>
          <p:cNvSpPr txBox="true"/>
          <p:nvPr/>
        </p:nvSpPr>
        <p:spPr>
          <a:xfrm rot="0">
            <a:off x="992940" y="2516550"/>
            <a:ext cx="17703925" cy="710373"/>
          </a:xfrm>
          <a:prstGeom prst="rect">
            <a:avLst/>
          </a:prstGeom>
        </p:spPr>
        <p:txBody>
          <a:bodyPr anchor="t" rtlCol="false" tIns="0" lIns="0" bIns="0" rIns="0">
            <a:spAutoFit/>
          </a:bodyPr>
          <a:lstStyle/>
          <a:p>
            <a:pPr algn="l">
              <a:lnSpc>
                <a:spcPts val="4927"/>
              </a:lnSpc>
            </a:pPr>
            <a:r>
              <a:rPr lang="en-US" sz="5080" b="true">
                <a:solidFill>
                  <a:srgbClr val="343434"/>
                </a:solidFill>
                <a:latin typeface="Telegraf Bold"/>
                <a:ea typeface="Telegraf Bold"/>
                <a:cs typeface="Telegraf Bold"/>
                <a:sym typeface="Telegraf Bold"/>
              </a:rPr>
              <a:t>TỔNG HỢP DỮ LIỆU GIAO DỊCH</a:t>
            </a:r>
          </a:p>
        </p:txBody>
      </p:sp>
      <p:sp>
        <p:nvSpPr>
          <p:cNvPr name="TextBox 15" id="15"/>
          <p:cNvSpPr txBox="true"/>
          <p:nvPr/>
        </p:nvSpPr>
        <p:spPr>
          <a:xfrm rot="0">
            <a:off x="1589301" y="3997356"/>
            <a:ext cx="2874927" cy="542926"/>
          </a:xfrm>
          <a:prstGeom prst="rect">
            <a:avLst/>
          </a:prstGeom>
        </p:spPr>
        <p:txBody>
          <a:bodyPr anchor="t" rtlCol="false" tIns="0" lIns="0" bIns="0" rIns="0">
            <a:spAutoFit/>
          </a:bodyPr>
          <a:lstStyle/>
          <a:p>
            <a:pPr algn="l" marL="0" indent="0" lvl="0">
              <a:lnSpc>
                <a:spcPts val="4199"/>
              </a:lnSpc>
              <a:spcBef>
                <a:spcPct val="0"/>
              </a:spcBef>
            </a:pPr>
            <a:r>
              <a:rPr lang="en-US" b="true" sz="2999">
                <a:solidFill>
                  <a:srgbClr val="343434"/>
                </a:solidFill>
                <a:latin typeface="Telegraf Bold"/>
                <a:ea typeface="Telegraf Bold"/>
                <a:cs typeface="Telegraf Bold"/>
                <a:sym typeface="Telegraf Bold"/>
              </a:rPr>
              <a:t>Hàm get _bar():</a:t>
            </a:r>
          </a:p>
        </p:txBody>
      </p:sp>
      <p:sp>
        <p:nvSpPr>
          <p:cNvPr name="TextBox 16" id="16"/>
          <p:cNvSpPr txBox="true"/>
          <p:nvPr/>
        </p:nvSpPr>
        <p:spPr>
          <a:xfrm rot="0">
            <a:off x="1365060" y="3326160"/>
            <a:ext cx="5808086" cy="575946"/>
          </a:xfrm>
          <a:prstGeom prst="rect">
            <a:avLst/>
          </a:prstGeom>
        </p:spPr>
        <p:txBody>
          <a:bodyPr anchor="t" rtlCol="false" tIns="0" lIns="0" bIns="0" rIns="0">
            <a:spAutoFit/>
          </a:bodyPr>
          <a:lstStyle/>
          <a:p>
            <a:pPr algn="l" marL="0" indent="0" lvl="1">
              <a:lnSpc>
                <a:spcPts val="4479"/>
              </a:lnSpc>
              <a:spcBef>
                <a:spcPct val="0"/>
              </a:spcBef>
            </a:pPr>
            <a:r>
              <a:rPr lang="en-US" b="true" sz="3199" spc="159">
                <a:solidFill>
                  <a:srgbClr val="343434"/>
                </a:solidFill>
                <a:latin typeface="Telegraf Bold"/>
                <a:ea typeface="Telegraf Bold"/>
                <a:cs typeface="Telegraf Bold"/>
                <a:sym typeface="Telegraf Bold"/>
              </a:rPr>
              <a:t>Triền khai mã lệnh Python:</a:t>
            </a:r>
          </a:p>
        </p:txBody>
      </p:sp>
      <p:sp>
        <p:nvSpPr>
          <p:cNvPr name="TextBox 17" id="17"/>
          <p:cNvSpPr txBox="true"/>
          <p:nvPr/>
        </p:nvSpPr>
        <p:spPr>
          <a:xfrm rot="0">
            <a:off x="12670629" y="4840652"/>
            <a:ext cx="4407473" cy="2018030"/>
          </a:xfrm>
          <a:prstGeom prst="rect">
            <a:avLst/>
          </a:prstGeom>
        </p:spPr>
        <p:txBody>
          <a:bodyPr anchor="t" rtlCol="false" tIns="0" lIns="0" bIns="0" rIns="0">
            <a:spAutoFit/>
          </a:bodyPr>
          <a:lstStyle/>
          <a:p>
            <a:pPr algn="l">
              <a:lnSpc>
                <a:spcPts val="3219"/>
              </a:lnSpc>
            </a:pPr>
            <a:r>
              <a:rPr lang="en-US" sz="2299" strike="noStrike" u="none">
                <a:solidFill>
                  <a:srgbClr val="000000"/>
                </a:solidFill>
                <a:latin typeface="Telegraf"/>
                <a:ea typeface="Telegraf"/>
                <a:cs typeface="Telegraf"/>
                <a:sym typeface="Telegraf"/>
              </a:rPr>
              <a:t>get_bars đóng vai trò là "nhà máy" chuyển đổi các tích tắc (ticks) giao dịch lộn xộn thành các điểm dữ liệu kinh tế có ý nghĩa thống kê</a:t>
            </a:r>
          </a:p>
        </p:txBody>
      </p:sp>
    </p:spTree>
  </p:cSld>
  <p:clrMapOvr>
    <a:masterClrMapping/>
  </p:clrMapOvr>
</p:sld>
</file>

<file path=ppt/slides/slide35.xml><?xml version="1.0" encoding="utf-8"?>
<p:sld xmlns:p="http://schemas.openxmlformats.org/presentationml/2006/main" xmlns:a="http://schemas.openxmlformats.org/drawingml/2006/main" xmlns:r="http://schemas.openxmlformats.org/officeDocument/2006/relationships">
  <p:cSld>
    <p:bg>
      <p:bgPr>
        <a:solidFill>
          <a:srgbClr val="F2F7FA"/>
        </a:solidFill>
      </p:bgPr>
    </p:bg>
    <p:spTree>
      <p:nvGrpSpPr>
        <p:cNvPr id="1" name=""/>
        <p:cNvGrpSpPr/>
        <p:nvPr/>
      </p:nvGrpSpPr>
      <p:grpSpPr>
        <a:xfrm>
          <a:off x="0" y="0"/>
          <a:ext cx="0" cy="0"/>
          <a:chOff x="0" y="0"/>
          <a:chExt cx="0" cy="0"/>
        </a:xfrm>
      </p:grpSpPr>
      <p:sp>
        <p:nvSpPr>
          <p:cNvPr name="Freeform 2" id="2"/>
          <p:cNvSpPr/>
          <p:nvPr/>
        </p:nvSpPr>
        <p:spPr>
          <a:xfrm flipH="false" flipV="false" rot="225008">
            <a:off x="-642791" y="-3332405"/>
            <a:ext cx="12701350" cy="5382197"/>
          </a:xfrm>
          <a:custGeom>
            <a:avLst/>
            <a:gdLst/>
            <a:ahLst/>
            <a:cxnLst/>
            <a:rect r="r" b="b" t="t" l="l"/>
            <a:pathLst>
              <a:path h="5382197" w="12701350">
                <a:moveTo>
                  <a:pt x="0" y="0"/>
                </a:moveTo>
                <a:lnTo>
                  <a:pt x="12701350" y="0"/>
                </a:lnTo>
                <a:lnTo>
                  <a:pt x="12701350" y="5382197"/>
                </a:lnTo>
                <a:lnTo>
                  <a:pt x="0" y="5382197"/>
                </a:lnTo>
                <a:lnTo>
                  <a:pt x="0" y="0"/>
                </a:lnTo>
                <a:close/>
              </a:path>
            </a:pathLst>
          </a:custGeom>
          <a:blipFill>
            <a:blip r:embed="rId2"/>
            <a:stretch>
              <a:fillRect l="0" t="0" r="0" b="0"/>
            </a:stretch>
          </a:blipFill>
        </p:spPr>
      </p:sp>
      <p:sp>
        <p:nvSpPr>
          <p:cNvPr name="Freeform 3" id="3"/>
          <p:cNvSpPr/>
          <p:nvPr/>
        </p:nvSpPr>
        <p:spPr>
          <a:xfrm flipH="false" flipV="false" rot="0">
            <a:off x="12865639" y="7440973"/>
            <a:ext cx="11514218" cy="8506128"/>
          </a:xfrm>
          <a:custGeom>
            <a:avLst/>
            <a:gdLst/>
            <a:ahLst/>
            <a:cxnLst/>
            <a:rect r="r" b="b" t="t" l="l"/>
            <a:pathLst>
              <a:path h="8506128" w="11514218">
                <a:moveTo>
                  <a:pt x="0" y="0"/>
                </a:moveTo>
                <a:lnTo>
                  <a:pt x="11514218" y="0"/>
                </a:lnTo>
                <a:lnTo>
                  <a:pt x="11514218" y="8506128"/>
                </a:lnTo>
                <a:lnTo>
                  <a:pt x="0" y="8506128"/>
                </a:lnTo>
                <a:lnTo>
                  <a:pt x="0" y="0"/>
                </a:lnTo>
                <a:close/>
              </a:path>
            </a:pathLst>
          </a:custGeom>
          <a:blipFill>
            <a:blip r:embed="rId3"/>
            <a:stretch>
              <a:fillRect l="0" t="0" r="0" b="0"/>
            </a:stretch>
          </a:blipFill>
        </p:spPr>
      </p:sp>
      <p:grpSp>
        <p:nvGrpSpPr>
          <p:cNvPr name="Group 4" id="4"/>
          <p:cNvGrpSpPr/>
          <p:nvPr/>
        </p:nvGrpSpPr>
        <p:grpSpPr>
          <a:xfrm rot="0">
            <a:off x="17259300" y="-392510"/>
            <a:ext cx="1437565" cy="11072020"/>
            <a:chOff x="0" y="0"/>
            <a:chExt cx="378618" cy="2916088"/>
          </a:xfrm>
        </p:grpSpPr>
        <p:sp>
          <p:nvSpPr>
            <p:cNvPr name="Freeform 5" id="5"/>
            <p:cNvSpPr/>
            <p:nvPr/>
          </p:nvSpPr>
          <p:spPr>
            <a:xfrm flipH="false" flipV="false" rot="0">
              <a:off x="0" y="0"/>
              <a:ext cx="378618" cy="2916088"/>
            </a:xfrm>
            <a:custGeom>
              <a:avLst/>
              <a:gdLst/>
              <a:ahLst/>
              <a:cxnLst/>
              <a:rect r="r" b="b" t="t" l="l"/>
              <a:pathLst>
                <a:path h="2916088" w="378618">
                  <a:moveTo>
                    <a:pt x="0" y="0"/>
                  </a:moveTo>
                  <a:lnTo>
                    <a:pt x="378618" y="0"/>
                  </a:lnTo>
                  <a:lnTo>
                    <a:pt x="378618" y="2916088"/>
                  </a:lnTo>
                  <a:lnTo>
                    <a:pt x="0" y="2916088"/>
                  </a:lnTo>
                  <a:close/>
                </a:path>
              </a:pathLst>
            </a:custGeom>
            <a:gradFill rotWithShape="true">
              <a:gsLst>
                <a:gs pos="0">
                  <a:srgbClr val="E4B795">
                    <a:alpha val="100000"/>
                  </a:srgbClr>
                </a:gs>
                <a:gs pos="50000">
                  <a:srgbClr val="699ACD">
                    <a:alpha val="100000"/>
                  </a:srgbClr>
                </a:gs>
                <a:gs pos="100000">
                  <a:srgbClr val="2F679F">
                    <a:alpha val="100000"/>
                  </a:srgbClr>
                </a:gs>
              </a:gsLst>
              <a:path path="circle">
                <a:fillToRect l="0" r="100000" t="0" b="100000"/>
              </a:path>
              <a:tileRect r="0" l="-100000" b="0" t="-100000"/>
            </a:gradFill>
          </p:spPr>
        </p:sp>
        <p:sp>
          <p:nvSpPr>
            <p:cNvPr name="TextBox 6" id="6"/>
            <p:cNvSpPr txBox="true"/>
            <p:nvPr/>
          </p:nvSpPr>
          <p:spPr>
            <a:xfrm>
              <a:off x="0" y="-57150"/>
              <a:ext cx="378618" cy="2973238"/>
            </a:xfrm>
            <a:prstGeom prst="rect">
              <a:avLst/>
            </a:prstGeom>
          </p:spPr>
          <p:txBody>
            <a:bodyPr anchor="ctr" rtlCol="false" tIns="50800" lIns="50800" bIns="50800" rIns="50800"/>
            <a:lstStyle/>
            <a:p>
              <a:pPr algn="ctr">
                <a:lnSpc>
                  <a:spcPts val="3639"/>
                </a:lnSpc>
              </a:pPr>
            </a:p>
          </p:txBody>
        </p:sp>
      </p:grpSp>
      <p:sp>
        <p:nvSpPr>
          <p:cNvPr name="TextBox 7" id="7"/>
          <p:cNvSpPr txBox="true"/>
          <p:nvPr/>
        </p:nvSpPr>
        <p:spPr>
          <a:xfrm rot="0">
            <a:off x="8021110" y="782737"/>
            <a:ext cx="2492949" cy="351790"/>
          </a:xfrm>
          <a:prstGeom prst="rect">
            <a:avLst/>
          </a:prstGeom>
        </p:spPr>
        <p:txBody>
          <a:bodyPr anchor="t" rtlCol="false" tIns="0" lIns="0" bIns="0" rIns="0">
            <a:spAutoFit/>
          </a:bodyPr>
          <a:lstStyle/>
          <a:p>
            <a:pPr algn="l">
              <a:lnSpc>
                <a:spcPts val="2660"/>
              </a:lnSpc>
              <a:spcBef>
                <a:spcPct val="0"/>
              </a:spcBef>
            </a:pPr>
            <a:r>
              <a:rPr lang="en-US" sz="1900" spc="95">
                <a:solidFill>
                  <a:srgbClr val="164B82"/>
                </a:solidFill>
                <a:latin typeface="Telegraf Extra-Light"/>
                <a:ea typeface="Telegraf Extra-Light"/>
                <a:cs typeface="Telegraf Extra-Light"/>
                <a:sym typeface="Telegraf Extra-Light"/>
              </a:rPr>
              <a:t>Studio Shodwe</a:t>
            </a:r>
          </a:p>
        </p:txBody>
      </p:sp>
      <p:sp>
        <p:nvSpPr>
          <p:cNvPr name="TextBox 8" id="8"/>
          <p:cNvSpPr txBox="true"/>
          <p:nvPr/>
        </p:nvSpPr>
        <p:spPr>
          <a:xfrm rot="0">
            <a:off x="13305333" y="782737"/>
            <a:ext cx="1819999" cy="351790"/>
          </a:xfrm>
          <a:prstGeom prst="rect">
            <a:avLst/>
          </a:prstGeom>
        </p:spPr>
        <p:txBody>
          <a:bodyPr anchor="t" rtlCol="false" tIns="0" lIns="0" bIns="0" rIns="0">
            <a:spAutoFit/>
          </a:bodyPr>
          <a:lstStyle/>
          <a:p>
            <a:pPr algn="r">
              <a:lnSpc>
                <a:spcPts val="2660"/>
              </a:lnSpc>
              <a:spcBef>
                <a:spcPct val="0"/>
              </a:spcBef>
            </a:pPr>
            <a:r>
              <a:rPr lang="en-US" sz="1900" spc="95">
                <a:solidFill>
                  <a:srgbClr val="164B82"/>
                </a:solidFill>
                <a:latin typeface="Telegraf Extra-Light"/>
                <a:ea typeface="Telegraf Extra-Light"/>
                <a:cs typeface="Telegraf Extra-Light"/>
                <a:sym typeface="Telegraf Extra-Light"/>
              </a:rPr>
              <a:t>2024</a:t>
            </a:r>
          </a:p>
        </p:txBody>
      </p:sp>
      <p:sp>
        <p:nvSpPr>
          <p:cNvPr name="TextBox 9" id="9"/>
          <p:cNvSpPr txBox="true"/>
          <p:nvPr/>
        </p:nvSpPr>
        <p:spPr>
          <a:xfrm rot="0">
            <a:off x="11045641" y="782737"/>
            <a:ext cx="1819999" cy="351790"/>
          </a:xfrm>
          <a:prstGeom prst="rect">
            <a:avLst/>
          </a:prstGeom>
        </p:spPr>
        <p:txBody>
          <a:bodyPr anchor="t" rtlCol="false" tIns="0" lIns="0" bIns="0" rIns="0">
            <a:spAutoFit/>
          </a:bodyPr>
          <a:lstStyle/>
          <a:p>
            <a:pPr algn="ctr">
              <a:lnSpc>
                <a:spcPts val="2660"/>
              </a:lnSpc>
              <a:spcBef>
                <a:spcPct val="0"/>
              </a:spcBef>
            </a:pPr>
            <a:r>
              <a:rPr lang="en-US" sz="1900" spc="95">
                <a:solidFill>
                  <a:srgbClr val="164B82"/>
                </a:solidFill>
                <a:latin typeface="Telegraf Extra-Light"/>
                <a:ea typeface="Telegraf Extra-Light"/>
                <a:cs typeface="Telegraf Extra-Light"/>
                <a:sym typeface="Telegraf Extra-Light"/>
              </a:rPr>
              <a:t>Project.</a:t>
            </a:r>
          </a:p>
        </p:txBody>
      </p:sp>
      <p:grpSp>
        <p:nvGrpSpPr>
          <p:cNvPr name="Group 10" id="10"/>
          <p:cNvGrpSpPr/>
          <p:nvPr/>
        </p:nvGrpSpPr>
        <p:grpSpPr>
          <a:xfrm rot="5400000">
            <a:off x="11279340" y="-3711595"/>
            <a:ext cx="643045" cy="9407130"/>
            <a:chOff x="0" y="0"/>
            <a:chExt cx="169362" cy="2477598"/>
          </a:xfrm>
        </p:grpSpPr>
        <p:sp>
          <p:nvSpPr>
            <p:cNvPr name="Freeform 11" id="11"/>
            <p:cNvSpPr/>
            <p:nvPr/>
          </p:nvSpPr>
          <p:spPr>
            <a:xfrm flipH="false" flipV="false" rot="0">
              <a:off x="0" y="0"/>
              <a:ext cx="169362" cy="2477598"/>
            </a:xfrm>
            <a:custGeom>
              <a:avLst/>
              <a:gdLst/>
              <a:ahLst/>
              <a:cxnLst/>
              <a:rect r="r" b="b" t="t" l="l"/>
              <a:pathLst>
                <a:path h="2477598" w="169362">
                  <a:moveTo>
                    <a:pt x="84681" y="0"/>
                  </a:moveTo>
                  <a:lnTo>
                    <a:pt x="84681" y="0"/>
                  </a:lnTo>
                  <a:cubicBezTo>
                    <a:pt x="107140" y="0"/>
                    <a:pt x="128678" y="8922"/>
                    <a:pt x="144559" y="24802"/>
                  </a:cubicBezTo>
                  <a:cubicBezTo>
                    <a:pt x="160440" y="40683"/>
                    <a:pt x="169362" y="62222"/>
                    <a:pt x="169362" y="84681"/>
                  </a:cubicBezTo>
                  <a:lnTo>
                    <a:pt x="169362" y="2392917"/>
                  </a:lnTo>
                  <a:cubicBezTo>
                    <a:pt x="169362" y="2439685"/>
                    <a:pt x="131449" y="2477598"/>
                    <a:pt x="84681" y="2477598"/>
                  </a:cubicBezTo>
                  <a:lnTo>
                    <a:pt x="84681" y="2477598"/>
                  </a:lnTo>
                  <a:cubicBezTo>
                    <a:pt x="37913" y="2477598"/>
                    <a:pt x="0" y="2439685"/>
                    <a:pt x="0" y="2392917"/>
                  </a:cubicBezTo>
                  <a:lnTo>
                    <a:pt x="0" y="84681"/>
                  </a:lnTo>
                  <a:cubicBezTo>
                    <a:pt x="0" y="37913"/>
                    <a:pt x="37913" y="0"/>
                    <a:pt x="84681" y="0"/>
                  </a:cubicBezTo>
                  <a:close/>
                </a:path>
              </a:pathLst>
            </a:custGeom>
            <a:ln w="19050" cap="rnd">
              <a:solidFill>
                <a:srgbClr val="164B82"/>
              </a:solidFill>
              <a:prstDash val="solid"/>
              <a:round/>
            </a:ln>
          </p:spPr>
        </p:sp>
        <p:sp>
          <p:nvSpPr>
            <p:cNvPr name="TextBox 12" id="12"/>
            <p:cNvSpPr txBox="true"/>
            <p:nvPr/>
          </p:nvSpPr>
          <p:spPr>
            <a:xfrm>
              <a:off x="0" y="-57150"/>
              <a:ext cx="169362" cy="2534748"/>
            </a:xfrm>
            <a:prstGeom prst="rect">
              <a:avLst/>
            </a:prstGeom>
          </p:spPr>
          <p:txBody>
            <a:bodyPr anchor="ctr" rtlCol="false" tIns="50800" lIns="50800" bIns="50800" rIns="50800"/>
            <a:lstStyle/>
            <a:p>
              <a:pPr algn="ctr">
                <a:lnSpc>
                  <a:spcPts val="3639"/>
                </a:lnSpc>
              </a:pPr>
            </a:p>
          </p:txBody>
        </p:sp>
      </p:grpSp>
      <p:sp>
        <p:nvSpPr>
          <p:cNvPr name="Freeform 13" id="13"/>
          <p:cNvSpPr/>
          <p:nvPr/>
        </p:nvSpPr>
        <p:spPr>
          <a:xfrm flipH="false" flipV="false" rot="0">
            <a:off x="1570675" y="4730782"/>
            <a:ext cx="10937447" cy="4769714"/>
          </a:xfrm>
          <a:custGeom>
            <a:avLst/>
            <a:gdLst/>
            <a:ahLst/>
            <a:cxnLst/>
            <a:rect r="r" b="b" t="t" l="l"/>
            <a:pathLst>
              <a:path h="4769714" w="10937447">
                <a:moveTo>
                  <a:pt x="0" y="0"/>
                </a:moveTo>
                <a:lnTo>
                  <a:pt x="10937447" y="0"/>
                </a:lnTo>
                <a:lnTo>
                  <a:pt x="10937447" y="4769713"/>
                </a:lnTo>
                <a:lnTo>
                  <a:pt x="0" y="4769713"/>
                </a:lnTo>
                <a:lnTo>
                  <a:pt x="0" y="0"/>
                </a:lnTo>
                <a:close/>
              </a:path>
            </a:pathLst>
          </a:custGeom>
          <a:blipFill>
            <a:blip r:embed="rId4"/>
            <a:stretch>
              <a:fillRect l="0" t="0" r="0" b="0"/>
            </a:stretch>
          </a:blipFill>
        </p:spPr>
      </p:sp>
      <p:sp>
        <p:nvSpPr>
          <p:cNvPr name="TextBox 14" id="14"/>
          <p:cNvSpPr txBox="true"/>
          <p:nvPr/>
        </p:nvSpPr>
        <p:spPr>
          <a:xfrm rot="0">
            <a:off x="992940" y="2516550"/>
            <a:ext cx="17703925" cy="710373"/>
          </a:xfrm>
          <a:prstGeom prst="rect">
            <a:avLst/>
          </a:prstGeom>
        </p:spPr>
        <p:txBody>
          <a:bodyPr anchor="t" rtlCol="false" tIns="0" lIns="0" bIns="0" rIns="0">
            <a:spAutoFit/>
          </a:bodyPr>
          <a:lstStyle/>
          <a:p>
            <a:pPr algn="l">
              <a:lnSpc>
                <a:spcPts val="4927"/>
              </a:lnSpc>
            </a:pPr>
            <a:r>
              <a:rPr lang="en-US" sz="5080" b="true">
                <a:solidFill>
                  <a:srgbClr val="343434"/>
                </a:solidFill>
                <a:latin typeface="Telegraf Bold"/>
                <a:ea typeface="Telegraf Bold"/>
                <a:cs typeface="Telegraf Bold"/>
                <a:sym typeface="Telegraf Bold"/>
              </a:rPr>
              <a:t>TỔNG HỢP DỮ LIỆU GIAO DỊCH</a:t>
            </a:r>
          </a:p>
        </p:txBody>
      </p:sp>
      <p:sp>
        <p:nvSpPr>
          <p:cNvPr name="TextBox 15" id="15"/>
          <p:cNvSpPr txBox="true"/>
          <p:nvPr/>
        </p:nvSpPr>
        <p:spPr>
          <a:xfrm rot="0">
            <a:off x="1589301" y="3997356"/>
            <a:ext cx="1910412" cy="542926"/>
          </a:xfrm>
          <a:prstGeom prst="rect">
            <a:avLst/>
          </a:prstGeom>
        </p:spPr>
        <p:txBody>
          <a:bodyPr anchor="t" rtlCol="false" tIns="0" lIns="0" bIns="0" rIns="0">
            <a:spAutoFit/>
          </a:bodyPr>
          <a:lstStyle/>
          <a:p>
            <a:pPr algn="l" marL="0" indent="0" lvl="0">
              <a:lnSpc>
                <a:spcPts val="4199"/>
              </a:lnSpc>
              <a:spcBef>
                <a:spcPct val="0"/>
              </a:spcBef>
            </a:pPr>
            <a:r>
              <a:rPr lang="en-US" b="true" sz="2999">
                <a:solidFill>
                  <a:srgbClr val="343434"/>
                </a:solidFill>
                <a:latin typeface="Telegraf Bold"/>
                <a:ea typeface="Telegraf Bold"/>
                <a:cs typeface="Telegraf Bold"/>
                <a:sym typeface="Telegraf Bold"/>
              </a:rPr>
              <a:t>Time bars:</a:t>
            </a:r>
          </a:p>
        </p:txBody>
      </p:sp>
      <p:sp>
        <p:nvSpPr>
          <p:cNvPr name="TextBox 16" id="16"/>
          <p:cNvSpPr txBox="true"/>
          <p:nvPr/>
        </p:nvSpPr>
        <p:spPr>
          <a:xfrm rot="0">
            <a:off x="1365060" y="3326160"/>
            <a:ext cx="5808086" cy="575946"/>
          </a:xfrm>
          <a:prstGeom prst="rect">
            <a:avLst/>
          </a:prstGeom>
        </p:spPr>
        <p:txBody>
          <a:bodyPr anchor="t" rtlCol="false" tIns="0" lIns="0" bIns="0" rIns="0">
            <a:spAutoFit/>
          </a:bodyPr>
          <a:lstStyle/>
          <a:p>
            <a:pPr algn="l" marL="0" indent="0" lvl="1">
              <a:lnSpc>
                <a:spcPts val="4479"/>
              </a:lnSpc>
              <a:spcBef>
                <a:spcPct val="0"/>
              </a:spcBef>
            </a:pPr>
            <a:r>
              <a:rPr lang="en-US" b="true" sz="3199" spc="159">
                <a:solidFill>
                  <a:srgbClr val="343434"/>
                </a:solidFill>
                <a:latin typeface="Telegraf Bold"/>
                <a:ea typeface="Telegraf Bold"/>
                <a:cs typeface="Telegraf Bold"/>
                <a:sym typeface="Telegraf Bold"/>
              </a:rPr>
              <a:t>Triền khai mã lệnh Python:</a:t>
            </a:r>
          </a:p>
        </p:txBody>
      </p:sp>
      <p:sp>
        <p:nvSpPr>
          <p:cNvPr name="TextBox 17" id="17"/>
          <p:cNvSpPr txBox="true"/>
          <p:nvPr/>
        </p:nvSpPr>
        <p:spPr>
          <a:xfrm rot="0">
            <a:off x="12865639" y="5443694"/>
            <a:ext cx="4475169" cy="1217930"/>
          </a:xfrm>
          <a:prstGeom prst="rect">
            <a:avLst/>
          </a:prstGeom>
        </p:spPr>
        <p:txBody>
          <a:bodyPr anchor="t" rtlCol="false" tIns="0" lIns="0" bIns="0" rIns="0">
            <a:spAutoFit/>
          </a:bodyPr>
          <a:lstStyle/>
          <a:p>
            <a:pPr algn="l" marL="0" indent="0" lvl="1">
              <a:lnSpc>
                <a:spcPts val="3219"/>
              </a:lnSpc>
              <a:spcBef>
                <a:spcPct val="0"/>
              </a:spcBef>
            </a:pPr>
            <a:r>
              <a:rPr lang="en-US" sz="2299" strike="noStrike" u="none">
                <a:solidFill>
                  <a:srgbClr val="000000"/>
                </a:solidFill>
                <a:latin typeface="Telegraf"/>
                <a:ea typeface="Telegraf"/>
                <a:cs typeface="Telegraf"/>
                <a:sym typeface="Telegraf"/>
              </a:rPr>
              <a:t>Sử dụng phương thức groupby để gom nhóm các dữ liệu giao dịch trong 1 phút</a:t>
            </a:r>
          </a:p>
        </p:txBody>
      </p:sp>
    </p:spTree>
  </p:cSld>
  <p:clrMapOvr>
    <a:masterClrMapping/>
  </p:clrMapOvr>
</p:sld>
</file>

<file path=ppt/slides/slide36.xml><?xml version="1.0" encoding="utf-8"?>
<p:sld xmlns:p="http://schemas.openxmlformats.org/presentationml/2006/main" xmlns:a="http://schemas.openxmlformats.org/drawingml/2006/main" xmlns:r="http://schemas.openxmlformats.org/officeDocument/2006/relationships">
  <p:cSld>
    <p:bg>
      <p:bgPr>
        <a:solidFill>
          <a:srgbClr val="F2F7FA"/>
        </a:solidFill>
      </p:bgPr>
    </p:bg>
    <p:spTree>
      <p:nvGrpSpPr>
        <p:cNvPr id="1" name=""/>
        <p:cNvGrpSpPr/>
        <p:nvPr/>
      </p:nvGrpSpPr>
      <p:grpSpPr>
        <a:xfrm>
          <a:off x="0" y="0"/>
          <a:ext cx="0" cy="0"/>
          <a:chOff x="0" y="0"/>
          <a:chExt cx="0" cy="0"/>
        </a:xfrm>
      </p:grpSpPr>
      <p:sp>
        <p:nvSpPr>
          <p:cNvPr name="Freeform 2" id="2"/>
          <p:cNvSpPr/>
          <p:nvPr/>
        </p:nvSpPr>
        <p:spPr>
          <a:xfrm flipH="false" flipV="false" rot="225008">
            <a:off x="-642791" y="-3332405"/>
            <a:ext cx="12701350" cy="5382197"/>
          </a:xfrm>
          <a:custGeom>
            <a:avLst/>
            <a:gdLst/>
            <a:ahLst/>
            <a:cxnLst/>
            <a:rect r="r" b="b" t="t" l="l"/>
            <a:pathLst>
              <a:path h="5382197" w="12701350">
                <a:moveTo>
                  <a:pt x="0" y="0"/>
                </a:moveTo>
                <a:lnTo>
                  <a:pt x="12701350" y="0"/>
                </a:lnTo>
                <a:lnTo>
                  <a:pt x="12701350" y="5382197"/>
                </a:lnTo>
                <a:lnTo>
                  <a:pt x="0" y="5382197"/>
                </a:lnTo>
                <a:lnTo>
                  <a:pt x="0" y="0"/>
                </a:lnTo>
                <a:close/>
              </a:path>
            </a:pathLst>
          </a:custGeom>
          <a:blipFill>
            <a:blip r:embed="rId2"/>
            <a:stretch>
              <a:fillRect l="0" t="0" r="0" b="0"/>
            </a:stretch>
          </a:blipFill>
        </p:spPr>
      </p:sp>
      <p:sp>
        <p:nvSpPr>
          <p:cNvPr name="Freeform 3" id="3"/>
          <p:cNvSpPr/>
          <p:nvPr/>
        </p:nvSpPr>
        <p:spPr>
          <a:xfrm flipH="false" flipV="false" rot="0">
            <a:off x="12865639" y="7440973"/>
            <a:ext cx="11514218" cy="8506128"/>
          </a:xfrm>
          <a:custGeom>
            <a:avLst/>
            <a:gdLst/>
            <a:ahLst/>
            <a:cxnLst/>
            <a:rect r="r" b="b" t="t" l="l"/>
            <a:pathLst>
              <a:path h="8506128" w="11514218">
                <a:moveTo>
                  <a:pt x="0" y="0"/>
                </a:moveTo>
                <a:lnTo>
                  <a:pt x="11514218" y="0"/>
                </a:lnTo>
                <a:lnTo>
                  <a:pt x="11514218" y="8506128"/>
                </a:lnTo>
                <a:lnTo>
                  <a:pt x="0" y="8506128"/>
                </a:lnTo>
                <a:lnTo>
                  <a:pt x="0" y="0"/>
                </a:lnTo>
                <a:close/>
              </a:path>
            </a:pathLst>
          </a:custGeom>
          <a:blipFill>
            <a:blip r:embed="rId3"/>
            <a:stretch>
              <a:fillRect l="0" t="0" r="0" b="0"/>
            </a:stretch>
          </a:blipFill>
        </p:spPr>
      </p:sp>
      <p:grpSp>
        <p:nvGrpSpPr>
          <p:cNvPr name="Group 4" id="4"/>
          <p:cNvGrpSpPr/>
          <p:nvPr/>
        </p:nvGrpSpPr>
        <p:grpSpPr>
          <a:xfrm rot="0">
            <a:off x="17259300" y="-392510"/>
            <a:ext cx="1437565" cy="11072020"/>
            <a:chOff x="0" y="0"/>
            <a:chExt cx="378618" cy="2916088"/>
          </a:xfrm>
        </p:grpSpPr>
        <p:sp>
          <p:nvSpPr>
            <p:cNvPr name="Freeform 5" id="5"/>
            <p:cNvSpPr/>
            <p:nvPr/>
          </p:nvSpPr>
          <p:spPr>
            <a:xfrm flipH="false" flipV="false" rot="0">
              <a:off x="0" y="0"/>
              <a:ext cx="378618" cy="2916088"/>
            </a:xfrm>
            <a:custGeom>
              <a:avLst/>
              <a:gdLst/>
              <a:ahLst/>
              <a:cxnLst/>
              <a:rect r="r" b="b" t="t" l="l"/>
              <a:pathLst>
                <a:path h="2916088" w="378618">
                  <a:moveTo>
                    <a:pt x="0" y="0"/>
                  </a:moveTo>
                  <a:lnTo>
                    <a:pt x="378618" y="0"/>
                  </a:lnTo>
                  <a:lnTo>
                    <a:pt x="378618" y="2916088"/>
                  </a:lnTo>
                  <a:lnTo>
                    <a:pt x="0" y="2916088"/>
                  </a:lnTo>
                  <a:close/>
                </a:path>
              </a:pathLst>
            </a:custGeom>
            <a:gradFill rotWithShape="true">
              <a:gsLst>
                <a:gs pos="0">
                  <a:srgbClr val="E4B795">
                    <a:alpha val="100000"/>
                  </a:srgbClr>
                </a:gs>
                <a:gs pos="50000">
                  <a:srgbClr val="699ACD">
                    <a:alpha val="100000"/>
                  </a:srgbClr>
                </a:gs>
                <a:gs pos="100000">
                  <a:srgbClr val="2F679F">
                    <a:alpha val="100000"/>
                  </a:srgbClr>
                </a:gs>
              </a:gsLst>
              <a:path path="circle">
                <a:fillToRect l="0" r="100000" t="0" b="100000"/>
              </a:path>
              <a:tileRect r="0" l="-100000" b="0" t="-100000"/>
            </a:gradFill>
          </p:spPr>
        </p:sp>
        <p:sp>
          <p:nvSpPr>
            <p:cNvPr name="TextBox 6" id="6"/>
            <p:cNvSpPr txBox="true"/>
            <p:nvPr/>
          </p:nvSpPr>
          <p:spPr>
            <a:xfrm>
              <a:off x="0" y="-57150"/>
              <a:ext cx="378618" cy="2973238"/>
            </a:xfrm>
            <a:prstGeom prst="rect">
              <a:avLst/>
            </a:prstGeom>
          </p:spPr>
          <p:txBody>
            <a:bodyPr anchor="ctr" rtlCol="false" tIns="50800" lIns="50800" bIns="50800" rIns="50800"/>
            <a:lstStyle/>
            <a:p>
              <a:pPr algn="ctr">
                <a:lnSpc>
                  <a:spcPts val="3639"/>
                </a:lnSpc>
              </a:pPr>
            </a:p>
          </p:txBody>
        </p:sp>
      </p:grpSp>
      <p:sp>
        <p:nvSpPr>
          <p:cNvPr name="TextBox 7" id="7"/>
          <p:cNvSpPr txBox="true"/>
          <p:nvPr/>
        </p:nvSpPr>
        <p:spPr>
          <a:xfrm rot="0">
            <a:off x="8021110" y="782737"/>
            <a:ext cx="2492949" cy="351790"/>
          </a:xfrm>
          <a:prstGeom prst="rect">
            <a:avLst/>
          </a:prstGeom>
        </p:spPr>
        <p:txBody>
          <a:bodyPr anchor="t" rtlCol="false" tIns="0" lIns="0" bIns="0" rIns="0">
            <a:spAutoFit/>
          </a:bodyPr>
          <a:lstStyle/>
          <a:p>
            <a:pPr algn="l">
              <a:lnSpc>
                <a:spcPts val="2660"/>
              </a:lnSpc>
              <a:spcBef>
                <a:spcPct val="0"/>
              </a:spcBef>
            </a:pPr>
            <a:r>
              <a:rPr lang="en-US" sz="1900" spc="95">
                <a:solidFill>
                  <a:srgbClr val="164B82"/>
                </a:solidFill>
                <a:latin typeface="Telegraf Extra-Light"/>
                <a:ea typeface="Telegraf Extra-Light"/>
                <a:cs typeface="Telegraf Extra-Light"/>
                <a:sym typeface="Telegraf Extra-Light"/>
              </a:rPr>
              <a:t>Studio Shodwe</a:t>
            </a:r>
          </a:p>
        </p:txBody>
      </p:sp>
      <p:sp>
        <p:nvSpPr>
          <p:cNvPr name="TextBox 8" id="8"/>
          <p:cNvSpPr txBox="true"/>
          <p:nvPr/>
        </p:nvSpPr>
        <p:spPr>
          <a:xfrm rot="0">
            <a:off x="13305333" y="782737"/>
            <a:ext cx="1819999" cy="351790"/>
          </a:xfrm>
          <a:prstGeom prst="rect">
            <a:avLst/>
          </a:prstGeom>
        </p:spPr>
        <p:txBody>
          <a:bodyPr anchor="t" rtlCol="false" tIns="0" lIns="0" bIns="0" rIns="0">
            <a:spAutoFit/>
          </a:bodyPr>
          <a:lstStyle/>
          <a:p>
            <a:pPr algn="r">
              <a:lnSpc>
                <a:spcPts val="2660"/>
              </a:lnSpc>
              <a:spcBef>
                <a:spcPct val="0"/>
              </a:spcBef>
            </a:pPr>
            <a:r>
              <a:rPr lang="en-US" sz="1900" spc="95">
                <a:solidFill>
                  <a:srgbClr val="164B82"/>
                </a:solidFill>
                <a:latin typeface="Telegraf Extra-Light"/>
                <a:ea typeface="Telegraf Extra-Light"/>
                <a:cs typeface="Telegraf Extra-Light"/>
                <a:sym typeface="Telegraf Extra-Light"/>
              </a:rPr>
              <a:t>2024</a:t>
            </a:r>
          </a:p>
        </p:txBody>
      </p:sp>
      <p:sp>
        <p:nvSpPr>
          <p:cNvPr name="TextBox 9" id="9"/>
          <p:cNvSpPr txBox="true"/>
          <p:nvPr/>
        </p:nvSpPr>
        <p:spPr>
          <a:xfrm rot="0">
            <a:off x="11045641" y="782737"/>
            <a:ext cx="1819999" cy="351790"/>
          </a:xfrm>
          <a:prstGeom prst="rect">
            <a:avLst/>
          </a:prstGeom>
        </p:spPr>
        <p:txBody>
          <a:bodyPr anchor="t" rtlCol="false" tIns="0" lIns="0" bIns="0" rIns="0">
            <a:spAutoFit/>
          </a:bodyPr>
          <a:lstStyle/>
          <a:p>
            <a:pPr algn="ctr">
              <a:lnSpc>
                <a:spcPts val="2660"/>
              </a:lnSpc>
              <a:spcBef>
                <a:spcPct val="0"/>
              </a:spcBef>
            </a:pPr>
            <a:r>
              <a:rPr lang="en-US" sz="1900" spc="95">
                <a:solidFill>
                  <a:srgbClr val="164B82"/>
                </a:solidFill>
                <a:latin typeface="Telegraf Extra-Light"/>
                <a:ea typeface="Telegraf Extra-Light"/>
                <a:cs typeface="Telegraf Extra-Light"/>
                <a:sym typeface="Telegraf Extra-Light"/>
              </a:rPr>
              <a:t>Project.</a:t>
            </a:r>
          </a:p>
        </p:txBody>
      </p:sp>
      <p:grpSp>
        <p:nvGrpSpPr>
          <p:cNvPr name="Group 10" id="10"/>
          <p:cNvGrpSpPr/>
          <p:nvPr/>
        </p:nvGrpSpPr>
        <p:grpSpPr>
          <a:xfrm rot="5400000">
            <a:off x="11279340" y="-3711595"/>
            <a:ext cx="643045" cy="9407130"/>
            <a:chOff x="0" y="0"/>
            <a:chExt cx="169362" cy="2477598"/>
          </a:xfrm>
        </p:grpSpPr>
        <p:sp>
          <p:nvSpPr>
            <p:cNvPr name="Freeform 11" id="11"/>
            <p:cNvSpPr/>
            <p:nvPr/>
          </p:nvSpPr>
          <p:spPr>
            <a:xfrm flipH="false" flipV="false" rot="0">
              <a:off x="0" y="0"/>
              <a:ext cx="169362" cy="2477598"/>
            </a:xfrm>
            <a:custGeom>
              <a:avLst/>
              <a:gdLst/>
              <a:ahLst/>
              <a:cxnLst/>
              <a:rect r="r" b="b" t="t" l="l"/>
              <a:pathLst>
                <a:path h="2477598" w="169362">
                  <a:moveTo>
                    <a:pt x="84681" y="0"/>
                  </a:moveTo>
                  <a:lnTo>
                    <a:pt x="84681" y="0"/>
                  </a:lnTo>
                  <a:cubicBezTo>
                    <a:pt x="107140" y="0"/>
                    <a:pt x="128678" y="8922"/>
                    <a:pt x="144559" y="24802"/>
                  </a:cubicBezTo>
                  <a:cubicBezTo>
                    <a:pt x="160440" y="40683"/>
                    <a:pt x="169362" y="62222"/>
                    <a:pt x="169362" y="84681"/>
                  </a:cubicBezTo>
                  <a:lnTo>
                    <a:pt x="169362" y="2392917"/>
                  </a:lnTo>
                  <a:cubicBezTo>
                    <a:pt x="169362" y="2439685"/>
                    <a:pt x="131449" y="2477598"/>
                    <a:pt x="84681" y="2477598"/>
                  </a:cubicBezTo>
                  <a:lnTo>
                    <a:pt x="84681" y="2477598"/>
                  </a:lnTo>
                  <a:cubicBezTo>
                    <a:pt x="37913" y="2477598"/>
                    <a:pt x="0" y="2439685"/>
                    <a:pt x="0" y="2392917"/>
                  </a:cubicBezTo>
                  <a:lnTo>
                    <a:pt x="0" y="84681"/>
                  </a:lnTo>
                  <a:cubicBezTo>
                    <a:pt x="0" y="37913"/>
                    <a:pt x="37913" y="0"/>
                    <a:pt x="84681" y="0"/>
                  </a:cubicBezTo>
                  <a:close/>
                </a:path>
              </a:pathLst>
            </a:custGeom>
            <a:ln w="19050" cap="rnd">
              <a:solidFill>
                <a:srgbClr val="164B82"/>
              </a:solidFill>
              <a:prstDash val="solid"/>
              <a:round/>
            </a:ln>
          </p:spPr>
        </p:sp>
        <p:sp>
          <p:nvSpPr>
            <p:cNvPr name="TextBox 12" id="12"/>
            <p:cNvSpPr txBox="true"/>
            <p:nvPr/>
          </p:nvSpPr>
          <p:spPr>
            <a:xfrm>
              <a:off x="0" y="-57150"/>
              <a:ext cx="169362" cy="2534748"/>
            </a:xfrm>
            <a:prstGeom prst="rect">
              <a:avLst/>
            </a:prstGeom>
          </p:spPr>
          <p:txBody>
            <a:bodyPr anchor="ctr" rtlCol="false" tIns="50800" lIns="50800" bIns="50800" rIns="50800"/>
            <a:lstStyle/>
            <a:p>
              <a:pPr algn="ctr">
                <a:lnSpc>
                  <a:spcPts val="3639"/>
                </a:lnSpc>
              </a:pPr>
            </a:p>
          </p:txBody>
        </p:sp>
      </p:grpSp>
      <p:sp>
        <p:nvSpPr>
          <p:cNvPr name="Freeform 13" id="13"/>
          <p:cNvSpPr/>
          <p:nvPr/>
        </p:nvSpPr>
        <p:spPr>
          <a:xfrm flipH="false" flipV="false" rot="0">
            <a:off x="1869601" y="3468550"/>
            <a:ext cx="5027697" cy="2585400"/>
          </a:xfrm>
          <a:custGeom>
            <a:avLst/>
            <a:gdLst/>
            <a:ahLst/>
            <a:cxnLst/>
            <a:rect r="r" b="b" t="t" l="l"/>
            <a:pathLst>
              <a:path h="2585400" w="5027697">
                <a:moveTo>
                  <a:pt x="0" y="0"/>
                </a:moveTo>
                <a:lnTo>
                  <a:pt x="5027696" y="0"/>
                </a:lnTo>
                <a:lnTo>
                  <a:pt x="5027696" y="2585400"/>
                </a:lnTo>
                <a:lnTo>
                  <a:pt x="0" y="2585400"/>
                </a:lnTo>
                <a:lnTo>
                  <a:pt x="0" y="0"/>
                </a:lnTo>
                <a:close/>
              </a:path>
            </a:pathLst>
          </a:custGeom>
          <a:blipFill>
            <a:blip r:embed="rId4"/>
            <a:stretch>
              <a:fillRect l="0" t="0" r="0" b="0"/>
            </a:stretch>
          </a:blipFill>
        </p:spPr>
      </p:sp>
      <p:sp>
        <p:nvSpPr>
          <p:cNvPr name="Freeform 14" id="14"/>
          <p:cNvSpPr/>
          <p:nvPr/>
        </p:nvSpPr>
        <p:spPr>
          <a:xfrm flipH="false" flipV="false" rot="0">
            <a:off x="1869601" y="6053950"/>
            <a:ext cx="9854106" cy="4187995"/>
          </a:xfrm>
          <a:custGeom>
            <a:avLst/>
            <a:gdLst/>
            <a:ahLst/>
            <a:cxnLst/>
            <a:rect r="r" b="b" t="t" l="l"/>
            <a:pathLst>
              <a:path h="4187995" w="9854106">
                <a:moveTo>
                  <a:pt x="0" y="0"/>
                </a:moveTo>
                <a:lnTo>
                  <a:pt x="9854106" y="0"/>
                </a:lnTo>
                <a:lnTo>
                  <a:pt x="9854106" y="4187995"/>
                </a:lnTo>
                <a:lnTo>
                  <a:pt x="0" y="4187995"/>
                </a:lnTo>
                <a:lnTo>
                  <a:pt x="0" y="0"/>
                </a:lnTo>
                <a:close/>
              </a:path>
            </a:pathLst>
          </a:custGeom>
          <a:blipFill>
            <a:blip r:embed="rId5"/>
            <a:stretch>
              <a:fillRect l="0" t="0" r="0" b="0"/>
            </a:stretch>
          </a:blipFill>
        </p:spPr>
      </p:sp>
      <p:sp>
        <p:nvSpPr>
          <p:cNvPr name="TextBox 15" id="15"/>
          <p:cNvSpPr txBox="true"/>
          <p:nvPr/>
        </p:nvSpPr>
        <p:spPr>
          <a:xfrm rot="0">
            <a:off x="992940" y="1626502"/>
            <a:ext cx="17703925" cy="710373"/>
          </a:xfrm>
          <a:prstGeom prst="rect">
            <a:avLst/>
          </a:prstGeom>
        </p:spPr>
        <p:txBody>
          <a:bodyPr anchor="t" rtlCol="false" tIns="0" lIns="0" bIns="0" rIns="0">
            <a:spAutoFit/>
          </a:bodyPr>
          <a:lstStyle/>
          <a:p>
            <a:pPr algn="l">
              <a:lnSpc>
                <a:spcPts val="4927"/>
              </a:lnSpc>
            </a:pPr>
            <a:r>
              <a:rPr lang="en-US" sz="5080" b="true">
                <a:solidFill>
                  <a:srgbClr val="343434"/>
                </a:solidFill>
                <a:latin typeface="Telegraf Bold"/>
                <a:ea typeface="Telegraf Bold"/>
                <a:cs typeface="Telegraf Bold"/>
                <a:sym typeface="Telegraf Bold"/>
              </a:rPr>
              <a:t>TỔNG HỢP DỮ LIỆU GIAO DỊCH</a:t>
            </a:r>
          </a:p>
        </p:txBody>
      </p:sp>
      <p:sp>
        <p:nvSpPr>
          <p:cNvPr name="TextBox 16" id="16"/>
          <p:cNvSpPr txBox="true"/>
          <p:nvPr/>
        </p:nvSpPr>
        <p:spPr>
          <a:xfrm rot="0">
            <a:off x="1869601" y="2925624"/>
            <a:ext cx="1781716" cy="542926"/>
          </a:xfrm>
          <a:prstGeom prst="rect">
            <a:avLst/>
          </a:prstGeom>
        </p:spPr>
        <p:txBody>
          <a:bodyPr anchor="t" rtlCol="false" tIns="0" lIns="0" bIns="0" rIns="0">
            <a:spAutoFit/>
          </a:bodyPr>
          <a:lstStyle/>
          <a:p>
            <a:pPr algn="l" marL="0" indent="0" lvl="0">
              <a:lnSpc>
                <a:spcPts val="4199"/>
              </a:lnSpc>
              <a:spcBef>
                <a:spcPct val="0"/>
              </a:spcBef>
            </a:pPr>
            <a:r>
              <a:rPr lang="en-US" b="true" sz="2999">
                <a:solidFill>
                  <a:srgbClr val="343434"/>
                </a:solidFill>
                <a:latin typeface="Telegraf Bold"/>
                <a:ea typeface="Telegraf Bold"/>
                <a:cs typeface="Telegraf Bold"/>
                <a:sym typeface="Telegraf Bold"/>
              </a:rPr>
              <a:t>Tick bars:</a:t>
            </a:r>
          </a:p>
        </p:txBody>
      </p:sp>
      <p:sp>
        <p:nvSpPr>
          <p:cNvPr name="TextBox 17" id="17"/>
          <p:cNvSpPr txBox="true"/>
          <p:nvPr/>
        </p:nvSpPr>
        <p:spPr>
          <a:xfrm rot="0">
            <a:off x="1589301" y="2364150"/>
            <a:ext cx="5808086" cy="575946"/>
          </a:xfrm>
          <a:prstGeom prst="rect">
            <a:avLst/>
          </a:prstGeom>
        </p:spPr>
        <p:txBody>
          <a:bodyPr anchor="t" rtlCol="false" tIns="0" lIns="0" bIns="0" rIns="0">
            <a:spAutoFit/>
          </a:bodyPr>
          <a:lstStyle/>
          <a:p>
            <a:pPr algn="l" marL="0" indent="0" lvl="1">
              <a:lnSpc>
                <a:spcPts val="4479"/>
              </a:lnSpc>
              <a:spcBef>
                <a:spcPct val="0"/>
              </a:spcBef>
            </a:pPr>
            <a:r>
              <a:rPr lang="en-US" b="true" sz="3199" spc="159">
                <a:solidFill>
                  <a:srgbClr val="343434"/>
                </a:solidFill>
                <a:latin typeface="Telegraf Bold"/>
                <a:ea typeface="Telegraf Bold"/>
                <a:cs typeface="Telegraf Bold"/>
                <a:sym typeface="Telegraf Bold"/>
              </a:rPr>
              <a:t>Triền khai mã lệnh Python:</a:t>
            </a:r>
          </a:p>
        </p:txBody>
      </p:sp>
      <p:sp>
        <p:nvSpPr>
          <p:cNvPr name="TextBox 18" id="18"/>
          <p:cNvSpPr txBox="true"/>
          <p:nvPr/>
        </p:nvSpPr>
        <p:spPr>
          <a:xfrm rot="0">
            <a:off x="7409417" y="4343419"/>
            <a:ext cx="7300263" cy="417830"/>
          </a:xfrm>
          <a:prstGeom prst="rect">
            <a:avLst/>
          </a:prstGeom>
        </p:spPr>
        <p:txBody>
          <a:bodyPr anchor="t" rtlCol="false" tIns="0" lIns="0" bIns="0" rIns="0">
            <a:spAutoFit/>
          </a:bodyPr>
          <a:lstStyle/>
          <a:p>
            <a:pPr algn="l" marL="0" indent="0" lvl="1">
              <a:lnSpc>
                <a:spcPts val="3219"/>
              </a:lnSpc>
              <a:spcBef>
                <a:spcPct val="0"/>
              </a:spcBef>
            </a:pPr>
            <a:r>
              <a:rPr lang="en-US" sz="2299" strike="noStrike" u="none">
                <a:solidFill>
                  <a:srgbClr val="000000"/>
                </a:solidFill>
                <a:latin typeface="Telegraf"/>
                <a:ea typeface="Telegraf"/>
                <a:cs typeface="Telegraf"/>
                <a:sym typeface="Telegraf"/>
              </a:rPr>
              <a:t>Lấy tickbars với ngưỡng 100 giao dịch cho 1 thanh bar,</a:t>
            </a:r>
          </a:p>
        </p:txBody>
      </p:sp>
      <p:sp>
        <p:nvSpPr>
          <p:cNvPr name="TextBox 19" id="19"/>
          <p:cNvSpPr txBox="true"/>
          <p:nvPr/>
        </p:nvSpPr>
        <p:spPr>
          <a:xfrm rot="0">
            <a:off x="12139721" y="6771025"/>
            <a:ext cx="4703565" cy="817880"/>
          </a:xfrm>
          <a:prstGeom prst="rect">
            <a:avLst/>
          </a:prstGeom>
        </p:spPr>
        <p:txBody>
          <a:bodyPr anchor="t" rtlCol="false" tIns="0" lIns="0" bIns="0" rIns="0">
            <a:spAutoFit/>
          </a:bodyPr>
          <a:lstStyle/>
          <a:p>
            <a:pPr algn="l" marL="0" indent="0" lvl="1">
              <a:lnSpc>
                <a:spcPts val="3219"/>
              </a:lnSpc>
              <a:spcBef>
                <a:spcPct val="0"/>
              </a:spcBef>
            </a:pPr>
            <a:r>
              <a:rPr lang="en-US" sz="2299" strike="noStrike" u="none">
                <a:solidFill>
                  <a:srgbClr val="000000"/>
                </a:solidFill>
                <a:latin typeface="Telegraf"/>
                <a:ea typeface="Telegraf"/>
                <a:cs typeface="Telegraf"/>
                <a:sym typeface="Telegraf"/>
              </a:rPr>
              <a:t>Kết quả cho ra 10 thanh tick bar riêng biệt</a:t>
            </a:r>
          </a:p>
        </p:txBody>
      </p:sp>
    </p:spTree>
  </p:cSld>
  <p:clrMapOvr>
    <a:masterClrMapping/>
  </p:clrMapOvr>
</p:sld>
</file>

<file path=ppt/slides/slide37.xml><?xml version="1.0" encoding="utf-8"?>
<p:sld xmlns:p="http://schemas.openxmlformats.org/presentationml/2006/main" xmlns:a="http://schemas.openxmlformats.org/drawingml/2006/main" xmlns:r="http://schemas.openxmlformats.org/officeDocument/2006/relationships">
  <p:cSld>
    <p:bg>
      <p:bgPr>
        <a:solidFill>
          <a:srgbClr val="F2F7FA"/>
        </a:solidFill>
      </p:bgPr>
    </p:bg>
    <p:spTree>
      <p:nvGrpSpPr>
        <p:cNvPr id="1" name=""/>
        <p:cNvGrpSpPr/>
        <p:nvPr/>
      </p:nvGrpSpPr>
      <p:grpSpPr>
        <a:xfrm>
          <a:off x="0" y="0"/>
          <a:ext cx="0" cy="0"/>
          <a:chOff x="0" y="0"/>
          <a:chExt cx="0" cy="0"/>
        </a:xfrm>
      </p:grpSpPr>
      <p:sp>
        <p:nvSpPr>
          <p:cNvPr name="Freeform 2" id="2"/>
          <p:cNvSpPr/>
          <p:nvPr/>
        </p:nvSpPr>
        <p:spPr>
          <a:xfrm flipH="false" flipV="false" rot="225008">
            <a:off x="-642791" y="-3332405"/>
            <a:ext cx="12701350" cy="5382197"/>
          </a:xfrm>
          <a:custGeom>
            <a:avLst/>
            <a:gdLst/>
            <a:ahLst/>
            <a:cxnLst/>
            <a:rect r="r" b="b" t="t" l="l"/>
            <a:pathLst>
              <a:path h="5382197" w="12701350">
                <a:moveTo>
                  <a:pt x="0" y="0"/>
                </a:moveTo>
                <a:lnTo>
                  <a:pt x="12701350" y="0"/>
                </a:lnTo>
                <a:lnTo>
                  <a:pt x="12701350" y="5382197"/>
                </a:lnTo>
                <a:lnTo>
                  <a:pt x="0" y="5382197"/>
                </a:lnTo>
                <a:lnTo>
                  <a:pt x="0" y="0"/>
                </a:lnTo>
                <a:close/>
              </a:path>
            </a:pathLst>
          </a:custGeom>
          <a:blipFill>
            <a:blip r:embed="rId2"/>
            <a:stretch>
              <a:fillRect l="0" t="0" r="0" b="0"/>
            </a:stretch>
          </a:blipFill>
        </p:spPr>
      </p:sp>
      <p:sp>
        <p:nvSpPr>
          <p:cNvPr name="Freeform 3" id="3"/>
          <p:cNvSpPr/>
          <p:nvPr/>
        </p:nvSpPr>
        <p:spPr>
          <a:xfrm flipH="false" flipV="false" rot="0">
            <a:off x="11772468" y="7782603"/>
            <a:ext cx="11514218" cy="8506128"/>
          </a:xfrm>
          <a:custGeom>
            <a:avLst/>
            <a:gdLst/>
            <a:ahLst/>
            <a:cxnLst/>
            <a:rect r="r" b="b" t="t" l="l"/>
            <a:pathLst>
              <a:path h="8506128" w="11514218">
                <a:moveTo>
                  <a:pt x="0" y="0"/>
                </a:moveTo>
                <a:lnTo>
                  <a:pt x="11514218" y="0"/>
                </a:lnTo>
                <a:lnTo>
                  <a:pt x="11514218" y="8506129"/>
                </a:lnTo>
                <a:lnTo>
                  <a:pt x="0" y="8506129"/>
                </a:lnTo>
                <a:lnTo>
                  <a:pt x="0" y="0"/>
                </a:lnTo>
                <a:close/>
              </a:path>
            </a:pathLst>
          </a:custGeom>
          <a:blipFill>
            <a:blip r:embed="rId3"/>
            <a:stretch>
              <a:fillRect l="0" t="0" r="0" b="0"/>
            </a:stretch>
          </a:blipFill>
        </p:spPr>
      </p:sp>
      <p:grpSp>
        <p:nvGrpSpPr>
          <p:cNvPr name="Group 4" id="4"/>
          <p:cNvGrpSpPr/>
          <p:nvPr/>
        </p:nvGrpSpPr>
        <p:grpSpPr>
          <a:xfrm rot="0">
            <a:off x="17259300" y="-392510"/>
            <a:ext cx="1437565" cy="11072020"/>
            <a:chOff x="0" y="0"/>
            <a:chExt cx="378618" cy="2916088"/>
          </a:xfrm>
        </p:grpSpPr>
        <p:sp>
          <p:nvSpPr>
            <p:cNvPr name="Freeform 5" id="5"/>
            <p:cNvSpPr/>
            <p:nvPr/>
          </p:nvSpPr>
          <p:spPr>
            <a:xfrm flipH="false" flipV="false" rot="0">
              <a:off x="0" y="0"/>
              <a:ext cx="378618" cy="2916088"/>
            </a:xfrm>
            <a:custGeom>
              <a:avLst/>
              <a:gdLst/>
              <a:ahLst/>
              <a:cxnLst/>
              <a:rect r="r" b="b" t="t" l="l"/>
              <a:pathLst>
                <a:path h="2916088" w="378618">
                  <a:moveTo>
                    <a:pt x="0" y="0"/>
                  </a:moveTo>
                  <a:lnTo>
                    <a:pt x="378618" y="0"/>
                  </a:lnTo>
                  <a:lnTo>
                    <a:pt x="378618" y="2916088"/>
                  </a:lnTo>
                  <a:lnTo>
                    <a:pt x="0" y="2916088"/>
                  </a:lnTo>
                  <a:close/>
                </a:path>
              </a:pathLst>
            </a:custGeom>
            <a:gradFill rotWithShape="true">
              <a:gsLst>
                <a:gs pos="0">
                  <a:srgbClr val="E4B795">
                    <a:alpha val="100000"/>
                  </a:srgbClr>
                </a:gs>
                <a:gs pos="50000">
                  <a:srgbClr val="699ACD">
                    <a:alpha val="100000"/>
                  </a:srgbClr>
                </a:gs>
                <a:gs pos="100000">
                  <a:srgbClr val="2F679F">
                    <a:alpha val="100000"/>
                  </a:srgbClr>
                </a:gs>
              </a:gsLst>
              <a:path path="circle">
                <a:fillToRect l="0" r="100000" t="0" b="100000"/>
              </a:path>
              <a:tileRect r="0" l="-100000" b="0" t="-100000"/>
            </a:gradFill>
          </p:spPr>
        </p:sp>
        <p:sp>
          <p:nvSpPr>
            <p:cNvPr name="TextBox 6" id="6"/>
            <p:cNvSpPr txBox="true"/>
            <p:nvPr/>
          </p:nvSpPr>
          <p:spPr>
            <a:xfrm>
              <a:off x="0" y="-57150"/>
              <a:ext cx="378618" cy="2973238"/>
            </a:xfrm>
            <a:prstGeom prst="rect">
              <a:avLst/>
            </a:prstGeom>
          </p:spPr>
          <p:txBody>
            <a:bodyPr anchor="ctr" rtlCol="false" tIns="50800" lIns="50800" bIns="50800" rIns="50800"/>
            <a:lstStyle/>
            <a:p>
              <a:pPr algn="ctr">
                <a:lnSpc>
                  <a:spcPts val="3639"/>
                </a:lnSpc>
              </a:pPr>
            </a:p>
          </p:txBody>
        </p:sp>
      </p:grpSp>
      <p:sp>
        <p:nvSpPr>
          <p:cNvPr name="TextBox 7" id="7"/>
          <p:cNvSpPr txBox="true"/>
          <p:nvPr/>
        </p:nvSpPr>
        <p:spPr>
          <a:xfrm rot="0">
            <a:off x="8021110" y="782737"/>
            <a:ext cx="2492949" cy="351790"/>
          </a:xfrm>
          <a:prstGeom prst="rect">
            <a:avLst/>
          </a:prstGeom>
        </p:spPr>
        <p:txBody>
          <a:bodyPr anchor="t" rtlCol="false" tIns="0" lIns="0" bIns="0" rIns="0">
            <a:spAutoFit/>
          </a:bodyPr>
          <a:lstStyle/>
          <a:p>
            <a:pPr algn="l">
              <a:lnSpc>
                <a:spcPts val="2660"/>
              </a:lnSpc>
              <a:spcBef>
                <a:spcPct val="0"/>
              </a:spcBef>
            </a:pPr>
            <a:r>
              <a:rPr lang="en-US" sz="1900" spc="95">
                <a:solidFill>
                  <a:srgbClr val="164B82"/>
                </a:solidFill>
                <a:latin typeface="Telegraf Extra-Light"/>
                <a:ea typeface="Telegraf Extra-Light"/>
                <a:cs typeface="Telegraf Extra-Light"/>
                <a:sym typeface="Telegraf Extra-Light"/>
              </a:rPr>
              <a:t>Studio Shodwe</a:t>
            </a:r>
          </a:p>
        </p:txBody>
      </p:sp>
      <p:sp>
        <p:nvSpPr>
          <p:cNvPr name="TextBox 8" id="8"/>
          <p:cNvSpPr txBox="true"/>
          <p:nvPr/>
        </p:nvSpPr>
        <p:spPr>
          <a:xfrm rot="0">
            <a:off x="13305333" y="782737"/>
            <a:ext cx="1819999" cy="351790"/>
          </a:xfrm>
          <a:prstGeom prst="rect">
            <a:avLst/>
          </a:prstGeom>
        </p:spPr>
        <p:txBody>
          <a:bodyPr anchor="t" rtlCol="false" tIns="0" lIns="0" bIns="0" rIns="0">
            <a:spAutoFit/>
          </a:bodyPr>
          <a:lstStyle/>
          <a:p>
            <a:pPr algn="r">
              <a:lnSpc>
                <a:spcPts val="2660"/>
              </a:lnSpc>
              <a:spcBef>
                <a:spcPct val="0"/>
              </a:spcBef>
            </a:pPr>
            <a:r>
              <a:rPr lang="en-US" sz="1900" spc="95">
                <a:solidFill>
                  <a:srgbClr val="164B82"/>
                </a:solidFill>
                <a:latin typeface="Telegraf Extra-Light"/>
                <a:ea typeface="Telegraf Extra-Light"/>
                <a:cs typeface="Telegraf Extra-Light"/>
                <a:sym typeface="Telegraf Extra-Light"/>
              </a:rPr>
              <a:t>2024</a:t>
            </a:r>
          </a:p>
        </p:txBody>
      </p:sp>
      <p:sp>
        <p:nvSpPr>
          <p:cNvPr name="TextBox 9" id="9"/>
          <p:cNvSpPr txBox="true"/>
          <p:nvPr/>
        </p:nvSpPr>
        <p:spPr>
          <a:xfrm rot="0">
            <a:off x="11045641" y="782737"/>
            <a:ext cx="1819999" cy="351790"/>
          </a:xfrm>
          <a:prstGeom prst="rect">
            <a:avLst/>
          </a:prstGeom>
        </p:spPr>
        <p:txBody>
          <a:bodyPr anchor="t" rtlCol="false" tIns="0" lIns="0" bIns="0" rIns="0">
            <a:spAutoFit/>
          </a:bodyPr>
          <a:lstStyle/>
          <a:p>
            <a:pPr algn="ctr">
              <a:lnSpc>
                <a:spcPts val="2660"/>
              </a:lnSpc>
              <a:spcBef>
                <a:spcPct val="0"/>
              </a:spcBef>
            </a:pPr>
            <a:r>
              <a:rPr lang="en-US" sz="1900" spc="95">
                <a:solidFill>
                  <a:srgbClr val="164B82"/>
                </a:solidFill>
                <a:latin typeface="Telegraf Extra-Light"/>
                <a:ea typeface="Telegraf Extra-Light"/>
                <a:cs typeface="Telegraf Extra-Light"/>
                <a:sym typeface="Telegraf Extra-Light"/>
              </a:rPr>
              <a:t>Project.</a:t>
            </a:r>
          </a:p>
        </p:txBody>
      </p:sp>
      <p:grpSp>
        <p:nvGrpSpPr>
          <p:cNvPr name="Group 10" id="10"/>
          <p:cNvGrpSpPr/>
          <p:nvPr/>
        </p:nvGrpSpPr>
        <p:grpSpPr>
          <a:xfrm rot="5400000">
            <a:off x="11279340" y="-3711595"/>
            <a:ext cx="643045" cy="9407130"/>
            <a:chOff x="0" y="0"/>
            <a:chExt cx="169362" cy="2477598"/>
          </a:xfrm>
        </p:grpSpPr>
        <p:sp>
          <p:nvSpPr>
            <p:cNvPr name="Freeform 11" id="11"/>
            <p:cNvSpPr/>
            <p:nvPr/>
          </p:nvSpPr>
          <p:spPr>
            <a:xfrm flipH="false" flipV="false" rot="0">
              <a:off x="0" y="0"/>
              <a:ext cx="169362" cy="2477598"/>
            </a:xfrm>
            <a:custGeom>
              <a:avLst/>
              <a:gdLst/>
              <a:ahLst/>
              <a:cxnLst/>
              <a:rect r="r" b="b" t="t" l="l"/>
              <a:pathLst>
                <a:path h="2477598" w="169362">
                  <a:moveTo>
                    <a:pt x="84681" y="0"/>
                  </a:moveTo>
                  <a:lnTo>
                    <a:pt x="84681" y="0"/>
                  </a:lnTo>
                  <a:cubicBezTo>
                    <a:pt x="107140" y="0"/>
                    <a:pt x="128678" y="8922"/>
                    <a:pt x="144559" y="24802"/>
                  </a:cubicBezTo>
                  <a:cubicBezTo>
                    <a:pt x="160440" y="40683"/>
                    <a:pt x="169362" y="62222"/>
                    <a:pt x="169362" y="84681"/>
                  </a:cubicBezTo>
                  <a:lnTo>
                    <a:pt x="169362" y="2392917"/>
                  </a:lnTo>
                  <a:cubicBezTo>
                    <a:pt x="169362" y="2439685"/>
                    <a:pt x="131449" y="2477598"/>
                    <a:pt x="84681" y="2477598"/>
                  </a:cubicBezTo>
                  <a:lnTo>
                    <a:pt x="84681" y="2477598"/>
                  </a:lnTo>
                  <a:cubicBezTo>
                    <a:pt x="37913" y="2477598"/>
                    <a:pt x="0" y="2439685"/>
                    <a:pt x="0" y="2392917"/>
                  </a:cubicBezTo>
                  <a:lnTo>
                    <a:pt x="0" y="84681"/>
                  </a:lnTo>
                  <a:cubicBezTo>
                    <a:pt x="0" y="37913"/>
                    <a:pt x="37913" y="0"/>
                    <a:pt x="84681" y="0"/>
                  </a:cubicBezTo>
                  <a:close/>
                </a:path>
              </a:pathLst>
            </a:custGeom>
            <a:ln w="19050" cap="rnd">
              <a:solidFill>
                <a:srgbClr val="164B82"/>
              </a:solidFill>
              <a:prstDash val="solid"/>
              <a:round/>
            </a:ln>
          </p:spPr>
        </p:sp>
        <p:sp>
          <p:nvSpPr>
            <p:cNvPr name="TextBox 12" id="12"/>
            <p:cNvSpPr txBox="true"/>
            <p:nvPr/>
          </p:nvSpPr>
          <p:spPr>
            <a:xfrm>
              <a:off x="0" y="-57150"/>
              <a:ext cx="169362" cy="2534748"/>
            </a:xfrm>
            <a:prstGeom prst="rect">
              <a:avLst/>
            </a:prstGeom>
          </p:spPr>
          <p:txBody>
            <a:bodyPr anchor="ctr" rtlCol="false" tIns="50800" lIns="50800" bIns="50800" rIns="50800"/>
            <a:lstStyle/>
            <a:p>
              <a:pPr algn="ctr">
                <a:lnSpc>
                  <a:spcPts val="3639"/>
                </a:lnSpc>
              </a:pPr>
            </a:p>
          </p:txBody>
        </p:sp>
      </p:grpSp>
      <p:sp>
        <p:nvSpPr>
          <p:cNvPr name="Freeform 13" id="13"/>
          <p:cNvSpPr/>
          <p:nvPr/>
        </p:nvSpPr>
        <p:spPr>
          <a:xfrm flipH="false" flipV="false" rot="0">
            <a:off x="1028700" y="3592375"/>
            <a:ext cx="9522725" cy="6284999"/>
          </a:xfrm>
          <a:custGeom>
            <a:avLst/>
            <a:gdLst/>
            <a:ahLst/>
            <a:cxnLst/>
            <a:rect r="r" b="b" t="t" l="l"/>
            <a:pathLst>
              <a:path h="6284999" w="9522725">
                <a:moveTo>
                  <a:pt x="0" y="0"/>
                </a:moveTo>
                <a:lnTo>
                  <a:pt x="9522725" y="0"/>
                </a:lnTo>
                <a:lnTo>
                  <a:pt x="9522725" y="6284998"/>
                </a:lnTo>
                <a:lnTo>
                  <a:pt x="0" y="6284998"/>
                </a:lnTo>
                <a:lnTo>
                  <a:pt x="0" y="0"/>
                </a:lnTo>
                <a:close/>
              </a:path>
            </a:pathLst>
          </a:custGeom>
          <a:blipFill>
            <a:blip r:embed="rId4"/>
            <a:stretch>
              <a:fillRect l="0" t="0" r="0" b="0"/>
            </a:stretch>
          </a:blipFill>
        </p:spPr>
      </p:sp>
      <p:sp>
        <p:nvSpPr>
          <p:cNvPr name="TextBox 14" id="14"/>
          <p:cNvSpPr txBox="true"/>
          <p:nvPr/>
        </p:nvSpPr>
        <p:spPr>
          <a:xfrm rot="0">
            <a:off x="992940" y="1626502"/>
            <a:ext cx="17703925" cy="710373"/>
          </a:xfrm>
          <a:prstGeom prst="rect">
            <a:avLst/>
          </a:prstGeom>
        </p:spPr>
        <p:txBody>
          <a:bodyPr anchor="t" rtlCol="false" tIns="0" lIns="0" bIns="0" rIns="0">
            <a:spAutoFit/>
          </a:bodyPr>
          <a:lstStyle/>
          <a:p>
            <a:pPr algn="l">
              <a:lnSpc>
                <a:spcPts val="4927"/>
              </a:lnSpc>
            </a:pPr>
            <a:r>
              <a:rPr lang="en-US" sz="5080" b="true">
                <a:solidFill>
                  <a:srgbClr val="343434"/>
                </a:solidFill>
                <a:latin typeface="Telegraf Bold"/>
                <a:ea typeface="Telegraf Bold"/>
                <a:cs typeface="Telegraf Bold"/>
                <a:sym typeface="Telegraf Bold"/>
              </a:rPr>
              <a:t>TỔNG HỢP DỮ LIỆU GIAO DỊCH</a:t>
            </a:r>
          </a:p>
        </p:txBody>
      </p:sp>
      <p:sp>
        <p:nvSpPr>
          <p:cNvPr name="TextBox 15" id="15"/>
          <p:cNvSpPr txBox="true"/>
          <p:nvPr/>
        </p:nvSpPr>
        <p:spPr>
          <a:xfrm rot="0">
            <a:off x="1869601" y="2925624"/>
            <a:ext cx="2389260" cy="542926"/>
          </a:xfrm>
          <a:prstGeom prst="rect">
            <a:avLst/>
          </a:prstGeom>
        </p:spPr>
        <p:txBody>
          <a:bodyPr anchor="t" rtlCol="false" tIns="0" lIns="0" bIns="0" rIns="0">
            <a:spAutoFit/>
          </a:bodyPr>
          <a:lstStyle/>
          <a:p>
            <a:pPr algn="l" marL="0" indent="0" lvl="0">
              <a:lnSpc>
                <a:spcPts val="4199"/>
              </a:lnSpc>
              <a:spcBef>
                <a:spcPct val="0"/>
              </a:spcBef>
            </a:pPr>
            <a:r>
              <a:rPr lang="en-US" b="true" sz="2999">
                <a:solidFill>
                  <a:srgbClr val="343434"/>
                </a:solidFill>
                <a:latin typeface="Telegraf Bold"/>
                <a:ea typeface="Telegraf Bold"/>
                <a:cs typeface="Telegraf Bold"/>
                <a:sym typeface="Telegraf Bold"/>
              </a:rPr>
              <a:t>Volume bars:</a:t>
            </a:r>
          </a:p>
        </p:txBody>
      </p:sp>
      <p:sp>
        <p:nvSpPr>
          <p:cNvPr name="TextBox 16" id="16"/>
          <p:cNvSpPr txBox="true"/>
          <p:nvPr/>
        </p:nvSpPr>
        <p:spPr>
          <a:xfrm rot="0">
            <a:off x="1589301" y="2364150"/>
            <a:ext cx="5808086" cy="575946"/>
          </a:xfrm>
          <a:prstGeom prst="rect">
            <a:avLst/>
          </a:prstGeom>
        </p:spPr>
        <p:txBody>
          <a:bodyPr anchor="t" rtlCol="false" tIns="0" lIns="0" bIns="0" rIns="0">
            <a:spAutoFit/>
          </a:bodyPr>
          <a:lstStyle/>
          <a:p>
            <a:pPr algn="l" marL="0" indent="0" lvl="1">
              <a:lnSpc>
                <a:spcPts val="4479"/>
              </a:lnSpc>
              <a:spcBef>
                <a:spcPct val="0"/>
              </a:spcBef>
            </a:pPr>
            <a:r>
              <a:rPr lang="en-US" b="true" sz="3199" spc="159">
                <a:solidFill>
                  <a:srgbClr val="343434"/>
                </a:solidFill>
                <a:latin typeface="Telegraf Bold"/>
                <a:ea typeface="Telegraf Bold"/>
                <a:cs typeface="Telegraf Bold"/>
                <a:sym typeface="Telegraf Bold"/>
              </a:rPr>
              <a:t>Triền khai mã lệnh Python:</a:t>
            </a:r>
          </a:p>
        </p:txBody>
      </p:sp>
      <p:sp>
        <p:nvSpPr>
          <p:cNvPr name="TextBox 17" id="17"/>
          <p:cNvSpPr txBox="true"/>
          <p:nvPr/>
        </p:nvSpPr>
        <p:spPr>
          <a:xfrm rot="0">
            <a:off x="10825903" y="4433825"/>
            <a:ext cx="5478524" cy="2018030"/>
          </a:xfrm>
          <a:prstGeom prst="rect">
            <a:avLst/>
          </a:prstGeom>
        </p:spPr>
        <p:txBody>
          <a:bodyPr anchor="t" rtlCol="false" tIns="0" lIns="0" bIns="0" rIns="0">
            <a:spAutoFit/>
          </a:bodyPr>
          <a:lstStyle/>
          <a:p>
            <a:pPr algn="l" marL="0" indent="0" lvl="1">
              <a:lnSpc>
                <a:spcPts val="3219"/>
              </a:lnSpc>
              <a:spcBef>
                <a:spcPct val="0"/>
              </a:spcBef>
            </a:pPr>
            <a:r>
              <a:rPr lang="en-US" sz="2299">
                <a:solidFill>
                  <a:srgbClr val="000000"/>
                </a:solidFill>
                <a:latin typeface="Telegraf"/>
                <a:ea typeface="Telegraf"/>
                <a:cs typeface="Telegraf"/>
                <a:sym typeface="Telegraf"/>
              </a:rPr>
              <a:t>Lấy volume bar với size là 1. Ngưỡng này tương ứng với 1 BTC. Một thanh giá mới sẽ được tạo ra khi tổng khối lượng tài sản được trao đổi tích lũy đủ 1 đơn vị (ở đây là 1 Bitcoin)</a:t>
            </a:r>
          </a:p>
        </p:txBody>
      </p:sp>
    </p:spTree>
  </p:cSld>
  <p:clrMapOvr>
    <a:masterClrMapping/>
  </p:clrMapOvr>
</p:sld>
</file>

<file path=ppt/slides/slide38.xml><?xml version="1.0" encoding="utf-8"?>
<p:sld xmlns:p="http://schemas.openxmlformats.org/presentationml/2006/main" xmlns:a="http://schemas.openxmlformats.org/drawingml/2006/main" xmlns:r="http://schemas.openxmlformats.org/officeDocument/2006/relationships">
  <p:cSld>
    <p:bg>
      <p:bgPr>
        <a:solidFill>
          <a:srgbClr val="F2F7FA"/>
        </a:solidFill>
      </p:bgPr>
    </p:bg>
    <p:spTree>
      <p:nvGrpSpPr>
        <p:cNvPr id="1" name=""/>
        <p:cNvGrpSpPr/>
        <p:nvPr/>
      </p:nvGrpSpPr>
      <p:grpSpPr>
        <a:xfrm>
          <a:off x="0" y="0"/>
          <a:ext cx="0" cy="0"/>
          <a:chOff x="0" y="0"/>
          <a:chExt cx="0" cy="0"/>
        </a:xfrm>
      </p:grpSpPr>
      <p:sp>
        <p:nvSpPr>
          <p:cNvPr name="Freeform 2" id="2"/>
          <p:cNvSpPr/>
          <p:nvPr/>
        </p:nvSpPr>
        <p:spPr>
          <a:xfrm flipH="false" flipV="false" rot="225008">
            <a:off x="-642791" y="-3332405"/>
            <a:ext cx="12701350" cy="5382197"/>
          </a:xfrm>
          <a:custGeom>
            <a:avLst/>
            <a:gdLst/>
            <a:ahLst/>
            <a:cxnLst/>
            <a:rect r="r" b="b" t="t" l="l"/>
            <a:pathLst>
              <a:path h="5382197" w="12701350">
                <a:moveTo>
                  <a:pt x="0" y="0"/>
                </a:moveTo>
                <a:lnTo>
                  <a:pt x="12701350" y="0"/>
                </a:lnTo>
                <a:lnTo>
                  <a:pt x="12701350" y="5382197"/>
                </a:lnTo>
                <a:lnTo>
                  <a:pt x="0" y="5382197"/>
                </a:lnTo>
                <a:lnTo>
                  <a:pt x="0" y="0"/>
                </a:lnTo>
                <a:close/>
              </a:path>
            </a:pathLst>
          </a:custGeom>
          <a:blipFill>
            <a:blip r:embed="rId2"/>
            <a:stretch>
              <a:fillRect l="0" t="0" r="0" b="0"/>
            </a:stretch>
          </a:blipFill>
        </p:spPr>
      </p:sp>
      <p:sp>
        <p:nvSpPr>
          <p:cNvPr name="Freeform 3" id="3"/>
          <p:cNvSpPr/>
          <p:nvPr/>
        </p:nvSpPr>
        <p:spPr>
          <a:xfrm flipH="false" flipV="false" rot="0">
            <a:off x="11772468" y="7782603"/>
            <a:ext cx="11514218" cy="8506128"/>
          </a:xfrm>
          <a:custGeom>
            <a:avLst/>
            <a:gdLst/>
            <a:ahLst/>
            <a:cxnLst/>
            <a:rect r="r" b="b" t="t" l="l"/>
            <a:pathLst>
              <a:path h="8506128" w="11514218">
                <a:moveTo>
                  <a:pt x="0" y="0"/>
                </a:moveTo>
                <a:lnTo>
                  <a:pt x="11514218" y="0"/>
                </a:lnTo>
                <a:lnTo>
                  <a:pt x="11514218" y="8506129"/>
                </a:lnTo>
                <a:lnTo>
                  <a:pt x="0" y="8506129"/>
                </a:lnTo>
                <a:lnTo>
                  <a:pt x="0" y="0"/>
                </a:lnTo>
                <a:close/>
              </a:path>
            </a:pathLst>
          </a:custGeom>
          <a:blipFill>
            <a:blip r:embed="rId3"/>
            <a:stretch>
              <a:fillRect l="0" t="0" r="0" b="0"/>
            </a:stretch>
          </a:blipFill>
        </p:spPr>
      </p:sp>
      <p:grpSp>
        <p:nvGrpSpPr>
          <p:cNvPr name="Group 4" id="4"/>
          <p:cNvGrpSpPr/>
          <p:nvPr/>
        </p:nvGrpSpPr>
        <p:grpSpPr>
          <a:xfrm rot="0">
            <a:off x="17259300" y="-392510"/>
            <a:ext cx="1437565" cy="11072020"/>
            <a:chOff x="0" y="0"/>
            <a:chExt cx="378618" cy="2916088"/>
          </a:xfrm>
        </p:grpSpPr>
        <p:sp>
          <p:nvSpPr>
            <p:cNvPr name="Freeform 5" id="5"/>
            <p:cNvSpPr/>
            <p:nvPr/>
          </p:nvSpPr>
          <p:spPr>
            <a:xfrm flipH="false" flipV="false" rot="0">
              <a:off x="0" y="0"/>
              <a:ext cx="378618" cy="2916088"/>
            </a:xfrm>
            <a:custGeom>
              <a:avLst/>
              <a:gdLst/>
              <a:ahLst/>
              <a:cxnLst/>
              <a:rect r="r" b="b" t="t" l="l"/>
              <a:pathLst>
                <a:path h="2916088" w="378618">
                  <a:moveTo>
                    <a:pt x="0" y="0"/>
                  </a:moveTo>
                  <a:lnTo>
                    <a:pt x="378618" y="0"/>
                  </a:lnTo>
                  <a:lnTo>
                    <a:pt x="378618" y="2916088"/>
                  </a:lnTo>
                  <a:lnTo>
                    <a:pt x="0" y="2916088"/>
                  </a:lnTo>
                  <a:close/>
                </a:path>
              </a:pathLst>
            </a:custGeom>
            <a:gradFill rotWithShape="true">
              <a:gsLst>
                <a:gs pos="0">
                  <a:srgbClr val="E4B795">
                    <a:alpha val="100000"/>
                  </a:srgbClr>
                </a:gs>
                <a:gs pos="50000">
                  <a:srgbClr val="699ACD">
                    <a:alpha val="100000"/>
                  </a:srgbClr>
                </a:gs>
                <a:gs pos="100000">
                  <a:srgbClr val="2F679F">
                    <a:alpha val="100000"/>
                  </a:srgbClr>
                </a:gs>
              </a:gsLst>
              <a:path path="circle">
                <a:fillToRect l="0" r="100000" t="0" b="100000"/>
              </a:path>
              <a:tileRect r="0" l="-100000" b="0" t="-100000"/>
            </a:gradFill>
          </p:spPr>
        </p:sp>
        <p:sp>
          <p:nvSpPr>
            <p:cNvPr name="TextBox 6" id="6"/>
            <p:cNvSpPr txBox="true"/>
            <p:nvPr/>
          </p:nvSpPr>
          <p:spPr>
            <a:xfrm>
              <a:off x="0" y="-57150"/>
              <a:ext cx="378618" cy="2973238"/>
            </a:xfrm>
            <a:prstGeom prst="rect">
              <a:avLst/>
            </a:prstGeom>
          </p:spPr>
          <p:txBody>
            <a:bodyPr anchor="ctr" rtlCol="false" tIns="50800" lIns="50800" bIns="50800" rIns="50800"/>
            <a:lstStyle/>
            <a:p>
              <a:pPr algn="ctr">
                <a:lnSpc>
                  <a:spcPts val="3639"/>
                </a:lnSpc>
              </a:pPr>
            </a:p>
          </p:txBody>
        </p:sp>
      </p:grpSp>
      <p:sp>
        <p:nvSpPr>
          <p:cNvPr name="TextBox 7" id="7"/>
          <p:cNvSpPr txBox="true"/>
          <p:nvPr/>
        </p:nvSpPr>
        <p:spPr>
          <a:xfrm rot="0">
            <a:off x="8021110" y="782737"/>
            <a:ext cx="2492949" cy="351790"/>
          </a:xfrm>
          <a:prstGeom prst="rect">
            <a:avLst/>
          </a:prstGeom>
        </p:spPr>
        <p:txBody>
          <a:bodyPr anchor="t" rtlCol="false" tIns="0" lIns="0" bIns="0" rIns="0">
            <a:spAutoFit/>
          </a:bodyPr>
          <a:lstStyle/>
          <a:p>
            <a:pPr algn="l">
              <a:lnSpc>
                <a:spcPts val="2660"/>
              </a:lnSpc>
              <a:spcBef>
                <a:spcPct val="0"/>
              </a:spcBef>
            </a:pPr>
            <a:r>
              <a:rPr lang="en-US" sz="1900" spc="95">
                <a:solidFill>
                  <a:srgbClr val="164B82"/>
                </a:solidFill>
                <a:latin typeface="Telegraf Extra-Light"/>
                <a:ea typeface="Telegraf Extra-Light"/>
                <a:cs typeface="Telegraf Extra-Light"/>
                <a:sym typeface="Telegraf Extra-Light"/>
              </a:rPr>
              <a:t>Studio Shodwe</a:t>
            </a:r>
          </a:p>
        </p:txBody>
      </p:sp>
      <p:sp>
        <p:nvSpPr>
          <p:cNvPr name="TextBox 8" id="8"/>
          <p:cNvSpPr txBox="true"/>
          <p:nvPr/>
        </p:nvSpPr>
        <p:spPr>
          <a:xfrm rot="0">
            <a:off x="13305333" y="782737"/>
            <a:ext cx="1819999" cy="351790"/>
          </a:xfrm>
          <a:prstGeom prst="rect">
            <a:avLst/>
          </a:prstGeom>
        </p:spPr>
        <p:txBody>
          <a:bodyPr anchor="t" rtlCol="false" tIns="0" lIns="0" bIns="0" rIns="0">
            <a:spAutoFit/>
          </a:bodyPr>
          <a:lstStyle/>
          <a:p>
            <a:pPr algn="r">
              <a:lnSpc>
                <a:spcPts val="2660"/>
              </a:lnSpc>
              <a:spcBef>
                <a:spcPct val="0"/>
              </a:spcBef>
            </a:pPr>
            <a:r>
              <a:rPr lang="en-US" sz="1900" spc="95">
                <a:solidFill>
                  <a:srgbClr val="164B82"/>
                </a:solidFill>
                <a:latin typeface="Telegraf Extra-Light"/>
                <a:ea typeface="Telegraf Extra-Light"/>
                <a:cs typeface="Telegraf Extra-Light"/>
                <a:sym typeface="Telegraf Extra-Light"/>
              </a:rPr>
              <a:t>2024</a:t>
            </a:r>
          </a:p>
        </p:txBody>
      </p:sp>
      <p:sp>
        <p:nvSpPr>
          <p:cNvPr name="TextBox 9" id="9"/>
          <p:cNvSpPr txBox="true"/>
          <p:nvPr/>
        </p:nvSpPr>
        <p:spPr>
          <a:xfrm rot="0">
            <a:off x="11045641" y="782737"/>
            <a:ext cx="1819999" cy="351790"/>
          </a:xfrm>
          <a:prstGeom prst="rect">
            <a:avLst/>
          </a:prstGeom>
        </p:spPr>
        <p:txBody>
          <a:bodyPr anchor="t" rtlCol="false" tIns="0" lIns="0" bIns="0" rIns="0">
            <a:spAutoFit/>
          </a:bodyPr>
          <a:lstStyle/>
          <a:p>
            <a:pPr algn="ctr">
              <a:lnSpc>
                <a:spcPts val="2660"/>
              </a:lnSpc>
              <a:spcBef>
                <a:spcPct val="0"/>
              </a:spcBef>
            </a:pPr>
            <a:r>
              <a:rPr lang="en-US" sz="1900" spc="95">
                <a:solidFill>
                  <a:srgbClr val="164B82"/>
                </a:solidFill>
                <a:latin typeface="Telegraf Extra-Light"/>
                <a:ea typeface="Telegraf Extra-Light"/>
                <a:cs typeface="Telegraf Extra-Light"/>
                <a:sym typeface="Telegraf Extra-Light"/>
              </a:rPr>
              <a:t>Project.</a:t>
            </a:r>
          </a:p>
        </p:txBody>
      </p:sp>
      <p:grpSp>
        <p:nvGrpSpPr>
          <p:cNvPr name="Group 10" id="10"/>
          <p:cNvGrpSpPr/>
          <p:nvPr/>
        </p:nvGrpSpPr>
        <p:grpSpPr>
          <a:xfrm rot="5400000">
            <a:off x="11279340" y="-3711595"/>
            <a:ext cx="643045" cy="9407130"/>
            <a:chOff x="0" y="0"/>
            <a:chExt cx="169362" cy="2477598"/>
          </a:xfrm>
        </p:grpSpPr>
        <p:sp>
          <p:nvSpPr>
            <p:cNvPr name="Freeform 11" id="11"/>
            <p:cNvSpPr/>
            <p:nvPr/>
          </p:nvSpPr>
          <p:spPr>
            <a:xfrm flipH="false" flipV="false" rot="0">
              <a:off x="0" y="0"/>
              <a:ext cx="169362" cy="2477598"/>
            </a:xfrm>
            <a:custGeom>
              <a:avLst/>
              <a:gdLst/>
              <a:ahLst/>
              <a:cxnLst/>
              <a:rect r="r" b="b" t="t" l="l"/>
              <a:pathLst>
                <a:path h="2477598" w="169362">
                  <a:moveTo>
                    <a:pt x="84681" y="0"/>
                  </a:moveTo>
                  <a:lnTo>
                    <a:pt x="84681" y="0"/>
                  </a:lnTo>
                  <a:cubicBezTo>
                    <a:pt x="107140" y="0"/>
                    <a:pt x="128678" y="8922"/>
                    <a:pt x="144559" y="24802"/>
                  </a:cubicBezTo>
                  <a:cubicBezTo>
                    <a:pt x="160440" y="40683"/>
                    <a:pt x="169362" y="62222"/>
                    <a:pt x="169362" y="84681"/>
                  </a:cubicBezTo>
                  <a:lnTo>
                    <a:pt x="169362" y="2392917"/>
                  </a:lnTo>
                  <a:cubicBezTo>
                    <a:pt x="169362" y="2439685"/>
                    <a:pt x="131449" y="2477598"/>
                    <a:pt x="84681" y="2477598"/>
                  </a:cubicBezTo>
                  <a:lnTo>
                    <a:pt x="84681" y="2477598"/>
                  </a:lnTo>
                  <a:cubicBezTo>
                    <a:pt x="37913" y="2477598"/>
                    <a:pt x="0" y="2439685"/>
                    <a:pt x="0" y="2392917"/>
                  </a:cubicBezTo>
                  <a:lnTo>
                    <a:pt x="0" y="84681"/>
                  </a:lnTo>
                  <a:cubicBezTo>
                    <a:pt x="0" y="37913"/>
                    <a:pt x="37913" y="0"/>
                    <a:pt x="84681" y="0"/>
                  </a:cubicBezTo>
                  <a:close/>
                </a:path>
              </a:pathLst>
            </a:custGeom>
            <a:ln w="19050" cap="rnd">
              <a:solidFill>
                <a:srgbClr val="164B82"/>
              </a:solidFill>
              <a:prstDash val="solid"/>
              <a:round/>
            </a:ln>
          </p:spPr>
        </p:sp>
        <p:sp>
          <p:nvSpPr>
            <p:cNvPr name="TextBox 12" id="12"/>
            <p:cNvSpPr txBox="true"/>
            <p:nvPr/>
          </p:nvSpPr>
          <p:spPr>
            <a:xfrm>
              <a:off x="0" y="-57150"/>
              <a:ext cx="169362" cy="2534748"/>
            </a:xfrm>
            <a:prstGeom prst="rect">
              <a:avLst/>
            </a:prstGeom>
          </p:spPr>
          <p:txBody>
            <a:bodyPr anchor="ctr" rtlCol="false" tIns="50800" lIns="50800" bIns="50800" rIns="50800"/>
            <a:lstStyle/>
            <a:p>
              <a:pPr algn="ctr">
                <a:lnSpc>
                  <a:spcPts val="3639"/>
                </a:lnSpc>
              </a:pPr>
            </a:p>
          </p:txBody>
        </p:sp>
      </p:grpSp>
      <p:sp>
        <p:nvSpPr>
          <p:cNvPr name="Freeform 13" id="13"/>
          <p:cNvSpPr/>
          <p:nvPr/>
        </p:nvSpPr>
        <p:spPr>
          <a:xfrm flipH="false" flipV="false" rot="0">
            <a:off x="1412794" y="3592375"/>
            <a:ext cx="8936462" cy="6087964"/>
          </a:xfrm>
          <a:custGeom>
            <a:avLst/>
            <a:gdLst/>
            <a:ahLst/>
            <a:cxnLst/>
            <a:rect r="r" b="b" t="t" l="l"/>
            <a:pathLst>
              <a:path h="6087964" w="8936462">
                <a:moveTo>
                  <a:pt x="0" y="0"/>
                </a:moveTo>
                <a:lnTo>
                  <a:pt x="8936462" y="0"/>
                </a:lnTo>
                <a:lnTo>
                  <a:pt x="8936462" y="6087964"/>
                </a:lnTo>
                <a:lnTo>
                  <a:pt x="0" y="6087964"/>
                </a:lnTo>
                <a:lnTo>
                  <a:pt x="0" y="0"/>
                </a:lnTo>
                <a:close/>
              </a:path>
            </a:pathLst>
          </a:custGeom>
          <a:blipFill>
            <a:blip r:embed="rId4"/>
            <a:stretch>
              <a:fillRect l="0" t="0" r="0" b="0"/>
            </a:stretch>
          </a:blipFill>
        </p:spPr>
      </p:sp>
      <p:sp>
        <p:nvSpPr>
          <p:cNvPr name="TextBox 14" id="14"/>
          <p:cNvSpPr txBox="true"/>
          <p:nvPr/>
        </p:nvSpPr>
        <p:spPr>
          <a:xfrm rot="0">
            <a:off x="992940" y="1626502"/>
            <a:ext cx="17703925" cy="710373"/>
          </a:xfrm>
          <a:prstGeom prst="rect">
            <a:avLst/>
          </a:prstGeom>
        </p:spPr>
        <p:txBody>
          <a:bodyPr anchor="t" rtlCol="false" tIns="0" lIns="0" bIns="0" rIns="0">
            <a:spAutoFit/>
          </a:bodyPr>
          <a:lstStyle/>
          <a:p>
            <a:pPr algn="l">
              <a:lnSpc>
                <a:spcPts val="4927"/>
              </a:lnSpc>
            </a:pPr>
            <a:r>
              <a:rPr lang="en-US" sz="5080" b="true">
                <a:solidFill>
                  <a:srgbClr val="343434"/>
                </a:solidFill>
                <a:latin typeface="Telegraf Bold"/>
                <a:ea typeface="Telegraf Bold"/>
                <a:cs typeface="Telegraf Bold"/>
                <a:sym typeface="Telegraf Bold"/>
              </a:rPr>
              <a:t>TỔNG HỢP DỮ LIỆU GIAO DỊCH</a:t>
            </a:r>
          </a:p>
        </p:txBody>
      </p:sp>
      <p:sp>
        <p:nvSpPr>
          <p:cNvPr name="TextBox 15" id="15"/>
          <p:cNvSpPr txBox="true"/>
          <p:nvPr/>
        </p:nvSpPr>
        <p:spPr>
          <a:xfrm rot="0">
            <a:off x="1869601" y="2925624"/>
            <a:ext cx="2064652" cy="542926"/>
          </a:xfrm>
          <a:prstGeom prst="rect">
            <a:avLst/>
          </a:prstGeom>
        </p:spPr>
        <p:txBody>
          <a:bodyPr anchor="t" rtlCol="false" tIns="0" lIns="0" bIns="0" rIns="0">
            <a:spAutoFit/>
          </a:bodyPr>
          <a:lstStyle/>
          <a:p>
            <a:pPr algn="l" marL="0" indent="0" lvl="0">
              <a:lnSpc>
                <a:spcPts val="4199"/>
              </a:lnSpc>
              <a:spcBef>
                <a:spcPct val="0"/>
              </a:spcBef>
            </a:pPr>
            <a:r>
              <a:rPr lang="en-US" b="true" sz="2999">
                <a:solidFill>
                  <a:srgbClr val="343434"/>
                </a:solidFill>
                <a:latin typeface="Telegraf Bold"/>
                <a:ea typeface="Telegraf Bold"/>
                <a:cs typeface="Telegraf Bold"/>
                <a:sym typeface="Telegraf Bold"/>
              </a:rPr>
              <a:t>Dollar bars:</a:t>
            </a:r>
          </a:p>
        </p:txBody>
      </p:sp>
      <p:sp>
        <p:nvSpPr>
          <p:cNvPr name="TextBox 16" id="16"/>
          <p:cNvSpPr txBox="true"/>
          <p:nvPr/>
        </p:nvSpPr>
        <p:spPr>
          <a:xfrm rot="0">
            <a:off x="1589301" y="2364150"/>
            <a:ext cx="5808086" cy="575946"/>
          </a:xfrm>
          <a:prstGeom prst="rect">
            <a:avLst/>
          </a:prstGeom>
        </p:spPr>
        <p:txBody>
          <a:bodyPr anchor="t" rtlCol="false" tIns="0" lIns="0" bIns="0" rIns="0">
            <a:spAutoFit/>
          </a:bodyPr>
          <a:lstStyle/>
          <a:p>
            <a:pPr algn="l" marL="0" indent="0" lvl="1">
              <a:lnSpc>
                <a:spcPts val="4479"/>
              </a:lnSpc>
              <a:spcBef>
                <a:spcPct val="0"/>
              </a:spcBef>
            </a:pPr>
            <a:r>
              <a:rPr lang="en-US" b="true" sz="3199" spc="159">
                <a:solidFill>
                  <a:srgbClr val="343434"/>
                </a:solidFill>
                <a:latin typeface="Telegraf Bold"/>
                <a:ea typeface="Telegraf Bold"/>
                <a:cs typeface="Telegraf Bold"/>
                <a:sym typeface="Telegraf Bold"/>
              </a:rPr>
              <a:t>Triền khai mã lệnh Python:</a:t>
            </a:r>
          </a:p>
        </p:txBody>
      </p:sp>
      <p:sp>
        <p:nvSpPr>
          <p:cNvPr name="TextBox 17" id="17"/>
          <p:cNvSpPr txBox="true"/>
          <p:nvPr/>
        </p:nvSpPr>
        <p:spPr>
          <a:xfrm rot="0">
            <a:off x="10825903" y="4433825"/>
            <a:ext cx="5478524" cy="2418080"/>
          </a:xfrm>
          <a:prstGeom prst="rect">
            <a:avLst/>
          </a:prstGeom>
        </p:spPr>
        <p:txBody>
          <a:bodyPr anchor="t" rtlCol="false" tIns="0" lIns="0" bIns="0" rIns="0">
            <a:spAutoFit/>
          </a:bodyPr>
          <a:lstStyle/>
          <a:p>
            <a:pPr algn="l" marL="0" indent="0" lvl="1">
              <a:lnSpc>
                <a:spcPts val="3219"/>
              </a:lnSpc>
              <a:spcBef>
                <a:spcPct val="0"/>
              </a:spcBef>
            </a:pPr>
            <a:r>
              <a:rPr lang="en-US" sz="2299">
                <a:solidFill>
                  <a:srgbClr val="000000"/>
                </a:solidFill>
                <a:latin typeface="Telegraf"/>
                <a:ea typeface="Telegraf"/>
                <a:cs typeface="Telegraf"/>
                <a:sym typeface="Telegraf"/>
              </a:rPr>
              <a:t>Lấy dollar bar size là 50000. Ngưỡng này đại diện cho 50.000 EUR. Hệ thống sẽ cộng dồn giá trị tiền tệ của từng giao dịch (</a:t>
            </a:r>
            <a:r>
              <a:rPr lang="en-US" b="true" sz="2299">
                <a:solidFill>
                  <a:srgbClr val="000000"/>
                </a:solidFill>
                <a:latin typeface="Telegraf Medium"/>
                <a:ea typeface="Telegraf Medium"/>
                <a:cs typeface="Telegraf Medium"/>
                <a:sym typeface="Telegraf Medium"/>
              </a:rPr>
              <a:t>quoteQty</a:t>
            </a:r>
            <a:r>
              <a:rPr lang="en-US" sz="2299">
                <a:solidFill>
                  <a:srgbClr val="000000"/>
                </a:solidFill>
                <a:latin typeface="Telegraf"/>
                <a:ea typeface="Telegraf"/>
                <a:cs typeface="Telegraf"/>
                <a:sym typeface="Telegraf"/>
              </a:rPr>
              <a:t>); ngay khi tổng giá trị đạt đến 50.000 đơn vị tiền tệ, một thanh Dollar Bar mới sẽ được hình thành</a:t>
            </a:r>
          </a:p>
        </p:txBody>
      </p:sp>
    </p:spTree>
  </p:cSld>
  <p:clrMapOvr>
    <a:masterClrMapping/>
  </p:clrMapOvr>
</p:sld>
</file>

<file path=ppt/slides/slide39.xml><?xml version="1.0" encoding="utf-8"?>
<p:sld xmlns:p="http://schemas.openxmlformats.org/presentationml/2006/main" xmlns:a="http://schemas.openxmlformats.org/drawingml/2006/main" xmlns:r="http://schemas.openxmlformats.org/officeDocument/2006/relationships">
  <p:cSld>
    <p:bg>
      <p:bgPr>
        <a:solidFill>
          <a:srgbClr val="F2F7FA"/>
        </a:solidFill>
      </p:bgPr>
    </p:bg>
    <p:spTree>
      <p:nvGrpSpPr>
        <p:cNvPr id="1" name=""/>
        <p:cNvGrpSpPr/>
        <p:nvPr/>
      </p:nvGrpSpPr>
      <p:grpSpPr>
        <a:xfrm>
          <a:off x="0" y="0"/>
          <a:ext cx="0" cy="0"/>
          <a:chOff x="0" y="0"/>
          <a:chExt cx="0" cy="0"/>
        </a:xfrm>
      </p:grpSpPr>
      <p:sp>
        <p:nvSpPr>
          <p:cNvPr name="Freeform 2" id="2"/>
          <p:cNvSpPr/>
          <p:nvPr/>
        </p:nvSpPr>
        <p:spPr>
          <a:xfrm flipH="false" flipV="false" rot="225008">
            <a:off x="3529988" y="-2915339"/>
            <a:ext cx="12701350" cy="5382197"/>
          </a:xfrm>
          <a:custGeom>
            <a:avLst/>
            <a:gdLst/>
            <a:ahLst/>
            <a:cxnLst/>
            <a:rect r="r" b="b" t="t" l="l"/>
            <a:pathLst>
              <a:path h="5382197" w="12701350">
                <a:moveTo>
                  <a:pt x="0" y="0"/>
                </a:moveTo>
                <a:lnTo>
                  <a:pt x="12701349" y="0"/>
                </a:lnTo>
                <a:lnTo>
                  <a:pt x="12701349" y="5382197"/>
                </a:lnTo>
                <a:lnTo>
                  <a:pt x="0" y="5382197"/>
                </a:lnTo>
                <a:lnTo>
                  <a:pt x="0" y="0"/>
                </a:lnTo>
                <a:close/>
              </a:path>
            </a:pathLst>
          </a:custGeom>
          <a:blipFill>
            <a:blip r:embed="rId2"/>
            <a:stretch>
              <a:fillRect l="0" t="0" r="0" b="0"/>
            </a:stretch>
          </a:blipFill>
        </p:spPr>
      </p:sp>
      <p:sp>
        <p:nvSpPr>
          <p:cNvPr name="Freeform 3" id="3"/>
          <p:cNvSpPr/>
          <p:nvPr/>
        </p:nvSpPr>
        <p:spPr>
          <a:xfrm flipH="false" flipV="false" rot="0">
            <a:off x="11772468" y="7782603"/>
            <a:ext cx="11514218" cy="8506128"/>
          </a:xfrm>
          <a:custGeom>
            <a:avLst/>
            <a:gdLst/>
            <a:ahLst/>
            <a:cxnLst/>
            <a:rect r="r" b="b" t="t" l="l"/>
            <a:pathLst>
              <a:path h="8506128" w="11514218">
                <a:moveTo>
                  <a:pt x="0" y="0"/>
                </a:moveTo>
                <a:lnTo>
                  <a:pt x="11514218" y="0"/>
                </a:lnTo>
                <a:lnTo>
                  <a:pt x="11514218" y="8506129"/>
                </a:lnTo>
                <a:lnTo>
                  <a:pt x="0" y="8506129"/>
                </a:lnTo>
                <a:lnTo>
                  <a:pt x="0" y="0"/>
                </a:lnTo>
                <a:close/>
              </a:path>
            </a:pathLst>
          </a:custGeom>
          <a:blipFill>
            <a:blip r:embed="rId3"/>
            <a:stretch>
              <a:fillRect l="0" t="0" r="0" b="0"/>
            </a:stretch>
          </a:blipFill>
        </p:spPr>
      </p:sp>
      <p:grpSp>
        <p:nvGrpSpPr>
          <p:cNvPr name="Group 4" id="4"/>
          <p:cNvGrpSpPr/>
          <p:nvPr/>
        </p:nvGrpSpPr>
        <p:grpSpPr>
          <a:xfrm rot="0">
            <a:off x="17259300" y="-392510"/>
            <a:ext cx="1437565" cy="11072020"/>
            <a:chOff x="0" y="0"/>
            <a:chExt cx="378618" cy="2916088"/>
          </a:xfrm>
        </p:grpSpPr>
        <p:sp>
          <p:nvSpPr>
            <p:cNvPr name="Freeform 5" id="5"/>
            <p:cNvSpPr/>
            <p:nvPr/>
          </p:nvSpPr>
          <p:spPr>
            <a:xfrm flipH="false" flipV="false" rot="0">
              <a:off x="0" y="0"/>
              <a:ext cx="378618" cy="2916088"/>
            </a:xfrm>
            <a:custGeom>
              <a:avLst/>
              <a:gdLst/>
              <a:ahLst/>
              <a:cxnLst/>
              <a:rect r="r" b="b" t="t" l="l"/>
              <a:pathLst>
                <a:path h="2916088" w="378618">
                  <a:moveTo>
                    <a:pt x="0" y="0"/>
                  </a:moveTo>
                  <a:lnTo>
                    <a:pt x="378618" y="0"/>
                  </a:lnTo>
                  <a:lnTo>
                    <a:pt x="378618" y="2916088"/>
                  </a:lnTo>
                  <a:lnTo>
                    <a:pt x="0" y="2916088"/>
                  </a:lnTo>
                  <a:close/>
                </a:path>
              </a:pathLst>
            </a:custGeom>
            <a:gradFill rotWithShape="true">
              <a:gsLst>
                <a:gs pos="0">
                  <a:srgbClr val="E4B795">
                    <a:alpha val="100000"/>
                  </a:srgbClr>
                </a:gs>
                <a:gs pos="50000">
                  <a:srgbClr val="699ACD">
                    <a:alpha val="100000"/>
                  </a:srgbClr>
                </a:gs>
                <a:gs pos="100000">
                  <a:srgbClr val="2F679F">
                    <a:alpha val="100000"/>
                  </a:srgbClr>
                </a:gs>
              </a:gsLst>
              <a:path path="circle">
                <a:fillToRect l="0" r="100000" t="0" b="100000"/>
              </a:path>
              <a:tileRect r="0" l="-100000" b="0" t="-100000"/>
            </a:gradFill>
          </p:spPr>
        </p:sp>
        <p:sp>
          <p:nvSpPr>
            <p:cNvPr name="TextBox 6" id="6"/>
            <p:cNvSpPr txBox="true"/>
            <p:nvPr/>
          </p:nvSpPr>
          <p:spPr>
            <a:xfrm>
              <a:off x="0" y="-57150"/>
              <a:ext cx="378618" cy="2973238"/>
            </a:xfrm>
            <a:prstGeom prst="rect">
              <a:avLst/>
            </a:prstGeom>
          </p:spPr>
          <p:txBody>
            <a:bodyPr anchor="ctr" rtlCol="false" tIns="50800" lIns="50800" bIns="50800" rIns="50800"/>
            <a:lstStyle/>
            <a:p>
              <a:pPr algn="ctr">
                <a:lnSpc>
                  <a:spcPts val="3639"/>
                </a:lnSpc>
              </a:pPr>
            </a:p>
          </p:txBody>
        </p:sp>
      </p:grpSp>
      <p:sp>
        <p:nvSpPr>
          <p:cNvPr name="Freeform 7" id="7"/>
          <p:cNvSpPr/>
          <p:nvPr/>
        </p:nvSpPr>
        <p:spPr>
          <a:xfrm flipH="false" flipV="false" rot="0">
            <a:off x="1846888" y="6541062"/>
            <a:ext cx="10701424" cy="3444475"/>
          </a:xfrm>
          <a:custGeom>
            <a:avLst/>
            <a:gdLst/>
            <a:ahLst/>
            <a:cxnLst/>
            <a:rect r="r" b="b" t="t" l="l"/>
            <a:pathLst>
              <a:path h="3444475" w="10701424">
                <a:moveTo>
                  <a:pt x="0" y="0"/>
                </a:moveTo>
                <a:lnTo>
                  <a:pt x="10701424" y="0"/>
                </a:lnTo>
                <a:lnTo>
                  <a:pt x="10701424" y="3444474"/>
                </a:lnTo>
                <a:lnTo>
                  <a:pt x="0" y="3444474"/>
                </a:lnTo>
                <a:lnTo>
                  <a:pt x="0" y="0"/>
                </a:lnTo>
                <a:close/>
              </a:path>
            </a:pathLst>
          </a:custGeom>
          <a:blipFill>
            <a:blip r:embed="rId4"/>
            <a:stretch>
              <a:fillRect l="0" t="0" r="0" b="0"/>
            </a:stretch>
          </a:blipFill>
        </p:spPr>
      </p:sp>
      <p:sp>
        <p:nvSpPr>
          <p:cNvPr name="Freeform 8" id="8"/>
          <p:cNvSpPr/>
          <p:nvPr/>
        </p:nvSpPr>
        <p:spPr>
          <a:xfrm flipH="false" flipV="false" rot="0">
            <a:off x="1791915" y="2482272"/>
            <a:ext cx="10721469" cy="3334918"/>
          </a:xfrm>
          <a:custGeom>
            <a:avLst/>
            <a:gdLst/>
            <a:ahLst/>
            <a:cxnLst/>
            <a:rect r="r" b="b" t="t" l="l"/>
            <a:pathLst>
              <a:path h="3334918" w="10721469">
                <a:moveTo>
                  <a:pt x="0" y="0"/>
                </a:moveTo>
                <a:lnTo>
                  <a:pt x="10721469" y="0"/>
                </a:lnTo>
                <a:lnTo>
                  <a:pt x="10721469" y="3334918"/>
                </a:lnTo>
                <a:lnTo>
                  <a:pt x="0" y="3334918"/>
                </a:lnTo>
                <a:lnTo>
                  <a:pt x="0" y="0"/>
                </a:lnTo>
                <a:close/>
              </a:path>
            </a:pathLst>
          </a:custGeom>
          <a:blipFill>
            <a:blip r:embed="rId5"/>
            <a:stretch>
              <a:fillRect l="0" t="0" r="0" b="0"/>
            </a:stretch>
          </a:blipFill>
        </p:spPr>
      </p:sp>
      <p:sp>
        <p:nvSpPr>
          <p:cNvPr name="TextBox 9" id="9"/>
          <p:cNvSpPr txBox="true"/>
          <p:nvPr/>
        </p:nvSpPr>
        <p:spPr>
          <a:xfrm rot="0">
            <a:off x="992940" y="1085850"/>
            <a:ext cx="17703925" cy="710373"/>
          </a:xfrm>
          <a:prstGeom prst="rect">
            <a:avLst/>
          </a:prstGeom>
        </p:spPr>
        <p:txBody>
          <a:bodyPr anchor="t" rtlCol="false" tIns="0" lIns="0" bIns="0" rIns="0">
            <a:spAutoFit/>
          </a:bodyPr>
          <a:lstStyle/>
          <a:p>
            <a:pPr algn="l">
              <a:lnSpc>
                <a:spcPts val="4927"/>
              </a:lnSpc>
            </a:pPr>
            <a:r>
              <a:rPr lang="en-US" sz="5080" b="true">
                <a:solidFill>
                  <a:srgbClr val="343434"/>
                </a:solidFill>
                <a:latin typeface="Telegraf Bold"/>
                <a:ea typeface="Telegraf Bold"/>
                <a:cs typeface="Telegraf Bold"/>
                <a:sym typeface="Telegraf Bold"/>
              </a:rPr>
              <a:t>KẾT QUẢ TIỀN XỬ LÝ</a:t>
            </a:r>
          </a:p>
        </p:txBody>
      </p:sp>
      <p:sp>
        <p:nvSpPr>
          <p:cNvPr name="TextBox 10" id="10"/>
          <p:cNvSpPr txBox="true"/>
          <p:nvPr/>
        </p:nvSpPr>
        <p:spPr>
          <a:xfrm rot="0">
            <a:off x="13055073" y="4667840"/>
            <a:ext cx="3697467" cy="2212975"/>
          </a:xfrm>
          <a:prstGeom prst="rect">
            <a:avLst/>
          </a:prstGeom>
        </p:spPr>
        <p:txBody>
          <a:bodyPr anchor="t" rtlCol="false" tIns="0" lIns="0" bIns="0" rIns="0">
            <a:spAutoFit/>
          </a:bodyPr>
          <a:lstStyle/>
          <a:p>
            <a:pPr algn="l" marL="0" indent="0" lvl="1">
              <a:lnSpc>
                <a:spcPts val="3499"/>
              </a:lnSpc>
              <a:spcBef>
                <a:spcPct val="0"/>
              </a:spcBef>
            </a:pPr>
            <a:r>
              <a:rPr lang="en-US" b="true" sz="2499" strike="noStrike" u="none">
                <a:solidFill>
                  <a:srgbClr val="000000"/>
                </a:solidFill>
                <a:latin typeface="Telegraf Bold"/>
                <a:ea typeface="Telegraf Bold"/>
                <a:cs typeface="Telegraf Bold"/>
                <a:sym typeface="Telegraf Bold"/>
              </a:rPr>
              <a:t>Sau quá trình làm sạch và tiền xử lý, dữ liệu đã sẵn sàng cho các phân tích và mô hình hóa chuyên sâu hơn</a:t>
            </a:r>
          </a:p>
        </p:txBody>
      </p:sp>
      <p:sp>
        <p:nvSpPr>
          <p:cNvPr name="TextBox 11" id="11"/>
          <p:cNvSpPr txBox="true"/>
          <p:nvPr/>
        </p:nvSpPr>
        <p:spPr>
          <a:xfrm rot="0">
            <a:off x="344956" y="3814133"/>
            <a:ext cx="1367487" cy="575946"/>
          </a:xfrm>
          <a:prstGeom prst="rect">
            <a:avLst/>
          </a:prstGeom>
        </p:spPr>
        <p:txBody>
          <a:bodyPr anchor="t" rtlCol="false" tIns="0" lIns="0" bIns="0" rIns="0">
            <a:spAutoFit/>
          </a:bodyPr>
          <a:lstStyle/>
          <a:p>
            <a:pPr algn="l" marL="0" indent="0" lvl="1">
              <a:lnSpc>
                <a:spcPts val="4479"/>
              </a:lnSpc>
              <a:spcBef>
                <a:spcPct val="0"/>
              </a:spcBef>
            </a:pPr>
            <a:r>
              <a:rPr lang="en-US" b="true" sz="3199" spc="159">
                <a:solidFill>
                  <a:srgbClr val="343434"/>
                </a:solidFill>
                <a:latin typeface="Telegraf Bold"/>
                <a:ea typeface="Telegraf Bold"/>
                <a:cs typeface="Telegraf Bold"/>
                <a:sym typeface="Telegraf Bold"/>
              </a:rPr>
              <a:t>Trước</a:t>
            </a:r>
          </a:p>
        </p:txBody>
      </p:sp>
      <p:sp>
        <p:nvSpPr>
          <p:cNvPr name="TextBox 12" id="12"/>
          <p:cNvSpPr txBox="true"/>
          <p:nvPr/>
        </p:nvSpPr>
        <p:spPr>
          <a:xfrm rot="0">
            <a:off x="618259" y="7687353"/>
            <a:ext cx="820882" cy="575946"/>
          </a:xfrm>
          <a:prstGeom prst="rect">
            <a:avLst/>
          </a:prstGeom>
        </p:spPr>
        <p:txBody>
          <a:bodyPr anchor="t" rtlCol="false" tIns="0" lIns="0" bIns="0" rIns="0">
            <a:spAutoFit/>
          </a:bodyPr>
          <a:lstStyle/>
          <a:p>
            <a:pPr algn="l" marL="0" indent="0" lvl="1">
              <a:lnSpc>
                <a:spcPts val="4479"/>
              </a:lnSpc>
              <a:spcBef>
                <a:spcPct val="0"/>
              </a:spcBef>
            </a:pPr>
            <a:r>
              <a:rPr lang="en-US" b="true" sz="3199" spc="159">
                <a:solidFill>
                  <a:srgbClr val="343434"/>
                </a:solidFill>
                <a:latin typeface="Telegraf Bold"/>
                <a:ea typeface="Telegraf Bold"/>
                <a:cs typeface="Telegraf Bold"/>
                <a:sym typeface="Telegraf Bold"/>
              </a:rPr>
              <a:t>Sau</a:t>
            </a:r>
          </a:p>
        </p:txBody>
      </p:sp>
    </p:spTree>
  </p:cSld>
  <p:clrMapOvr>
    <a:masterClrMapping/>
  </p:clrMapOvr>
</p:sld>
</file>

<file path=ppt/slides/slide40.xml><?xml version="1.0" encoding="utf-8"?>
<p:sld xmlns:p="http://schemas.openxmlformats.org/presentationml/2006/main" xmlns:a="http://schemas.openxmlformats.org/drawingml/2006/main" xmlns:r="http://schemas.openxmlformats.org/officeDocument/2006/relationships">
  <p:cSld>
    <p:bg>
      <p:bgPr>
        <a:solidFill>
          <a:srgbClr val="F2F7FA"/>
        </a:solidFill>
      </p:bgPr>
    </p:bg>
    <p:spTree>
      <p:nvGrpSpPr>
        <p:cNvPr id="1" name=""/>
        <p:cNvGrpSpPr/>
        <p:nvPr/>
      </p:nvGrpSpPr>
      <p:grpSpPr>
        <a:xfrm>
          <a:off x="0" y="0"/>
          <a:ext cx="0" cy="0"/>
          <a:chOff x="0" y="0"/>
          <a:chExt cx="0" cy="0"/>
        </a:xfrm>
      </p:grpSpPr>
      <p:sp>
        <p:nvSpPr>
          <p:cNvPr name="Freeform 2" id="2"/>
          <p:cNvSpPr/>
          <p:nvPr/>
        </p:nvSpPr>
        <p:spPr>
          <a:xfrm flipH="false" flipV="false" rot="225008">
            <a:off x="3529988" y="-2915339"/>
            <a:ext cx="12701350" cy="5382197"/>
          </a:xfrm>
          <a:custGeom>
            <a:avLst/>
            <a:gdLst/>
            <a:ahLst/>
            <a:cxnLst/>
            <a:rect r="r" b="b" t="t" l="l"/>
            <a:pathLst>
              <a:path h="5382197" w="12701350">
                <a:moveTo>
                  <a:pt x="0" y="0"/>
                </a:moveTo>
                <a:lnTo>
                  <a:pt x="12701349" y="0"/>
                </a:lnTo>
                <a:lnTo>
                  <a:pt x="12701349" y="5382197"/>
                </a:lnTo>
                <a:lnTo>
                  <a:pt x="0" y="5382197"/>
                </a:lnTo>
                <a:lnTo>
                  <a:pt x="0" y="0"/>
                </a:lnTo>
                <a:close/>
              </a:path>
            </a:pathLst>
          </a:custGeom>
          <a:blipFill>
            <a:blip r:embed="rId2"/>
            <a:stretch>
              <a:fillRect l="0" t="0" r="0" b="0"/>
            </a:stretch>
          </a:blipFill>
        </p:spPr>
      </p:sp>
      <p:sp>
        <p:nvSpPr>
          <p:cNvPr name="Freeform 3" id="3"/>
          <p:cNvSpPr/>
          <p:nvPr/>
        </p:nvSpPr>
        <p:spPr>
          <a:xfrm flipH="false" flipV="false" rot="0">
            <a:off x="11772468" y="7782603"/>
            <a:ext cx="11514218" cy="8506128"/>
          </a:xfrm>
          <a:custGeom>
            <a:avLst/>
            <a:gdLst/>
            <a:ahLst/>
            <a:cxnLst/>
            <a:rect r="r" b="b" t="t" l="l"/>
            <a:pathLst>
              <a:path h="8506128" w="11514218">
                <a:moveTo>
                  <a:pt x="0" y="0"/>
                </a:moveTo>
                <a:lnTo>
                  <a:pt x="11514218" y="0"/>
                </a:lnTo>
                <a:lnTo>
                  <a:pt x="11514218" y="8506129"/>
                </a:lnTo>
                <a:lnTo>
                  <a:pt x="0" y="8506129"/>
                </a:lnTo>
                <a:lnTo>
                  <a:pt x="0" y="0"/>
                </a:lnTo>
                <a:close/>
              </a:path>
            </a:pathLst>
          </a:custGeom>
          <a:blipFill>
            <a:blip r:embed="rId3"/>
            <a:stretch>
              <a:fillRect l="0" t="0" r="0" b="0"/>
            </a:stretch>
          </a:blipFill>
        </p:spPr>
      </p:sp>
      <p:grpSp>
        <p:nvGrpSpPr>
          <p:cNvPr name="Group 4" id="4"/>
          <p:cNvGrpSpPr/>
          <p:nvPr/>
        </p:nvGrpSpPr>
        <p:grpSpPr>
          <a:xfrm rot="0">
            <a:off x="17259300" y="-392510"/>
            <a:ext cx="1437565" cy="11072020"/>
            <a:chOff x="0" y="0"/>
            <a:chExt cx="378618" cy="2916088"/>
          </a:xfrm>
        </p:grpSpPr>
        <p:sp>
          <p:nvSpPr>
            <p:cNvPr name="Freeform 5" id="5"/>
            <p:cNvSpPr/>
            <p:nvPr/>
          </p:nvSpPr>
          <p:spPr>
            <a:xfrm flipH="false" flipV="false" rot="0">
              <a:off x="0" y="0"/>
              <a:ext cx="378618" cy="2916088"/>
            </a:xfrm>
            <a:custGeom>
              <a:avLst/>
              <a:gdLst/>
              <a:ahLst/>
              <a:cxnLst/>
              <a:rect r="r" b="b" t="t" l="l"/>
              <a:pathLst>
                <a:path h="2916088" w="378618">
                  <a:moveTo>
                    <a:pt x="0" y="0"/>
                  </a:moveTo>
                  <a:lnTo>
                    <a:pt x="378618" y="0"/>
                  </a:lnTo>
                  <a:lnTo>
                    <a:pt x="378618" y="2916088"/>
                  </a:lnTo>
                  <a:lnTo>
                    <a:pt x="0" y="2916088"/>
                  </a:lnTo>
                  <a:close/>
                </a:path>
              </a:pathLst>
            </a:custGeom>
            <a:gradFill rotWithShape="true">
              <a:gsLst>
                <a:gs pos="0">
                  <a:srgbClr val="E4B795">
                    <a:alpha val="100000"/>
                  </a:srgbClr>
                </a:gs>
                <a:gs pos="50000">
                  <a:srgbClr val="699ACD">
                    <a:alpha val="100000"/>
                  </a:srgbClr>
                </a:gs>
                <a:gs pos="100000">
                  <a:srgbClr val="2F679F">
                    <a:alpha val="100000"/>
                  </a:srgbClr>
                </a:gs>
              </a:gsLst>
              <a:path path="circle">
                <a:fillToRect l="0" r="100000" t="0" b="100000"/>
              </a:path>
              <a:tileRect r="0" l="-100000" b="0" t="-100000"/>
            </a:gradFill>
          </p:spPr>
        </p:sp>
        <p:sp>
          <p:nvSpPr>
            <p:cNvPr name="TextBox 6" id="6"/>
            <p:cNvSpPr txBox="true"/>
            <p:nvPr/>
          </p:nvSpPr>
          <p:spPr>
            <a:xfrm>
              <a:off x="0" y="-57150"/>
              <a:ext cx="378618" cy="2973238"/>
            </a:xfrm>
            <a:prstGeom prst="rect">
              <a:avLst/>
            </a:prstGeom>
          </p:spPr>
          <p:txBody>
            <a:bodyPr anchor="ctr" rtlCol="false" tIns="50800" lIns="50800" bIns="50800" rIns="50800"/>
            <a:lstStyle/>
            <a:p>
              <a:pPr algn="ctr">
                <a:lnSpc>
                  <a:spcPts val="3639"/>
                </a:lnSpc>
              </a:pPr>
            </a:p>
          </p:txBody>
        </p:sp>
      </p:grpSp>
      <p:sp>
        <p:nvSpPr>
          <p:cNvPr name="TextBox 7" id="7"/>
          <p:cNvSpPr txBox="true"/>
          <p:nvPr/>
        </p:nvSpPr>
        <p:spPr>
          <a:xfrm rot="0">
            <a:off x="824759" y="1590390"/>
            <a:ext cx="17703925" cy="710373"/>
          </a:xfrm>
          <a:prstGeom prst="rect">
            <a:avLst/>
          </a:prstGeom>
        </p:spPr>
        <p:txBody>
          <a:bodyPr anchor="t" rtlCol="false" tIns="0" lIns="0" bIns="0" rIns="0">
            <a:spAutoFit/>
          </a:bodyPr>
          <a:lstStyle/>
          <a:p>
            <a:pPr algn="l">
              <a:lnSpc>
                <a:spcPts val="4927"/>
              </a:lnSpc>
            </a:pPr>
            <a:r>
              <a:rPr lang="en-US" sz="5080" b="true">
                <a:solidFill>
                  <a:srgbClr val="343434"/>
                </a:solidFill>
                <a:latin typeface="Telegraf Bold"/>
                <a:ea typeface="Telegraf Bold"/>
                <a:cs typeface="Telegraf Bold"/>
                <a:sym typeface="Telegraf Bold"/>
              </a:rPr>
              <a:t>TỔNG KẾT</a:t>
            </a:r>
          </a:p>
        </p:txBody>
      </p:sp>
      <p:sp>
        <p:nvSpPr>
          <p:cNvPr name="TextBox 8" id="8"/>
          <p:cNvSpPr txBox="true"/>
          <p:nvPr/>
        </p:nvSpPr>
        <p:spPr>
          <a:xfrm rot="0">
            <a:off x="1202991" y="2781216"/>
            <a:ext cx="15882018" cy="1014731"/>
          </a:xfrm>
          <a:prstGeom prst="rect">
            <a:avLst/>
          </a:prstGeom>
        </p:spPr>
        <p:txBody>
          <a:bodyPr anchor="t" rtlCol="false" tIns="0" lIns="0" bIns="0" rIns="0">
            <a:spAutoFit/>
          </a:bodyPr>
          <a:lstStyle/>
          <a:p>
            <a:pPr algn="l" marL="0" indent="0" lvl="1">
              <a:lnSpc>
                <a:spcPts val="3919"/>
              </a:lnSpc>
              <a:spcBef>
                <a:spcPct val="0"/>
              </a:spcBef>
            </a:pPr>
            <a:r>
              <a:rPr lang="en-US" b="true" sz="2799" strike="noStrike" u="none">
                <a:solidFill>
                  <a:srgbClr val="000000"/>
                </a:solidFill>
                <a:latin typeface="Telegraf Bold"/>
                <a:ea typeface="Telegraf Bold"/>
                <a:cs typeface="Telegraf Bold"/>
                <a:sym typeface="Telegraf Bold"/>
              </a:rPr>
              <a:t>Thông điệp cốt lõi</a:t>
            </a:r>
            <a:r>
              <a:rPr lang="en-US" sz="2799" strike="noStrike" u="none">
                <a:solidFill>
                  <a:srgbClr val="000000"/>
                </a:solidFill>
                <a:latin typeface="Telegraf"/>
                <a:ea typeface="Telegraf"/>
                <a:cs typeface="Telegraf"/>
                <a:sym typeface="Telegraf"/>
              </a:rPr>
              <a:t>:  “Chất lượng dữ liệu đầu vào đóng vai trò quyết định — chỉ khi dữ liệu đủ sạch và phù hợp, mô hình mới có thể phát huy tối đa hiệu quả.”</a:t>
            </a:r>
          </a:p>
        </p:txBody>
      </p:sp>
      <p:sp>
        <p:nvSpPr>
          <p:cNvPr name="TextBox 9" id="9"/>
          <p:cNvSpPr txBox="true"/>
          <p:nvPr/>
        </p:nvSpPr>
        <p:spPr>
          <a:xfrm rot="0">
            <a:off x="2602587" y="4272197"/>
            <a:ext cx="13082826" cy="5785486"/>
          </a:xfrm>
          <a:prstGeom prst="rect">
            <a:avLst/>
          </a:prstGeom>
        </p:spPr>
        <p:txBody>
          <a:bodyPr anchor="t" rtlCol="false" tIns="0" lIns="0" bIns="0" rIns="0">
            <a:spAutoFit/>
          </a:bodyPr>
          <a:lstStyle/>
          <a:p>
            <a:pPr algn="ctr" marL="0" indent="0" lvl="1">
              <a:lnSpc>
                <a:spcPts val="4479"/>
              </a:lnSpc>
              <a:spcBef>
                <a:spcPct val="0"/>
              </a:spcBef>
            </a:pPr>
            <a:r>
              <a:rPr lang="en-US" b="true" sz="3199">
                <a:solidFill>
                  <a:srgbClr val="000000"/>
                </a:solidFill>
                <a:latin typeface="Telegraf Bold"/>
                <a:ea typeface="Telegraf Bold"/>
                <a:cs typeface="Telegraf Bold"/>
                <a:sym typeface="Telegraf Bold"/>
              </a:rPr>
              <a:t>T</a:t>
            </a:r>
            <a:r>
              <a:rPr lang="en-US" b="true" sz="3199" strike="noStrike" u="none">
                <a:solidFill>
                  <a:srgbClr val="000000"/>
                </a:solidFill>
                <a:latin typeface="Telegraf Bold"/>
                <a:ea typeface="Telegraf Bold"/>
                <a:cs typeface="Telegraf Bold"/>
                <a:sym typeface="Telegraf Bold"/>
              </a:rPr>
              <a:t>óm tắt các việc đã làm:</a:t>
            </a:r>
          </a:p>
          <a:p>
            <a:pPr algn="l">
              <a:lnSpc>
                <a:spcPts val="3779"/>
              </a:lnSpc>
              <a:spcBef>
                <a:spcPct val="0"/>
              </a:spcBef>
            </a:pPr>
            <a:r>
              <a:rPr lang="en-US" b="true" sz="2699" strike="noStrike" u="none">
                <a:solidFill>
                  <a:srgbClr val="000000"/>
                </a:solidFill>
                <a:latin typeface="Telegraf Bold"/>
                <a:ea typeface="Telegraf Bold"/>
                <a:cs typeface="Telegraf Bold"/>
                <a:sym typeface="Telegraf Bold"/>
              </a:rPr>
              <a:t>Thu thập dữ liệu (Chương 1): </a:t>
            </a:r>
          </a:p>
          <a:p>
            <a:pPr algn="l" marL="0" indent="0" lvl="1">
              <a:lnSpc>
                <a:spcPts val="3779"/>
              </a:lnSpc>
              <a:spcBef>
                <a:spcPct val="0"/>
              </a:spcBef>
            </a:pPr>
            <a:r>
              <a:rPr lang="en-US" sz="2699" strike="noStrike" u="none">
                <a:solidFill>
                  <a:srgbClr val="000000"/>
                </a:solidFill>
                <a:latin typeface="Telegraf"/>
                <a:ea typeface="Telegraf"/>
                <a:cs typeface="Telegraf"/>
                <a:sym typeface="Telegraf"/>
              </a:rPr>
              <a:t>Triển khai kết nối API với các nguồn dữ liệu uy tín như Yahoo Finance, Nasdaq Data Link, Alpha Vantage và CoinGecko để đảm bảo dữ liệu đầu vào có chất lượng cao nhất.</a:t>
            </a:r>
          </a:p>
          <a:p>
            <a:pPr algn="l" marL="0" indent="0" lvl="1">
              <a:lnSpc>
                <a:spcPts val="3779"/>
              </a:lnSpc>
              <a:spcBef>
                <a:spcPct val="0"/>
              </a:spcBef>
            </a:pPr>
            <a:r>
              <a:rPr lang="en-US" b="true" sz="2699" strike="noStrike" u="none">
                <a:solidFill>
                  <a:srgbClr val="000000"/>
                </a:solidFill>
                <a:latin typeface="Telegraf Bold"/>
                <a:ea typeface="Telegraf Bold"/>
                <a:cs typeface="Telegraf Bold"/>
                <a:sym typeface="Telegraf Bold"/>
              </a:rPr>
              <a:t>Tiền xử lý chuyên sâu (Chương 2):</a:t>
            </a:r>
          </a:p>
          <a:p>
            <a:pPr algn="l" marL="582925" indent="-291463" lvl="1">
              <a:lnSpc>
                <a:spcPts val="3779"/>
              </a:lnSpc>
              <a:buFont typeface="Arial"/>
              <a:buChar char="•"/>
            </a:pPr>
            <a:r>
              <a:rPr lang="en-US" sz="2699" strike="noStrike" u="none">
                <a:solidFill>
                  <a:srgbClr val="000000"/>
                </a:solidFill>
                <a:latin typeface="Telegraf"/>
                <a:ea typeface="Telegraf"/>
                <a:cs typeface="Telegraf"/>
                <a:sym typeface="Telegraf"/>
              </a:rPr>
              <a:t>Chuyển đổi Lợi suất (Returns)</a:t>
            </a:r>
          </a:p>
          <a:p>
            <a:pPr algn="l" marL="582925" indent="-291463" lvl="1">
              <a:lnSpc>
                <a:spcPts val="3779"/>
              </a:lnSpc>
              <a:buFont typeface="Arial"/>
              <a:buChar char="•"/>
            </a:pPr>
            <a:r>
              <a:rPr lang="en-US" sz="2699" strike="noStrike" u="none">
                <a:solidFill>
                  <a:srgbClr val="000000"/>
                </a:solidFill>
                <a:latin typeface="Telegraf"/>
                <a:ea typeface="Telegraf"/>
                <a:cs typeface="Telegraf"/>
                <a:sym typeface="Telegraf"/>
              </a:rPr>
              <a:t>Xử lý dữ liệu thiếu</a:t>
            </a:r>
          </a:p>
          <a:p>
            <a:pPr algn="l" marL="582925" indent="-291463" lvl="1">
              <a:lnSpc>
                <a:spcPts val="3779"/>
              </a:lnSpc>
              <a:buFont typeface="Arial"/>
              <a:buChar char="•"/>
            </a:pPr>
            <a:r>
              <a:rPr lang="en-US" sz="2699" strike="noStrike" u="none">
                <a:solidFill>
                  <a:srgbClr val="000000"/>
                </a:solidFill>
                <a:latin typeface="Telegraf"/>
                <a:ea typeface="Telegraf"/>
                <a:cs typeface="Telegraf"/>
                <a:sym typeface="Telegraf"/>
              </a:rPr>
              <a:t>Thay đổi tần suất dữ liệu</a:t>
            </a:r>
          </a:p>
          <a:p>
            <a:pPr algn="l" marL="582925" indent="-291463" lvl="1">
              <a:lnSpc>
                <a:spcPts val="3779"/>
              </a:lnSpc>
              <a:buFont typeface="Arial"/>
              <a:buChar char="•"/>
            </a:pPr>
            <a:r>
              <a:rPr lang="en-US" sz="2699" strike="noStrike" u="none">
                <a:solidFill>
                  <a:srgbClr val="000000"/>
                </a:solidFill>
                <a:latin typeface="Telegraf"/>
                <a:ea typeface="Telegraf"/>
                <a:cs typeface="Telegraf"/>
                <a:sym typeface="Telegraf"/>
              </a:rPr>
              <a:t>Điều chỉnh lạm phát</a:t>
            </a:r>
          </a:p>
          <a:p>
            <a:pPr algn="l" marL="582925" indent="-291463" lvl="1">
              <a:lnSpc>
                <a:spcPts val="3779"/>
              </a:lnSpc>
              <a:buFont typeface="Arial"/>
              <a:buChar char="•"/>
            </a:pPr>
            <a:r>
              <a:rPr lang="en-US" sz="2699" strike="noStrike" u="none">
                <a:solidFill>
                  <a:srgbClr val="000000"/>
                </a:solidFill>
                <a:latin typeface="Telegraf"/>
                <a:ea typeface="Telegraf"/>
                <a:cs typeface="Telegraf"/>
                <a:sym typeface="Telegraf"/>
              </a:rPr>
              <a:t>Cấu trúc lại dữ liệu giao dịch</a:t>
            </a:r>
          </a:p>
          <a:p>
            <a:pPr algn="l" marL="0" indent="0" lvl="1">
              <a:lnSpc>
                <a:spcPts val="3499"/>
              </a:lnSpc>
              <a:spcBef>
                <a:spcPct val="0"/>
              </a:spcBef>
            </a:pPr>
          </a:p>
        </p:txBody>
      </p:sp>
    </p:spTree>
  </p:cSld>
  <p:clrMapOvr>
    <a:masterClrMapping/>
  </p:clrMapOvr>
</p:sld>
</file>

<file path=ppt/slides/slide41.xml><?xml version="1.0" encoding="utf-8"?>
<p:sld xmlns:p="http://schemas.openxmlformats.org/presentationml/2006/main" xmlns:a="http://schemas.openxmlformats.org/drawingml/2006/main" xmlns:r="http://schemas.openxmlformats.org/officeDocument/2006/relationships">
  <p:cSld>
    <p:bg>
      <p:bgPr>
        <a:solidFill>
          <a:srgbClr val="F2F7FA"/>
        </a:solidFill>
      </p:bgPr>
    </p:bg>
    <p:spTree>
      <p:nvGrpSpPr>
        <p:cNvPr id="1" name=""/>
        <p:cNvGrpSpPr/>
        <p:nvPr/>
      </p:nvGrpSpPr>
      <p:grpSpPr>
        <a:xfrm>
          <a:off x="0" y="0"/>
          <a:ext cx="0" cy="0"/>
          <a:chOff x="0" y="0"/>
          <a:chExt cx="0" cy="0"/>
        </a:xfrm>
      </p:grpSpPr>
      <p:grpSp>
        <p:nvGrpSpPr>
          <p:cNvPr name="Group 2" id="2"/>
          <p:cNvGrpSpPr/>
          <p:nvPr/>
        </p:nvGrpSpPr>
        <p:grpSpPr>
          <a:xfrm rot="0">
            <a:off x="4928310" y="2617835"/>
            <a:ext cx="8431381" cy="6106672"/>
            <a:chOff x="0" y="0"/>
            <a:chExt cx="2220611" cy="1608342"/>
          </a:xfrm>
        </p:grpSpPr>
        <p:sp>
          <p:nvSpPr>
            <p:cNvPr name="Freeform 3" id="3"/>
            <p:cNvSpPr/>
            <p:nvPr/>
          </p:nvSpPr>
          <p:spPr>
            <a:xfrm flipH="false" flipV="false" rot="0">
              <a:off x="0" y="0"/>
              <a:ext cx="2220611" cy="1608342"/>
            </a:xfrm>
            <a:custGeom>
              <a:avLst/>
              <a:gdLst/>
              <a:ahLst/>
              <a:cxnLst/>
              <a:rect r="r" b="b" t="t" l="l"/>
              <a:pathLst>
                <a:path h="1608342" w="2220611">
                  <a:moveTo>
                    <a:pt x="0" y="0"/>
                  </a:moveTo>
                  <a:lnTo>
                    <a:pt x="2220611" y="0"/>
                  </a:lnTo>
                  <a:lnTo>
                    <a:pt x="2220611" y="1608342"/>
                  </a:lnTo>
                  <a:lnTo>
                    <a:pt x="0" y="1608342"/>
                  </a:lnTo>
                  <a:close/>
                </a:path>
              </a:pathLst>
            </a:custGeom>
            <a:gradFill rotWithShape="true">
              <a:gsLst>
                <a:gs pos="0">
                  <a:srgbClr val="E4B795">
                    <a:alpha val="100000"/>
                  </a:srgbClr>
                </a:gs>
                <a:gs pos="50000">
                  <a:srgbClr val="699ACD">
                    <a:alpha val="100000"/>
                  </a:srgbClr>
                </a:gs>
                <a:gs pos="100000">
                  <a:srgbClr val="2F679F">
                    <a:alpha val="100000"/>
                  </a:srgbClr>
                </a:gs>
              </a:gsLst>
              <a:path path="circle">
                <a:fillToRect l="0" r="100000" t="0" b="100000"/>
              </a:path>
              <a:tileRect r="0" l="-100000" b="0" t="-100000"/>
            </a:gradFill>
          </p:spPr>
        </p:sp>
        <p:sp>
          <p:nvSpPr>
            <p:cNvPr name="TextBox 4" id="4"/>
            <p:cNvSpPr txBox="true"/>
            <p:nvPr/>
          </p:nvSpPr>
          <p:spPr>
            <a:xfrm>
              <a:off x="0" y="-57150"/>
              <a:ext cx="2220611" cy="1665492"/>
            </a:xfrm>
            <a:prstGeom prst="rect">
              <a:avLst/>
            </a:prstGeom>
          </p:spPr>
          <p:txBody>
            <a:bodyPr anchor="ctr" rtlCol="false" tIns="50800" lIns="50800" bIns="50800" rIns="50800"/>
            <a:lstStyle/>
            <a:p>
              <a:pPr algn="ctr">
                <a:lnSpc>
                  <a:spcPts val="3639"/>
                </a:lnSpc>
              </a:pPr>
            </a:p>
          </p:txBody>
        </p:sp>
      </p:grpSp>
      <p:sp>
        <p:nvSpPr>
          <p:cNvPr name="Freeform 5" id="5"/>
          <p:cNvSpPr/>
          <p:nvPr/>
        </p:nvSpPr>
        <p:spPr>
          <a:xfrm flipH="false" flipV="false" rot="760705">
            <a:off x="1423346" y="-1948290"/>
            <a:ext cx="15441309" cy="6543255"/>
          </a:xfrm>
          <a:custGeom>
            <a:avLst/>
            <a:gdLst/>
            <a:ahLst/>
            <a:cxnLst/>
            <a:rect r="r" b="b" t="t" l="l"/>
            <a:pathLst>
              <a:path h="6543255" w="15441309">
                <a:moveTo>
                  <a:pt x="0" y="0"/>
                </a:moveTo>
                <a:lnTo>
                  <a:pt x="15441308" y="0"/>
                </a:lnTo>
                <a:lnTo>
                  <a:pt x="15441308" y="6543255"/>
                </a:lnTo>
                <a:lnTo>
                  <a:pt x="0" y="6543255"/>
                </a:lnTo>
                <a:lnTo>
                  <a:pt x="0" y="0"/>
                </a:lnTo>
                <a:close/>
              </a:path>
            </a:pathLst>
          </a:custGeom>
          <a:blipFill>
            <a:blip r:embed="rId2"/>
            <a:stretch>
              <a:fillRect l="0" t="0" r="0" b="0"/>
            </a:stretch>
          </a:blipFill>
        </p:spPr>
      </p:sp>
      <p:sp>
        <p:nvSpPr>
          <p:cNvPr name="TextBox 6" id="6"/>
          <p:cNvSpPr txBox="true"/>
          <p:nvPr/>
        </p:nvSpPr>
        <p:spPr>
          <a:xfrm rot="0">
            <a:off x="4421043" y="4898687"/>
            <a:ext cx="9445915" cy="1311026"/>
          </a:xfrm>
          <a:prstGeom prst="rect">
            <a:avLst/>
          </a:prstGeom>
        </p:spPr>
        <p:txBody>
          <a:bodyPr anchor="t" rtlCol="false" tIns="0" lIns="0" bIns="0" rIns="0">
            <a:spAutoFit/>
          </a:bodyPr>
          <a:lstStyle/>
          <a:p>
            <a:pPr algn="ctr">
              <a:lnSpc>
                <a:spcPts val="9059"/>
              </a:lnSpc>
            </a:pPr>
            <a:r>
              <a:rPr lang="en-US" b="true" sz="9339">
                <a:solidFill>
                  <a:srgbClr val="343434"/>
                </a:solidFill>
                <a:latin typeface="Telegraf Bold"/>
                <a:ea typeface="Telegraf Bold"/>
                <a:cs typeface="Telegraf Bold"/>
                <a:sym typeface="Telegraf Bold"/>
              </a:rPr>
              <a:t>THANK YOU</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xsi="http://www.w3.org/2001/XMLSchema-instance">
  <dcterms:created xsi:type="dcterms:W3CDTF">2006-08-16T00:00:00Z</dcterms:created>
  <dc:identifier>DAHErdnqiq0</dc:identifier>
  <dcterms:modified xsi:type="dcterms:W3CDTF">2011-08-01T06:04:30Z</dcterms:modified>
  <cp:revision>1</cp:revision>
  <dc:title>Blue and White Gradient Modern Project Presentation</dc:title>
</cp:coreProperties>
</file>